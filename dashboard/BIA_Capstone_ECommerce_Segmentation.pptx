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A CAPSTONE PROJECT" id="{197EF489-3B55-4AA3-96F1-351D8EBC4280}">
          <p14:sldIdLst>
            <p14:sldId id="256"/>
          </p14:sldIdLst>
        </p14:section>
        <p14:section name="Untitled Section" id="{8468A513-2CB3-465D-A90D-127696A853AF}">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7/17/2026</a:t>
            </a:fld>
            <a:endParaRPr lang="en-US"/>
          </a:p>
        </p:txBody>
      </p:sp>
      <p:sp>
        <p:nvSpPr>
          <p:cNvPr id="5" name="Footer Placeholder 4"/>
          <p:cNvSpPr>
            <a:spLocks noGrp="1"/>
          </p:cNvSpPr>
          <p:nvPr>
            <p:ph type="ftr" sz="quarter" idx="11"/>
          </p:nvPr>
        </p:nvSpPr>
        <p:spPr>
          <a:xfrm>
            <a:off x="2416500" y="329307"/>
            <a:ext cx="4973915" cy="309201"/>
          </a:xfrm>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6" name="Slide Number Placeholder 5"/>
          <p:cNvSpPr>
            <a:spLocks noGrp="1"/>
          </p:cNvSpPr>
          <p:nvPr>
            <p:ph type="sldNum" sz="quarter" idx="12"/>
          </p:nvPr>
        </p:nvSpPr>
        <p:spPr>
          <a:xfrm>
            <a:off x="1437664" y="798973"/>
            <a:ext cx="811019" cy="503578"/>
          </a:xfrm>
        </p:spPr>
        <p:txBody>
          <a:bodyPr/>
          <a:lstStyle/>
          <a:p>
            <a:fld id="{B6F15528-21DE-4FAA-801E-634DDDAF4B2B}"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937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7/17/2026</a:t>
            </a:fld>
            <a:endParaRPr lang="en-US"/>
          </a:p>
        </p:txBody>
      </p:sp>
      <p:sp>
        <p:nvSpPr>
          <p:cNvPr id="5" name="Footer Placeholder 4"/>
          <p:cNvSpPr>
            <a:spLocks noGrp="1"/>
          </p:cNvSpPr>
          <p:nvPr>
            <p:ph type="ftr" sz="quarter" idx="11"/>
          </p:nvPr>
        </p:nvSpPr>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1373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7/17/2026</a:t>
            </a:fld>
            <a:endParaRPr lang="en-US"/>
          </a:p>
        </p:txBody>
      </p:sp>
      <p:sp>
        <p:nvSpPr>
          <p:cNvPr id="5" name="Footer Placeholder 4"/>
          <p:cNvSpPr>
            <a:spLocks noGrp="1"/>
          </p:cNvSpPr>
          <p:nvPr>
            <p:ph type="ftr" sz="quarter" idx="11"/>
          </p:nvPr>
        </p:nvSpPr>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8802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7/17/2026</a:t>
            </a:fld>
            <a:endParaRPr lang="en-US"/>
          </a:p>
        </p:txBody>
      </p:sp>
      <p:sp>
        <p:nvSpPr>
          <p:cNvPr id="6" name="Footer Placeholder 5"/>
          <p:cNvSpPr>
            <a:spLocks noGrp="1"/>
          </p:cNvSpPr>
          <p:nvPr>
            <p:ph type="ftr" sz="quarter" idx="11"/>
          </p:nvPr>
        </p:nvSpPr>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0839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7/17/2026</a:t>
            </a:fld>
            <a:endParaRPr lang="en-US"/>
          </a:p>
        </p:txBody>
      </p:sp>
      <p:sp>
        <p:nvSpPr>
          <p:cNvPr id="8" name="Footer Placeholder 7"/>
          <p:cNvSpPr>
            <a:spLocks noGrp="1"/>
          </p:cNvSpPr>
          <p:nvPr>
            <p:ph type="ftr" sz="quarter" idx="11"/>
          </p:nvPr>
        </p:nvSpPr>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70566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7/17/2026</a:t>
            </a:fld>
            <a:endParaRPr lang="en-US"/>
          </a:p>
        </p:txBody>
      </p:sp>
      <p:sp>
        <p:nvSpPr>
          <p:cNvPr id="4" name="Footer Placeholder 3"/>
          <p:cNvSpPr>
            <a:spLocks noGrp="1"/>
          </p:cNvSpPr>
          <p:nvPr>
            <p:ph type="ftr" sz="quarter" idx="11"/>
          </p:nvPr>
        </p:nvSpPr>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658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7/17/2026</a:t>
            </a:fld>
            <a:endParaRPr lang="en-US"/>
          </a:p>
        </p:txBody>
      </p:sp>
      <p:sp>
        <p:nvSpPr>
          <p:cNvPr id="3" name="Footer Placeholder 2"/>
          <p:cNvSpPr>
            <a:spLocks noGrp="1"/>
          </p:cNvSpPr>
          <p:nvPr>
            <p:ph type="ftr" sz="quarter" idx="11"/>
          </p:nvPr>
        </p:nvSpPr>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10101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7/17/2026</a:t>
            </a:fld>
            <a:endParaRPr lang="en-US"/>
          </a:p>
        </p:txBody>
      </p:sp>
      <p:sp>
        <p:nvSpPr>
          <p:cNvPr id="6" name="Footer Placeholder 5"/>
          <p:cNvSpPr>
            <a:spLocks noGrp="1"/>
          </p:cNvSpPr>
          <p:nvPr>
            <p:ph type="ftr" sz="quarter" idx="11"/>
          </p:nvPr>
        </p:nvSpPr>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4322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t>7/17/2026</a:t>
            </a:fld>
            <a:endParaRPr lang="en-US"/>
          </a:p>
        </p:txBody>
      </p:sp>
      <p:sp>
        <p:nvSpPr>
          <p:cNvPr id="6" name="Footer Placeholder 5"/>
          <p:cNvSpPr>
            <a:spLocks noGrp="1"/>
          </p:cNvSpPr>
          <p:nvPr>
            <p:ph type="ftr" sz="quarter" idx="11"/>
          </p:nvPr>
        </p:nvSpPr>
        <p:spPr>
          <a:xfrm>
            <a:off x="1447382" y="318640"/>
            <a:ext cx="5541004" cy="320931"/>
          </a:xfrm>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44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7/17/2026</a:t>
            </a:fld>
            <a:endParaRPr lang="en-US"/>
          </a:p>
        </p:txBody>
      </p:sp>
      <p:sp>
        <p:nvSpPr>
          <p:cNvPr id="5" name="Footer Placeholder 4"/>
          <p:cNvSpPr>
            <a:spLocks noGrp="1"/>
          </p:cNvSpPr>
          <p:nvPr>
            <p:ph type="ftr" sz="quarter" idx="11"/>
          </p:nvPr>
        </p:nvSpPr>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465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7/17/2026</a:t>
            </a:fld>
            <a:endParaRPr lang="en-US"/>
          </a:p>
        </p:txBody>
      </p:sp>
      <p:sp>
        <p:nvSpPr>
          <p:cNvPr id="5" name="Footer Placeholder 4"/>
          <p:cNvSpPr>
            <a:spLocks noGrp="1"/>
          </p:cNvSpPr>
          <p:nvPr>
            <p:ph type="ftr" sz="quarter" idx="11"/>
          </p:nvPr>
        </p:nvSpPr>
        <p:spPr/>
        <p:txBody>
          <a:body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0478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t>7/17/2026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marL="12700" marR="5080">
              <a:lnSpc>
                <a:spcPts val="1280"/>
              </a:lnSpc>
              <a:spcBef>
                <a:spcPts val="150"/>
              </a:spcBef>
            </a:pPr>
            <a:r>
              <a:rPr lang="en-US" b="1" spc="-10">
                <a:latin typeface="Calibri"/>
                <a:cs typeface="Calibri"/>
              </a:rPr>
              <a:t>CONFIDENTIAL</a:t>
            </a:r>
            <a:r>
              <a:rPr lang="en-US" spc="-10"/>
              <a:t>: </a:t>
            </a:r>
            <a:r>
              <a:rPr lang="en-US"/>
              <a:t>The</a:t>
            </a:r>
            <a:r>
              <a:rPr lang="en-US" spc="30"/>
              <a:t> </a:t>
            </a:r>
            <a:r>
              <a:rPr lang="en-US"/>
              <a:t>information</a:t>
            </a:r>
            <a:r>
              <a:rPr lang="en-US" spc="-5"/>
              <a:t> </a:t>
            </a:r>
            <a:r>
              <a:rPr lang="en-US"/>
              <a:t>in this</a:t>
            </a:r>
            <a:r>
              <a:rPr lang="en-US" spc="-5"/>
              <a:t> </a:t>
            </a:r>
            <a:r>
              <a:rPr lang="en-US"/>
              <a:t>document</a:t>
            </a:r>
            <a:r>
              <a:rPr lang="en-US" spc="-10"/>
              <a:t> belongs</a:t>
            </a:r>
            <a:r>
              <a:rPr lang="en-US" spc="-5"/>
              <a:t> </a:t>
            </a:r>
            <a:r>
              <a:rPr lang="en-US"/>
              <a:t>to</a:t>
            </a:r>
            <a:r>
              <a:rPr lang="en-US" spc="-10"/>
              <a:t> </a:t>
            </a:r>
            <a:r>
              <a:rPr lang="en-US"/>
              <a:t>Boston Institute</a:t>
            </a:r>
            <a:r>
              <a:rPr lang="en-US" spc="-50"/>
              <a:t> </a:t>
            </a:r>
            <a:r>
              <a:rPr lang="en-US"/>
              <a:t>of</a:t>
            </a:r>
            <a:r>
              <a:rPr lang="en-US" spc="25"/>
              <a:t> </a:t>
            </a:r>
            <a:r>
              <a:rPr lang="en-US" spc="-10"/>
              <a:t>Analytics</a:t>
            </a:r>
            <a:r>
              <a:rPr lang="en-US" spc="-5"/>
              <a:t> </a:t>
            </a:r>
            <a:r>
              <a:rPr lang="en-US"/>
              <a:t>LLC.</a:t>
            </a:r>
            <a:r>
              <a:rPr lang="en-US" spc="10"/>
              <a:t> </a:t>
            </a:r>
            <a:r>
              <a:rPr lang="en-US"/>
              <a:t>Any </a:t>
            </a:r>
            <a:r>
              <a:rPr lang="en-US" spc="-10"/>
              <a:t>unauthorized</a:t>
            </a:r>
            <a:r>
              <a:rPr lang="en-US"/>
              <a:t> sharing</a:t>
            </a:r>
            <a:r>
              <a:rPr lang="en-US" spc="-15"/>
              <a:t> </a:t>
            </a:r>
            <a:r>
              <a:rPr lang="en-US"/>
              <a:t>of</a:t>
            </a:r>
            <a:r>
              <a:rPr lang="en-US" spc="25"/>
              <a:t> </a:t>
            </a:r>
            <a:r>
              <a:rPr lang="en-US" spc="-20"/>
              <a:t>this </a:t>
            </a:r>
            <a:r>
              <a:rPr lang="en-US"/>
              <a:t>material</a:t>
            </a:r>
            <a:r>
              <a:rPr lang="en-US" spc="10"/>
              <a:t> </a:t>
            </a:r>
            <a:r>
              <a:rPr lang="en-US"/>
              <a:t>is</a:t>
            </a:r>
            <a:r>
              <a:rPr lang="en-US" spc="-25"/>
              <a:t> </a:t>
            </a:r>
            <a:r>
              <a:rPr lang="en-US"/>
              <a:t>prohibited</a:t>
            </a:r>
            <a:r>
              <a:rPr lang="en-US" spc="-25"/>
              <a:t> </a:t>
            </a:r>
            <a:r>
              <a:rPr lang="en-US"/>
              <a:t>and</a:t>
            </a:r>
            <a:r>
              <a:rPr lang="en-US" spc="-20"/>
              <a:t> </a:t>
            </a:r>
            <a:r>
              <a:rPr lang="en-US"/>
              <a:t>subject</a:t>
            </a:r>
            <a:r>
              <a:rPr lang="en-US" spc="-35"/>
              <a:t> </a:t>
            </a:r>
            <a:r>
              <a:rPr lang="en-US"/>
              <a:t>to</a:t>
            </a:r>
            <a:r>
              <a:rPr lang="en-US" spc="-25"/>
              <a:t> </a:t>
            </a:r>
            <a:r>
              <a:rPr lang="en-US"/>
              <a:t>legal</a:t>
            </a:r>
            <a:r>
              <a:rPr lang="en-US" spc="10"/>
              <a:t> </a:t>
            </a:r>
            <a:r>
              <a:rPr lang="en-US"/>
              <a:t>action</a:t>
            </a:r>
            <a:r>
              <a:rPr lang="en-US" spc="-25"/>
              <a:t> </a:t>
            </a:r>
            <a:r>
              <a:rPr lang="en-US"/>
              <a:t>under</a:t>
            </a:r>
            <a:r>
              <a:rPr lang="en-US" spc="25"/>
              <a:t> </a:t>
            </a:r>
            <a:r>
              <a:rPr lang="en-US"/>
              <a:t>breach</a:t>
            </a:r>
            <a:r>
              <a:rPr lang="en-US" spc="-20"/>
              <a:t> </a:t>
            </a:r>
            <a:r>
              <a:rPr lang="en-US"/>
              <a:t>of IP</a:t>
            </a:r>
            <a:r>
              <a:rPr lang="en-US" spc="-15"/>
              <a:t> </a:t>
            </a:r>
            <a:r>
              <a:rPr lang="en-US"/>
              <a:t>and</a:t>
            </a:r>
            <a:r>
              <a:rPr lang="en-US" spc="-20"/>
              <a:t> </a:t>
            </a:r>
            <a:r>
              <a:rPr lang="en-US" spc="-10"/>
              <a:t>confidentiality</a:t>
            </a:r>
            <a:r>
              <a:rPr lang="en-US" spc="-15"/>
              <a:t> </a:t>
            </a:r>
            <a:r>
              <a:rPr lang="en-US" spc="-10"/>
              <a:t>clauses.</a:t>
            </a:r>
            <a:endParaRPr lang="en-US" spc="-10"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6F15528-21DE-4FAA-801E-634DDDAF4B2B}"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01202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2.jp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1600200" y="4100000"/>
            <a:ext cx="8000000" cy="700000"/>
          </a:xfrm>
          <a:prstGeom prst="rect">
            <a:avLst/>
          </a:prstGeom>
          <a:noFill/>
        </p:spPr>
        <p:txBody>
          <a:bodyPr wrap="square" lIns="0" tIns="0" rIns="0" bIns="0">
            <a:spAutoFit/>
          </a:bodyPr>
          <a:lstStyle/>
          <a:p>
            <a:pPr algn="ctr">
              <a:spcAft>
                <a:spcPts val="400"/>
              </a:spcAft>
            </a:pPr>
            <a:r>
              <a:rPr sz="1500" b="0" i="0">
                <a:solidFill>
                  <a:srgbClr val="FFFFFF"/>
                </a:solidFill>
                <a:latin typeface="Calibri"/>
              </a:rPr>
              <a:t>E-Commerce Customer Segmentation &amp; Prediction</a:t>
            </a:r>
          </a:p>
          <a:p>
            <a:pPr algn="ctr"/>
            <a:r>
              <a:rPr sz="1300" b="0" i="0">
                <a:solidFill>
                  <a:srgbClr val="CADCFC"/>
                </a:solidFill>
                <a:latin typeface="Calibri"/>
              </a:rPr>
              <a:t>Boston Institute of Analytics · Capstone 2026</a:t>
            </a:r>
          </a:p>
        </p:txBody>
      </p:sp>
      <p:pic>
        <p:nvPicPr>
          <p:cNvPr id="8" name="Picture 7">
            <a:extLst>
              <a:ext uri="{FF2B5EF4-FFF2-40B4-BE49-F238E27FC236}">
                <a16:creationId xmlns:a16="http://schemas.microsoft.com/office/drawing/2014/main" id="{1E6CAFAF-6A01-27EB-7E4D-A5ACC9C260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3262" y="2438400"/>
            <a:ext cx="4333875" cy="1257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Agenda</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Rectangle 6"/>
          <p:cNvSpPr/>
          <p:nvPr/>
        </p:nvSpPr>
        <p:spPr>
          <a:xfrm>
            <a:off x="365760" y="990600"/>
            <a:ext cx="685800" cy="533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01</a:t>
            </a:r>
          </a:p>
        </p:txBody>
      </p:sp>
      <p:sp>
        <p:nvSpPr>
          <p:cNvPr id="8" name="TextBox 7"/>
          <p:cNvSpPr txBox="1"/>
          <p:nvPr/>
        </p:nvSpPr>
        <p:spPr>
          <a:xfrm>
            <a:off x="1165860" y="1082040"/>
            <a:ext cx="4800600" cy="400050"/>
          </a:xfrm>
          <a:prstGeom prst="rect">
            <a:avLst/>
          </a:prstGeom>
          <a:noFill/>
        </p:spPr>
        <p:txBody>
          <a:bodyPr wrap="square" lIns="0" tIns="0" rIns="0" bIns="0" anchor="ctr">
            <a:spAutoFit/>
          </a:bodyPr>
          <a:lstStyle/>
          <a:p>
            <a:pPr algn="l"/>
            <a:r>
              <a:rPr sz="1350" b="0" i="0">
                <a:solidFill>
                  <a:srgbClr val="333333"/>
                </a:solidFill>
                <a:latin typeface="Calibri"/>
              </a:rPr>
              <a:t>Project Overview &amp; Objectives</a:t>
            </a:r>
          </a:p>
        </p:txBody>
      </p:sp>
      <p:sp>
        <p:nvSpPr>
          <p:cNvPr id="9" name="Rectangle 8"/>
          <p:cNvSpPr/>
          <p:nvPr/>
        </p:nvSpPr>
        <p:spPr>
          <a:xfrm>
            <a:off x="365760" y="1676400"/>
            <a:ext cx="685800" cy="533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02</a:t>
            </a:r>
          </a:p>
        </p:txBody>
      </p:sp>
      <p:sp>
        <p:nvSpPr>
          <p:cNvPr id="10" name="TextBox 9"/>
          <p:cNvSpPr txBox="1"/>
          <p:nvPr/>
        </p:nvSpPr>
        <p:spPr>
          <a:xfrm>
            <a:off x="1165860" y="1767840"/>
            <a:ext cx="4800600" cy="400050"/>
          </a:xfrm>
          <a:prstGeom prst="rect">
            <a:avLst/>
          </a:prstGeom>
          <a:noFill/>
        </p:spPr>
        <p:txBody>
          <a:bodyPr wrap="square" lIns="0" tIns="0" rIns="0" bIns="0" anchor="ctr">
            <a:spAutoFit/>
          </a:bodyPr>
          <a:lstStyle/>
          <a:p>
            <a:pPr algn="l"/>
            <a:r>
              <a:rPr sz="1350" b="0" i="0">
                <a:solidFill>
                  <a:srgbClr val="333333"/>
                </a:solidFill>
                <a:latin typeface="Calibri"/>
              </a:rPr>
              <a:t>Dataset &amp; Data Cleaning</a:t>
            </a:r>
          </a:p>
        </p:txBody>
      </p:sp>
      <p:sp>
        <p:nvSpPr>
          <p:cNvPr id="11" name="Rectangle 10"/>
          <p:cNvSpPr/>
          <p:nvPr/>
        </p:nvSpPr>
        <p:spPr>
          <a:xfrm>
            <a:off x="365760" y="2362200"/>
            <a:ext cx="685800" cy="533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03</a:t>
            </a:r>
          </a:p>
        </p:txBody>
      </p:sp>
      <p:sp>
        <p:nvSpPr>
          <p:cNvPr id="12" name="TextBox 11"/>
          <p:cNvSpPr txBox="1"/>
          <p:nvPr/>
        </p:nvSpPr>
        <p:spPr>
          <a:xfrm>
            <a:off x="1165860" y="2453640"/>
            <a:ext cx="4800600" cy="400050"/>
          </a:xfrm>
          <a:prstGeom prst="rect">
            <a:avLst/>
          </a:prstGeom>
          <a:noFill/>
        </p:spPr>
        <p:txBody>
          <a:bodyPr wrap="square" lIns="0" tIns="0" rIns="0" bIns="0" anchor="ctr">
            <a:spAutoFit/>
          </a:bodyPr>
          <a:lstStyle/>
          <a:p>
            <a:pPr algn="l"/>
            <a:r>
              <a:rPr sz="1350" b="0" i="0">
                <a:solidFill>
                  <a:srgbClr val="333333"/>
                </a:solidFill>
                <a:latin typeface="Calibri"/>
              </a:rPr>
              <a:t>Feature Engineering, EDA &amp; RFM</a:t>
            </a:r>
          </a:p>
        </p:txBody>
      </p:sp>
      <p:sp>
        <p:nvSpPr>
          <p:cNvPr id="13" name="Rectangle 12"/>
          <p:cNvSpPr/>
          <p:nvPr/>
        </p:nvSpPr>
        <p:spPr>
          <a:xfrm>
            <a:off x="365760" y="3048000"/>
            <a:ext cx="685800" cy="533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04</a:t>
            </a:r>
          </a:p>
        </p:txBody>
      </p:sp>
      <p:sp>
        <p:nvSpPr>
          <p:cNvPr id="14" name="TextBox 13"/>
          <p:cNvSpPr txBox="1"/>
          <p:nvPr/>
        </p:nvSpPr>
        <p:spPr>
          <a:xfrm>
            <a:off x="1165860" y="3139440"/>
            <a:ext cx="4800600" cy="400050"/>
          </a:xfrm>
          <a:prstGeom prst="rect">
            <a:avLst/>
          </a:prstGeom>
          <a:noFill/>
        </p:spPr>
        <p:txBody>
          <a:bodyPr wrap="square" lIns="0" tIns="0" rIns="0" bIns="0" anchor="ctr">
            <a:spAutoFit/>
          </a:bodyPr>
          <a:lstStyle/>
          <a:p>
            <a:pPr algn="l"/>
            <a:r>
              <a:rPr sz="1350" b="0" i="0">
                <a:solidFill>
                  <a:srgbClr val="333333"/>
                </a:solidFill>
                <a:latin typeface="Calibri"/>
              </a:rPr>
              <a:t>Customer Segmentation — K-Means, Hierarchical, DBSCAN</a:t>
            </a:r>
          </a:p>
        </p:txBody>
      </p:sp>
      <p:sp>
        <p:nvSpPr>
          <p:cNvPr id="15" name="Rectangle 14"/>
          <p:cNvSpPr/>
          <p:nvPr/>
        </p:nvSpPr>
        <p:spPr>
          <a:xfrm>
            <a:off x="365760" y="3733800"/>
            <a:ext cx="685800" cy="533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05</a:t>
            </a:r>
          </a:p>
        </p:txBody>
      </p:sp>
      <p:sp>
        <p:nvSpPr>
          <p:cNvPr id="16" name="TextBox 15"/>
          <p:cNvSpPr txBox="1"/>
          <p:nvPr/>
        </p:nvSpPr>
        <p:spPr>
          <a:xfrm>
            <a:off x="1165860" y="3825240"/>
            <a:ext cx="4800600" cy="400050"/>
          </a:xfrm>
          <a:prstGeom prst="rect">
            <a:avLst/>
          </a:prstGeom>
          <a:noFill/>
        </p:spPr>
        <p:txBody>
          <a:bodyPr wrap="square" lIns="0" tIns="0" rIns="0" bIns="0" anchor="ctr">
            <a:spAutoFit/>
          </a:bodyPr>
          <a:lstStyle/>
          <a:p>
            <a:pPr algn="l"/>
            <a:r>
              <a:rPr sz="1350" b="0" i="0">
                <a:solidFill>
                  <a:srgbClr val="333333"/>
                </a:solidFill>
                <a:latin typeface="Calibri"/>
              </a:rPr>
              <a:t>Segment Profiles — VIP, Loyal, At Risk, New</a:t>
            </a:r>
          </a:p>
        </p:txBody>
      </p:sp>
      <p:sp>
        <p:nvSpPr>
          <p:cNvPr id="17" name="Rectangle 16"/>
          <p:cNvSpPr/>
          <p:nvPr/>
        </p:nvSpPr>
        <p:spPr>
          <a:xfrm>
            <a:off x="365760" y="4419600"/>
            <a:ext cx="685800" cy="533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06</a:t>
            </a:r>
          </a:p>
        </p:txBody>
      </p:sp>
      <p:sp>
        <p:nvSpPr>
          <p:cNvPr id="18" name="TextBox 17"/>
          <p:cNvSpPr txBox="1"/>
          <p:nvPr/>
        </p:nvSpPr>
        <p:spPr>
          <a:xfrm>
            <a:off x="1165860" y="4511040"/>
            <a:ext cx="4800600" cy="400050"/>
          </a:xfrm>
          <a:prstGeom prst="rect">
            <a:avLst/>
          </a:prstGeom>
          <a:noFill/>
        </p:spPr>
        <p:txBody>
          <a:bodyPr wrap="square" lIns="0" tIns="0" rIns="0" bIns="0" anchor="ctr">
            <a:spAutoFit/>
          </a:bodyPr>
          <a:lstStyle/>
          <a:p>
            <a:pPr algn="l"/>
            <a:r>
              <a:rPr sz="1350" b="0" i="0">
                <a:solidFill>
                  <a:srgbClr val="333333"/>
                </a:solidFill>
                <a:latin typeface="Calibri"/>
              </a:rPr>
              <a:t>Predictive Classification — High-Value Customer</a:t>
            </a:r>
          </a:p>
        </p:txBody>
      </p:sp>
      <p:sp>
        <p:nvSpPr>
          <p:cNvPr id="19" name="Rectangle 18"/>
          <p:cNvSpPr/>
          <p:nvPr/>
        </p:nvSpPr>
        <p:spPr>
          <a:xfrm>
            <a:off x="6400800" y="990600"/>
            <a:ext cx="685800" cy="5334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07</a:t>
            </a:r>
          </a:p>
        </p:txBody>
      </p:sp>
      <p:sp>
        <p:nvSpPr>
          <p:cNvPr id="20" name="TextBox 19"/>
          <p:cNvSpPr txBox="1"/>
          <p:nvPr/>
        </p:nvSpPr>
        <p:spPr>
          <a:xfrm>
            <a:off x="7200900" y="1082040"/>
            <a:ext cx="4800600" cy="400050"/>
          </a:xfrm>
          <a:prstGeom prst="rect">
            <a:avLst/>
          </a:prstGeom>
          <a:noFill/>
        </p:spPr>
        <p:txBody>
          <a:bodyPr wrap="square" lIns="0" tIns="0" rIns="0" bIns="0" anchor="ctr">
            <a:spAutoFit/>
          </a:bodyPr>
          <a:lstStyle/>
          <a:p>
            <a:pPr algn="l"/>
            <a:r>
              <a:rPr sz="1350" b="0" i="0">
                <a:solidFill>
                  <a:srgbClr val="333333"/>
                </a:solidFill>
                <a:latin typeface="Calibri"/>
              </a:rPr>
              <a:t>Cancellation &amp; Returns Analysis</a:t>
            </a:r>
          </a:p>
        </p:txBody>
      </p:sp>
      <p:sp>
        <p:nvSpPr>
          <p:cNvPr id="21" name="Rectangle 20"/>
          <p:cNvSpPr/>
          <p:nvPr/>
        </p:nvSpPr>
        <p:spPr>
          <a:xfrm>
            <a:off x="6400800" y="1676400"/>
            <a:ext cx="685800" cy="5334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08</a:t>
            </a:r>
          </a:p>
        </p:txBody>
      </p:sp>
      <p:sp>
        <p:nvSpPr>
          <p:cNvPr id="22" name="TextBox 21"/>
          <p:cNvSpPr txBox="1"/>
          <p:nvPr/>
        </p:nvSpPr>
        <p:spPr>
          <a:xfrm>
            <a:off x="7200900" y="1767840"/>
            <a:ext cx="4800600" cy="400050"/>
          </a:xfrm>
          <a:prstGeom prst="rect">
            <a:avLst/>
          </a:prstGeom>
          <a:noFill/>
        </p:spPr>
        <p:txBody>
          <a:bodyPr wrap="square" lIns="0" tIns="0" rIns="0" bIns="0" anchor="ctr">
            <a:spAutoFit/>
          </a:bodyPr>
          <a:lstStyle/>
          <a:p>
            <a:pPr algn="l"/>
            <a:r>
              <a:rPr sz="1350" b="0" i="0">
                <a:solidFill>
                  <a:srgbClr val="333333"/>
                </a:solidFill>
                <a:latin typeface="Calibri"/>
              </a:rPr>
              <a:t>Power BI Dashboard</a:t>
            </a:r>
          </a:p>
        </p:txBody>
      </p:sp>
      <p:sp>
        <p:nvSpPr>
          <p:cNvPr id="23" name="Rectangle 22"/>
          <p:cNvSpPr/>
          <p:nvPr/>
        </p:nvSpPr>
        <p:spPr>
          <a:xfrm>
            <a:off x="6400800" y="2362200"/>
            <a:ext cx="685800" cy="5334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09</a:t>
            </a:r>
          </a:p>
        </p:txBody>
      </p:sp>
      <p:sp>
        <p:nvSpPr>
          <p:cNvPr id="24" name="TextBox 23"/>
          <p:cNvSpPr txBox="1"/>
          <p:nvPr/>
        </p:nvSpPr>
        <p:spPr>
          <a:xfrm>
            <a:off x="7200900" y="2453640"/>
            <a:ext cx="4800600" cy="400050"/>
          </a:xfrm>
          <a:prstGeom prst="rect">
            <a:avLst/>
          </a:prstGeom>
          <a:noFill/>
        </p:spPr>
        <p:txBody>
          <a:bodyPr wrap="square" lIns="0" tIns="0" rIns="0" bIns="0" anchor="ctr">
            <a:spAutoFit/>
          </a:bodyPr>
          <a:lstStyle/>
          <a:p>
            <a:pPr algn="l"/>
            <a:r>
              <a:rPr sz="1350" b="0" i="0">
                <a:solidFill>
                  <a:srgbClr val="333333"/>
                </a:solidFill>
                <a:latin typeface="Calibri"/>
              </a:rPr>
              <a:t>Business Recommendations</a:t>
            </a:r>
          </a:p>
        </p:txBody>
      </p:sp>
      <p:sp>
        <p:nvSpPr>
          <p:cNvPr id="25" name="Rectangle 24"/>
          <p:cNvSpPr/>
          <p:nvPr/>
        </p:nvSpPr>
        <p:spPr>
          <a:xfrm>
            <a:off x="6400800" y="3048000"/>
            <a:ext cx="685800" cy="5334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10</a:t>
            </a:r>
          </a:p>
        </p:txBody>
      </p:sp>
      <p:sp>
        <p:nvSpPr>
          <p:cNvPr id="26" name="TextBox 25"/>
          <p:cNvSpPr txBox="1"/>
          <p:nvPr/>
        </p:nvSpPr>
        <p:spPr>
          <a:xfrm>
            <a:off x="7200900" y="3139440"/>
            <a:ext cx="4800600" cy="400050"/>
          </a:xfrm>
          <a:prstGeom prst="rect">
            <a:avLst/>
          </a:prstGeom>
          <a:noFill/>
        </p:spPr>
        <p:txBody>
          <a:bodyPr wrap="square" lIns="0" tIns="0" rIns="0" bIns="0" anchor="ctr">
            <a:spAutoFit/>
          </a:bodyPr>
          <a:lstStyle/>
          <a:p>
            <a:pPr algn="l"/>
            <a:r>
              <a:rPr sz="1350" b="0" i="0">
                <a:solidFill>
                  <a:srgbClr val="333333"/>
                </a:solidFill>
                <a:latin typeface="Calibri"/>
              </a:rPr>
              <a:t>Conclusion &amp; Deliverables</a:t>
            </a:r>
          </a:p>
        </p:txBody>
      </p:sp>
      <p:sp>
        <p:nvSpPr>
          <p:cNvPr id="27" name="Rectangle 26"/>
          <p:cNvSpPr/>
          <p:nvPr/>
        </p:nvSpPr>
        <p:spPr>
          <a:xfrm>
            <a:off x="6400800" y="3733800"/>
            <a:ext cx="685800" cy="5334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11</a:t>
            </a:r>
          </a:p>
        </p:txBody>
      </p:sp>
      <p:sp>
        <p:nvSpPr>
          <p:cNvPr id="28" name="TextBox 27"/>
          <p:cNvSpPr txBox="1"/>
          <p:nvPr/>
        </p:nvSpPr>
        <p:spPr>
          <a:xfrm>
            <a:off x="7200900" y="3825240"/>
            <a:ext cx="4800600" cy="400050"/>
          </a:xfrm>
          <a:prstGeom prst="rect">
            <a:avLst/>
          </a:prstGeom>
          <a:noFill/>
        </p:spPr>
        <p:txBody>
          <a:bodyPr wrap="square" lIns="0" tIns="0" rIns="0" bIns="0" anchor="ctr">
            <a:spAutoFit/>
          </a:bodyPr>
          <a:lstStyle/>
          <a:p>
            <a:pPr algn="l"/>
            <a:r>
              <a:rPr sz="1350" b="0" i="0">
                <a:solidFill>
                  <a:srgbClr val="333333"/>
                </a:solidFill>
                <a:latin typeface="Calibri"/>
              </a:rPr>
              <a:t>Q&amp;A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0" y="0"/>
            <a:ext cx="71628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2011680"/>
            <a:ext cx="3200400" cy="914400"/>
          </a:xfrm>
          <a:prstGeom prst="rect">
            <a:avLst/>
          </a:prstGeom>
          <a:noFill/>
        </p:spPr>
        <p:txBody>
          <a:bodyPr wrap="square" lIns="0" tIns="0" rIns="0" bIns="0">
            <a:spAutoFit/>
          </a:bodyPr>
          <a:lstStyle/>
          <a:p>
            <a:pPr algn="ctr"/>
            <a:r>
              <a:rPr sz="6400" b="1" i="0">
                <a:solidFill>
                  <a:srgbClr val="CADCFC"/>
                </a:solidFill>
                <a:latin typeface="Calibri"/>
              </a:rPr>
              <a:t>01</a:t>
            </a:r>
          </a:p>
        </p:txBody>
      </p:sp>
      <p:sp>
        <p:nvSpPr>
          <p:cNvPr id="5" name="TextBox 4"/>
          <p:cNvSpPr txBox="1"/>
          <p:nvPr/>
        </p:nvSpPr>
        <p:spPr>
          <a:xfrm>
            <a:off x="457200" y="3008376"/>
            <a:ext cx="4114800" cy="1847088"/>
          </a:xfrm>
          <a:prstGeom prst="rect">
            <a:avLst/>
          </a:prstGeom>
          <a:noFill/>
        </p:spPr>
        <p:txBody>
          <a:bodyPr wrap="square" lIns="0" tIns="0" rIns="0" bIns="0">
            <a:spAutoFit/>
          </a:bodyPr>
          <a:lstStyle/>
          <a:p>
            <a:pPr algn="l">
              <a:spcAft>
                <a:spcPts val="200"/>
              </a:spcAft>
            </a:pPr>
            <a:r>
              <a:rPr sz="3000" b="1" i="0" dirty="0">
                <a:solidFill>
                  <a:srgbClr val="FFFFFF"/>
                </a:solidFill>
                <a:latin typeface="Calibri"/>
              </a:rPr>
              <a:t>Project</a:t>
            </a:r>
          </a:p>
          <a:p>
            <a:pPr algn="l">
              <a:spcAft>
                <a:spcPts val="200"/>
              </a:spcAft>
            </a:pPr>
            <a:r>
              <a:rPr sz="3000" b="1" i="0" dirty="0">
                <a:solidFill>
                  <a:srgbClr val="FFFFFF"/>
                </a:solidFill>
                <a:latin typeface="Calibri"/>
              </a:rPr>
              <a:t>Overview &amp;</a:t>
            </a:r>
          </a:p>
          <a:p>
            <a:pPr algn="l">
              <a:spcAft>
                <a:spcPts val="200"/>
              </a:spcAft>
            </a:pPr>
            <a:r>
              <a:rPr sz="3000" b="1" i="0" dirty="0">
                <a:solidFill>
                  <a:srgbClr val="FFFFFF"/>
                </a:solidFill>
                <a:latin typeface="Calibri"/>
              </a:rPr>
              <a:t>Objectives</a:t>
            </a:r>
          </a:p>
        </p:txBody>
      </p:sp>
      <p:sp>
        <p:nvSpPr>
          <p:cNvPr id="6" name="TextBox 5"/>
          <p:cNvSpPr txBox="1"/>
          <p:nvPr/>
        </p:nvSpPr>
        <p:spPr>
          <a:xfrm>
            <a:off x="5486400" y="2560320"/>
            <a:ext cx="6400800" cy="1450000"/>
          </a:xfrm>
          <a:prstGeom prst="rect">
            <a:avLst/>
          </a:prstGeom>
          <a:noFill/>
        </p:spPr>
        <p:txBody>
          <a:bodyPr wrap="square" lIns="0" tIns="0" rIns="0" bIns="0">
            <a:spAutoFit/>
          </a:bodyPr>
          <a:lstStyle/>
          <a:p>
            <a:pPr algn="l">
              <a:spcAft>
                <a:spcPts val="1000"/>
              </a:spcAft>
            </a:pPr>
            <a:r>
              <a:rPr sz="1800" b="1" i="0">
                <a:solidFill>
                  <a:srgbClr val="1B2254"/>
                </a:solidFill>
                <a:latin typeface="Calibri"/>
              </a:rPr>
              <a:t>Background, Goals &amp; Benefits</a:t>
            </a:r>
          </a:p>
          <a:p>
            <a:pPr algn="l">
              <a:lnSpc>
                <a:spcPct val="115000"/>
              </a:lnSpc>
            </a:pPr>
            <a:r>
              <a:rPr sz="1300" b="0" i="0">
                <a:solidFill>
                  <a:srgbClr val="333333"/>
                </a:solidFill>
                <a:latin typeface="Calibri"/>
              </a:rPr>
              <a:t>Framing the business problem this capstone solves and the value it creates for e-commerce marketing decisions.</a:t>
            </a:r>
          </a:p>
        </p:txBody>
      </p:sp>
      <p:sp>
        <p:nvSpPr>
          <p:cNvPr id="7" name="TextBox 6"/>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Business Problem, Goal &amp; Key Benefits</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Rounded Rectangle 6"/>
          <p:cNvSpPr/>
          <p:nvPr/>
        </p:nvSpPr>
        <p:spPr>
          <a:xfrm>
            <a:off x="365760" y="990600"/>
            <a:ext cx="11457432" cy="14706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55760" y="1415930"/>
            <a:ext cx="620000" cy="6200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9" name="TextBox 8"/>
          <p:cNvSpPr txBox="1"/>
          <p:nvPr/>
        </p:nvSpPr>
        <p:spPr>
          <a:xfrm>
            <a:off x="1515760" y="1150600"/>
            <a:ext cx="10100000" cy="1150000"/>
          </a:xfrm>
          <a:prstGeom prst="rect">
            <a:avLst/>
          </a:prstGeom>
          <a:noFill/>
        </p:spPr>
        <p:txBody>
          <a:bodyPr wrap="square" lIns="0" tIns="0" rIns="0" bIns="0">
            <a:spAutoFit/>
          </a:bodyPr>
          <a:lstStyle/>
          <a:p>
            <a:pPr algn="l">
              <a:spcAft>
                <a:spcPts val="400"/>
              </a:spcAft>
            </a:pPr>
            <a:r>
              <a:rPr sz="1400" b="1" i="0">
                <a:solidFill>
                  <a:srgbClr val="1B2254"/>
                </a:solidFill>
                <a:latin typeface="Calibri"/>
              </a:rPr>
              <a:t>Business Problem</a:t>
            </a:r>
          </a:p>
          <a:p>
            <a:pPr algn="l">
              <a:lnSpc>
                <a:spcPct val="115000"/>
              </a:lnSpc>
            </a:pPr>
            <a:r>
              <a:rPr sz="1250" b="0" i="0">
                <a:solidFill>
                  <a:srgbClr val="333333"/>
                </a:solidFill>
                <a:latin typeface="Calibri"/>
              </a:rPr>
              <a:t>The retailer lacks insight into customer purchasing behavior — causing inefficient marketing spend and weak retention.</a:t>
            </a:r>
          </a:p>
        </p:txBody>
      </p:sp>
      <p:sp>
        <p:nvSpPr>
          <p:cNvPr id="10" name="Rounded Rectangle 9"/>
          <p:cNvSpPr/>
          <p:nvPr/>
        </p:nvSpPr>
        <p:spPr>
          <a:xfrm>
            <a:off x="365760" y="2600000"/>
            <a:ext cx="11457432" cy="14706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55760" y="3025330"/>
            <a:ext cx="620000" cy="62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12" name="TextBox 11"/>
          <p:cNvSpPr txBox="1"/>
          <p:nvPr/>
        </p:nvSpPr>
        <p:spPr>
          <a:xfrm>
            <a:off x="1515760" y="2760000"/>
            <a:ext cx="10100000" cy="1150000"/>
          </a:xfrm>
          <a:prstGeom prst="rect">
            <a:avLst/>
          </a:prstGeom>
          <a:noFill/>
        </p:spPr>
        <p:txBody>
          <a:bodyPr wrap="square" lIns="0" tIns="0" rIns="0" bIns="0">
            <a:spAutoFit/>
          </a:bodyPr>
          <a:lstStyle/>
          <a:p>
            <a:pPr algn="l">
              <a:spcAft>
                <a:spcPts val="400"/>
              </a:spcAft>
            </a:pPr>
            <a:r>
              <a:rPr sz="1400" b="1" i="0">
                <a:solidFill>
                  <a:srgbClr val="1B2254"/>
                </a:solidFill>
                <a:latin typeface="Calibri"/>
              </a:rPr>
              <a:t>Project Goal</a:t>
            </a:r>
          </a:p>
          <a:p>
            <a:pPr algn="l">
              <a:lnSpc>
                <a:spcPct val="115000"/>
              </a:lnSpc>
            </a:pPr>
            <a:r>
              <a:rPr sz="1250" b="0" i="0">
                <a:solidFill>
                  <a:srgbClr val="333333"/>
                </a:solidFill>
                <a:latin typeface="Calibri"/>
              </a:rPr>
              <a:t>Build a customer segmentation model plus a predictive classifier that enable data-driven, targeted marketing.</a:t>
            </a:r>
          </a:p>
        </p:txBody>
      </p:sp>
      <p:sp>
        <p:nvSpPr>
          <p:cNvPr id="13" name="TextBox 12"/>
          <p:cNvSpPr txBox="1"/>
          <p:nvPr/>
        </p:nvSpPr>
        <p:spPr>
          <a:xfrm>
            <a:off x="365760" y="4300000"/>
            <a:ext cx="4000000" cy="350000"/>
          </a:xfrm>
          <a:prstGeom prst="rect">
            <a:avLst/>
          </a:prstGeom>
          <a:noFill/>
        </p:spPr>
        <p:txBody>
          <a:bodyPr wrap="square" lIns="0" tIns="0" rIns="0" bIns="0">
            <a:spAutoFit/>
          </a:bodyPr>
          <a:lstStyle/>
          <a:p>
            <a:pPr algn="l"/>
            <a:r>
              <a:rPr sz="1500" b="1" i="0">
                <a:solidFill>
                  <a:srgbClr val="1B2254"/>
                </a:solidFill>
                <a:latin typeface="Calibri"/>
              </a:rPr>
              <a:t>Key Benefits</a:t>
            </a:r>
          </a:p>
        </p:txBody>
      </p:sp>
      <p:sp>
        <p:nvSpPr>
          <p:cNvPr id="14" name="Rounded Rectangle 13"/>
          <p:cNvSpPr/>
          <p:nvPr/>
        </p:nvSpPr>
        <p:spPr>
          <a:xfrm>
            <a:off x="365760" y="4750000"/>
            <a:ext cx="3719144" cy="155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915332" y="4860000"/>
            <a:ext cx="620000" cy="620000"/>
          </a:xfrm>
          <a:prstGeom prst="ellipse">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16" name="TextBox 15"/>
          <p:cNvSpPr txBox="1"/>
          <p:nvPr/>
        </p:nvSpPr>
        <p:spPr>
          <a:xfrm>
            <a:off x="515760" y="5570000"/>
            <a:ext cx="3419144" cy="340000"/>
          </a:xfrm>
          <a:prstGeom prst="rect">
            <a:avLst/>
          </a:prstGeom>
          <a:noFill/>
        </p:spPr>
        <p:txBody>
          <a:bodyPr wrap="square" lIns="0" tIns="0" rIns="0" bIns="0">
            <a:spAutoFit/>
          </a:bodyPr>
          <a:lstStyle/>
          <a:p>
            <a:pPr algn="ctr"/>
            <a:r>
              <a:rPr sz="1250" b="1" i="0">
                <a:solidFill>
                  <a:srgbClr val="1B2254"/>
                </a:solidFill>
                <a:latin typeface="Calibri"/>
              </a:rPr>
              <a:t>Enhanced Segmentation</a:t>
            </a:r>
          </a:p>
        </p:txBody>
      </p:sp>
      <p:sp>
        <p:nvSpPr>
          <p:cNvPr id="17" name="TextBox 16"/>
          <p:cNvSpPr txBox="1"/>
          <p:nvPr/>
        </p:nvSpPr>
        <p:spPr>
          <a:xfrm>
            <a:off x="515760" y="5910000"/>
            <a:ext cx="3419144" cy="380000"/>
          </a:xfrm>
          <a:prstGeom prst="rect">
            <a:avLst/>
          </a:prstGeom>
          <a:noFill/>
        </p:spPr>
        <p:txBody>
          <a:bodyPr wrap="square" lIns="0" tIns="0" rIns="0" bIns="0">
            <a:spAutoFit/>
          </a:bodyPr>
          <a:lstStyle/>
          <a:p>
            <a:pPr algn="ctr"/>
            <a:r>
              <a:rPr sz="1000" b="0" i="0">
                <a:solidFill>
                  <a:srgbClr val="64748B"/>
                </a:solidFill>
                <a:latin typeface="Calibri"/>
              </a:rPr>
              <a:t>Targeted marketing strategies per customer group</a:t>
            </a:r>
          </a:p>
        </p:txBody>
      </p:sp>
      <p:sp>
        <p:nvSpPr>
          <p:cNvPr id="18" name="Rounded Rectangle 17"/>
          <p:cNvSpPr/>
          <p:nvPr/>
        </p:nvSpPr>
        <p:spPr>
          <a:xfrm>
            <a:off x="4234904" y="4750000"/>
            <a:ext cx="3719144" cy="155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784476" y="4860000"/>
            <a:ext cx="620000" cy="620000"/>
          </a:xfrm>
          <a:prstGeom prst="ellipse">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20" name="TextBox 19"/>
          <p:cNvSpPr txBox="1"/>
          <p:nvPr/>
        </p:nvSpPr>
        <p:spPr>
          <a:xfrm>
            <a:off x="4384904" y="5570000"/>
            <a:ext cx="3419144" cy="340000"/>
          </a:xfrm>
          <a:prstGeom prst="rect">
            <a:avLst/>
          </a:prstGeom>
          <a:noFill/>
        </p:spPr>
        <p:txBody>
          <a:bodyPr wrap="square" lIns="0" tIns="0" rIns="0" bIns="0">
            <a:spAutoFit/>
          </a:bodyPr>
          <a:lstStyle/>
          <a:p>
            <a:pPr algn="ctr"/>
            <a:r>
              <a:rPr sz="1250" b="1" i="0">
                <a:solidFill>
                  <a:srgbClr val="1B2254"/>
                </a:solidFill>
                <a:latin typeface="Calibri"/>
              </a:rPr>
              <a:t>Cost Efficiency</a:t>
            </a:r>
          </a:p>
        </p:txBody>
      </p:sp>
      <p:sp>
        <p:nvSpPr>
          <p:cNvPr id="21" name="TextBox 20"/>
          <p:cNvSpPr txBox="1"/>
          <p:nvPr/>
        </p:nvSpPr>
        <p:spPr>
          <a:xfrm>
            <a:off x="4384904" y="5910000"/>
            <a:ext cx="3419144" cy="380000"/>
          </a:xfrm>
          <a:prstGeom prst="rect">
            <a:avLst/>
          </a:prstGeom>
          <a:noFill/>
        </p:spPr>
        <p:txBody>
          <a:bodyPr wrap="square" lIns="0" tIns="0" rIns="0" bIns="0">
            <a:spAutoFit/>
          </a:bodyPr>
          <a:lstStyle/>
          <a:p>
            <a:pPr algn="ctr"/>
            <a:r>
              <a:rPr sz="1000" b="0" i="0">
                <a:solidFill>
                  <a:srgbClr val="64748B"/>
                </a:solidFill>
                <a:latin typeface="Calibri"/>
              </a:rPr>
              <a:t>Focus resources on high-value customers</a:t>
            </a:r>
          </a:p>
        </p:txBody>
      </p:sp>
      <p:sp>
        <p:nvSpPr>
          <p:cNvPr id="22" name="Rounded Rectangle 21"/>
          <p:cNvSpPr/>
          <p:nvPr/>
        </p:nvSpPr>
        <p:spPr>
          <a:xfrm>
            <a:off x="8104048" y="4750000"/>
            <a:ext cx="3719144" cy="155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653620" y="4860000"/>
            <a:ext cx="620000" cy="620000"/>
          </a:xfrm>
          <a:prstGeom prst="ellipse">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Calibri"/>
              </a:rPr>
              <a:t>😊</a:t>
            </a:r>
          </a:p>
        </p:txBody>
      </p:sp>
      <p:sp>
        <p:nvSpPr>
          <p:cNvPr id="24" name="TextBox 23"/>
          <p:cNvSpPr txBox="1"/>
          <p:nvPr/>
        </p:nvSpPr>
        <p:spPr>
          <a:xfrm>
            <a:off x="8254048" y="5570000"/>
            <a:ext cx="3419144" cy="340000"/>
          </a:xfrm>
          <a:prstGeom prst="rect">
            <a:avLst/>
          </a:prstGeom>
          <a:noFill/>
        </p:spPr>
        <p:txBody>
          <a:bodyPr wrap="square" lIns="0" tIns="0" rIns="0" bIns="0">
            <a:spAutoFit/>
          </a:bodyPr>
          <a:lstStyle/>
          <a:p>
            <a:pPr algn="ctr"/>
            <a:r>
              <a:rPr sz="1250" b="1" i="0">
                <a:solidFill>
                  <a:srgbClr val="1B2254"/>
                </a:solidFill>
                <a:latin typeface="Calibri"/>
              </a:rPr>
              <a:t>Improved Satisfaction</a:t>
            </a:r>
          </a:p>
        </p:txBody>
      </p:sp>
      <p:sp>
        <p:nvSpPr>
          <p:cNvPr id="25" name="TextBox 24"/>
          <p:cNvSpPr txBox="1"/>
          <p:nvPr/>
        </p:nvSpPr>
        <p:spPr>
          <a:xfrm>
            <a:off x="8254048" y="5910000"/>
            <a:ext cx="3419144" cy="380000"/>
          </a:xfrm>
          <a:prstGeom prst="rect">
            <a:avLst/>
          </a:prstGeom>
          <a:noFill/>
        </p:spPr>
        <p:txBody>
          <a:bodyPr wrap="square" lIns="0" tIns="0" rIns="0" bIns="0">
            <a:spAutoFit/>
          </a:bodyPr>
          <a:lstStyle/>
          <a:p>
            <a:pPr algn="ctr"/>
            <a:r>
              <a:rPr sz="1000" b="0" i="0">
                <a:solidFill>
                  <a:srgbClr val="64748B"/>
                </a:solidFill>
                <a:latin typeface="Calibri"/>
              </a:rPr>
              <a:t>Personalized offers per segment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0" y="0"/>
            <a:ext cx="71628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2011680"/>
            <a:ext cx="3200400" cy="914400"/>
          </a:xfrm>
          <a:prstGeom prst="rect">
            <a:avLst/>
          </a:prstGeom>
          <a:noFill/>
        </p:spPr>
        <p:txBody>
          <a:bodyPr wrap="square" lIns="0" tIns="0" rIns="0" bIns="0">
            <a:spAutoFit/>
          </a:bodyPr>
          <a:lstStyle/>
          <a:p>
            <a:pPr algn="ctr"/>
            <a:r>
              <a:rPr sz="6400" b="1" i="0">
                <a:solidFill>
                  <a:srgbClr val="CADCFC"/>
                </a:solidFill>
                <a:latin typeface="Calibri"/>
              </a:rPr>
              <a:t>02</a:t>
            </a:r>
          </a:p>
        </p:txBody>
      </p:sp>
      <p:sp>
        <p:nvSpPr>
          <p:cNvPr id="5" name="TextBox 4"/>
          <p:cNvSpPr txBox="1"/>
          <p:nvPr/>
        </p:nvSpPr>
        <p:spPr>
          <a:xfrm>
            <a:off x="457200" y="3017520"/>
            <a:ext cx="4114800" cy="1828800"/>
          </a:xfrm>
          <a:prstGeom prst="rect">
            <a:avLst/>
          </a:prstGeom>
          <a:noFill/>
        </p:spPr>
        <p:txBody>
          <a:bodyPr wrap="square" lIns="0" tIns="0" rIns="0" bIns="0">
            <a:spAutoFit/>
          </a:bodyPr>
          <a:lstStyle/>
          <a:p>
            <a:pPr algn="l">
              <a:spcAft>
                <a:spcPts val="200"/>
              </a:spcAft>
            </a:pPr>
            <a:r>
              <a:rPr sz="3000" b="1" i="0">
                <a:solidFill>
                  <a:srgbClr val="FFFFFF"/>
                </a:solidFill>
                <a:latin typeface="Calibri"/>
              </a:rPr>
              <a:t>Data &amp;</a:t>
            </a:r>
          </a:p>
          <a:p>
            <a:pPr algn="l">
              <a:spcAft>
                <a:spcPts val="200"/>
              </a:spcAft>
            </a:pPr>
            <a:r>
              <a:rPr sz="3000" b="1" i="0">
                <a:solidFill>
                  <a:srgbClr val="FFFFFF"/>
                </a:solidFill>
                <a:latin typeface="Calibri"/>
              </a:rPr>
              <a:t>Exploratory</a:t>
            </a:r>
          </a:p>
          <a:p>
            <a:pPr algn="l">
              <a:spcAft>
                <a:spcPts val="200"/>
              </a:spcAft>
            </a:pPr>
            <a:r>
              <a:rPr sz="3000" b="1" i="0">
                <a:solidFill>
                  <a:srgbClr val="FFFFFF"/>
                </a:solidFill>
                <a:latin typeface="Calibri"/>
              </a:rPr>
              <a:t>Analysis</a:t>
            </a:r>
          </a:p>
        </p:txBody>
      </p:sp>
      <p:sp>
        <p:nvSpPr>
          <p:cNvPr id="6" name="TextBox 5"/>
          <p:cNvSpPr txBox="1"/>
          <p:nvPr/>
        </p:nvSpPr>
        <p:spPr>
          <a:xfrm>
            <a:off x="5486400" y="2560320"/>
            <a:ext cx="6400800" cy="1450000"/>
          </a:xfrm>
          <a:prstGeom prst="rect">
            <a:avLst/>
          </a:prstGeom>
          <a:noFill/>
        </p:spPr>
        <p:txBody>
          <a:bodyPr wrap="square" lIns="0" tIns="0" rIns="0" bIns="0">
            <a:spAutoFit/>
          </a:bodyPr>
          <a:lstStyle/>
          <a:p>
            <a:pPr algn="l">
              <a:spcAft>
                <a:spcPts val="1000"/>
              </a:spcAft>
            </a:pPr>
            <a:r>
              <a:rPr sz="1800" b="1" i="0">
                <a:solidFill>
                  <a:srgbClr val="1B2254"/>
                </a:solidFill>
                <a:latin typeface="Calibri"/>
              </a:rPr>
              <a:t>Dataset, Cleaning, Features &amp; RFM</a:t>
            </a:r>
          </a:p>
          <a:p>
            <a:pPr algn="l">
              <a:lnSpc>
                <a:spcPct val="115000"/>
              </a:lnSpc>
            </a:pPr>
            <a:r>
              <a:rPr sz="1300" b="0" i="0">
                <a:solidFill>
                  <a:srgbClr val="333333"/>
                </a:solidFill>
                <a:latin typeface="Calibri"/>
              </a:rPr>
              <a:t>Preparing 541K UK e-commerce transactions and engineering the Recency-Frequency-Monetary features that power segmentation.</a:t>
            </a:r>
          </a:p>
        </p:txBody>
      </p:sp>
      <p:sp>
        <p:nvSpPr>
          <p:cNvPr id="7" name="TextBox 6"/>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Dataset Snapshot &amp; Data Cleaning</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5600000" cy="320000"/>
          </a:xfrm>
          <a:prstGeom prst="rect">
            <a:avLst/>
          </a:prstGeom>
          <a:noFill/>
        </p:spPr>
        <p:txBody>
          <a:bodyPr wrap="square" lIns="0" tIns="0" rIns="0" bIns="0">
            <a:spAutoFit/>
          </a:bodyPr>
          <a:lstStyle/>
          <a:p>
            <a:pPr algn="l"/>
            <a:r>
              <a:rPr sz="1500" b="1" i="0">
                <a:solidFill>
                  <a:srgbClr val="1B2254"/>
                </a:solidFill>
                <a:latin typeface="Calibri"/>
              </a:rPr>
              <a:t>Dataset Snapshot</a:t>
            </a:r>
          </a:p>
        </p:txBody>
      </p:sp>
      <p:sp>
        <p:nvSpPr>
          <p:cNvPr id="8" name="Rectangle 7"/>
          <p:cNvSpPr/>
          <p:nvPr/>
        </p:nvSpPr>
        <p:spPr>
          <a:xfrm>
            <a:off x="365760" y="1420000"/>
            <a:ext cx="2700000" cy="1150000"/>
          </a:xfrm>
          <a:prstGeom prst="rect">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511440"/>
            <a:ext cx="2425680" cy="274320"/>
          </a:xfrm>
          <a:prstGeom prst="rect">
            <a:avLst/>
          </a:prstGeom>
          <a:noFill/>
        </p:spPr>
        <p:txBody>
          <a:bodyPr wrap="square" lIns="0" tIns="0" rIns="0" bIns="0">
            <a:spAutoFit/>
          </a:bodyPr>
          <a:lstStyle/>
          <a:p>
            <a:pPr algn="l"/>
            <a:r>
              <a:rPr sz="1050" b="0" i="0">
                <a:solidFill>
                  <a:srgbClr val="64748B"/>
                </a:solidFill>
                <a:latin typeface="Calibri"/>
              </a:rPr>
              <a:t>Raw Transactions</a:t>
            </a:r>
          </a:p>
        </p:txBody>
      </p:sp>
      <p:sp>
        <p:nvSpPr>
          <p:cNvPr id="10" name="TextBox 9"/>
          <p:cNvSpPr txBox="1"/>
          <p:nvPr/>
        </p:nvSpPr>
        <p:spPr>
          <a:xfrm>
            <a:off x="502920" y="1785760"/>
            <a:ext cx="2425680" cy="457200"/>
          </a:xfrm>
          <a:prstGeom prst="rect">
            <a:avLst/>
          </a:prstGeom>
          <a:noFill/>
        </p:spPr>
        <p:txBody>
          <a:bodyPr wrap="square" lIns="0" tIns="0" rIns="0" bIns="0">
            <a:spAutoFit/>
          </a:bodyPr>
          <a:lstStyle/>
          <a:p>
            <a:pPr algn="l"/>
            <a:r>
              <a:rPr sz="2400" b="1" i="0">
                <a:solidFill>
                  <a:srgbClr val="1B2254"/>
                </a:solidFill>
                <a:latin typeface="Calibri"/>
              </a:rPr>
              <a:t>541,909</a:t>
            </a:r>
          </a:p>
        </p:txBody>
      </p:sp>
      <p:sp>
        <p:nvSpPr>
          <p:cNvPr id="11" name="Rectangle 10"/>
          <p:cNvSpPr/>
          <p:nvPr/>
        </p:nvSpPr>
        <p:spPr>
          <a:xfrm>
            <a:off x="3225760" y="1420000"/>
            <a:ext cx="2700000" cy="1150000"/>
          </a:xfrm>
          <a:prstGeom prst="rect">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62920" y="1511440"/>
            <a:ext cx="2425680" cy="274320"/>
          </a:xfrm>
          <a:prstGeom prst="rect">
            <a:avLst/>
          </a:prstGeom>
          <a:noFill/>
        </p:spPr>
        <p:txBody>
          <a:bodyPr wrap="square" lIns="0" tIns="0" rIns="0" bIns="0">
            <a:spAutoFit/>
          </a:bodyPr>
          <a:lstStyle/>
          <a:p>
            <a:pPr algn="l"/>
            <a:r>
              <a:rPr sz="1050" b="0" i="0">
                <a:solidFill>
                  <a:srgbClr val="64748B"/>
                </a:solidFill>
                <a:latin typeface="Calibri"/>
              </a:rPr>
              <a:t>Unique Customers</a:t>
            </a:r>
          </a:p>
        </p:txBody>
      </p:sp>
      <p:sp>
        <p:nvSpPr>
          <p:cNvPr id="13" name="TextBox 12"/>
          <p:cNvSpPr txBox="1"/>
          <p:nvPr/>
        </p:nvSpPr>
        <p:spPr>
          <a:xfrm>
            <a:off x="3362920" y="1785760"/>
            <a:ext cx="2425680" cy="457200"/>
          </a:xfrm>
          <a:prstGeom prst="rect">
            <a:avLst/>
          </a:prstGeom>
          <a:noFill/>
        </p:spPr>
        <p:txBody>
          <a:bodyPr wrap="square" lIns="0" tIns="0" rIns="0" bIns="0">
            <a:spAutoFit/>
          </a:bodyPr>
          <a:lstStyle/>
          <a:p>
            <a:pPr algn="l"/>
            <a:r>
              <a:rPr sz="2400" b="1" i="0">
                <a:solidFill>
                  <a:srgbClr val="0296C7"/>
                </a:solidFill>
                <a:latin typeface="Calibri"/>
              </a:rPr>
              <a:t>4,338</a:t>
            </a:r>
          </a:p>
        </p:txBody>
      </p:sp>
      <p:sp>
        <p:nvSpPr>
          <p:cNvPr id="14" name="Rectangle 13"/>
          <p:cNvSpPr/>
          <p:nvPr/>
        </p:nvSpPr>
        <p:spPr>
          <a:xfrm>
            <a:off x="365760" y="2730000"/>
            <a:ext cx="2700000" cy="1150000"/>
          </a:xfrm>
          <a:prstGeom prst="rect">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821440"/>
            <a:ext cx="2425680" cy="274320"/>
          </a:xfrm>
          <a:prstGeom prst="rect">
            <a:avLst/>
          </a:prstGeom>
          <a:noFill/>
        </p:spPr>
        <p:txBody>
          <a:bodyPr wrap="square" lIns="0" tIns="0" rIns="0" bIns="0">
            <a:spAutoFit/>
          </a:bodyPr>
          <a:lstStyle/>
          <a:p>
            <a:pPr algn="l"/>
            <a:r>
              <a:rPr sz="1050" b="0" i="0">
                <a:solidFill>
                  <a:srgbClr val="64748B"/>
                </a:solidFill>
                <a:latin typeface="Calibri"/>
              </a:rPr>
              <a:t>Unique Products</a:t>
            </a:r>
          </a:p>
        </p:txBody>
      </p:sp>
      <p:sp>
        <p:nvSpPr>
          <p:cNvPr id="16" name="TextBox 15"/>
          <p:cNvSpPr txBox="1"/>
          <p:nvPr/>
        </p:nvSpPr>
        <p:spPr>
          <a:xfrm>
            <a:off x="502920" y="3095760"/>
            <a:ext cx="2425680" cy="457200"/>
          </a:xfrm>
          <a:prstGeom prst="rect">
            <a:avLst/>
          </a:prstGeom>
          <a:noFill/>
        </p:spPr>
        <p:txBody>
          <a:bodyPr wrap="square" lIns="0" tIns="0" rIns="0" bIns="0">
            <a:spAutoFit/>
          </a:bodyPr>
          <a:lstStyle/>
          <a:p>
            <a:pPr algn="l"/>
            <a:r>
              <a:rPr sz="2400" b="1" i="0">
                <a:solidFill>
                  <a:srgbClr val="F59E0B"/>
                </a:solidFill>
                <a:latin typeface="Calibri"/>
              </a:rPr>
              <a:t>3,665</a:t>
            </a:r>
          </a:p>
        </p:txBody>
      </p:sp>
      <p:sp>
        <p:nvSpPr>
          <p:cNvPr id="17" name="Rectangle 16"/>
          <p:cNvSpPr/>
          <p:nvPr/>
        </p:nvSpPr>
        <p:spPr>
          <a:xfrm>
            <a:off x="3225760" y="2730000"/>
            <a:ext cx="2700000" cy="1150000"/>
          </a:xfrm>
          <a:prstGeom prst="rect">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62920" y="2821440"/>
            <a:ext cx="2425680" cy="274320"/>
          </a:xfrm>
          <a:prstGeom prst="rect">
            <a:avLst/>
          </a:prstGeom>
          <a:noFill/>
        </p:spPr>
        <p:txBody>
          <a:bodyPr wrap="square" lIns="0" tIns="0" rIns="0" bIns="0">
            <a:spAutoFit/>
          </a:bodyPr>
          <a:lstStyle/>
          <a:p>
            <a:pPr algn="l"/>
            <a:r>
              <a:rPr sz="1050" b="0" i="0">
                <a:solidFill>
                  <a:srgbClr val="64748B"/>
                </a:solidFill>
                <a:latin typeface="Calibri"/>
              </a:rPr>
              <a:t>Countries</a:t>
            </a:r>
          </a:p>
        </p:txBody>
      </p:sp>
      <p:sp>
        <p:nvSpPr>
          <p:cNvPr id="19" name="TextBox 18"/>
          <p:cNvSpPr txBox="1"/>
          <p:nvPr/>
        </p:nvSpPr>
        <p:spPr>
          <a:xfrm>
            <a:off x="3362920" y="3095760"/>
            <a:ext cx="2425680" cy="457200"/>
          </a:xfrm>
          <a:prstGeom prst="rect">
            <a:avLst/>
          </a:prstGeom>
          <a:noFill/>
        </p:spPr>
        <p:txBody>
          <a:bodyPr wrap="square" lIns="0" tIns="0" rIns="0" bIns="0">
            <a:spAutoFit/>
          </a:bodyPr>
          <a:lstStyle/>
          <a:p>
            <a:pPr algn="l"/>
            <a:r>
              <a:rPr sz="2400" b="1" i="0">
                <a:solidFill>
                  <a:srgbClr val="1B2254"/>
                </a:solidFill>
                <a:latin typeface="Calibri"/>
              </a:rPr>
              <a:t>37</a:t>
            </a:r>
          </a:p>
        </p:txBody>
      </p:sp>
      <p:sp>
        <p:nvSpPr>
          <p:cNvPr id="20" name="TextBox 19"/>
          <p:cNvSpPr txBox="1"/>
          <p:nvPr/>
        </p:nvSpPr>
        <p:spPr>
          <a:xfrm>
            <a:off x="365760" y="4100000"/>
            <a:ext cx="5600000" cy="320000"/>
          </a:xfrm>
          <a:prstGeom prst="rect">
            <a:avLst/>
          </a:prstGeom>
          <a:noFill/>
        </p:spPr>
        <p:txBody>
          <a:bodyPr wrap="square" lIns="0" tIns="0" rIns="0" bIns="0">
            <a:spAutoFit/>
          </a:bodyPr>
          <a:lstStyle/>
          <a:p>
            <a:pPr algn="l"/>
            <a:r>
              <a:rPr sz="1100" b="0" i="0">
                <a:solidFill>
                  <a:srgbClr val="64748B"/>
                </a:solidFill>
                <a:latin typeface="Calibri"/>
              </a:rPr>
              <a:t>Period: Dec 2010 – Dec 2011  |  UK-based online retailer</a:t>
            </a:r>
          </a:p>
        </p:txBody>
      </p:sp>
      <p:sp>
        <p:nvSpPr>
          <p:cNvPr id="21" name="TextBox 20"/>
          <p:cNvSpPr txBox="1"/>
          <p:nvPr/>
        </p:nvSpPr>
        <p:spPr>
          <a:xfrm>
            <a:off x="365760" y="4450000"/>
            <a:ext cx="5600000" cy="320000"/>
          </a:xfrm>
          <a:prstGeom prst="rect">
            <a:avLst/>
          </a:prstGeom>
          <a:noFill/>
        </p:spPr>
        <p:txBody>
          <a:bodyPr wrap="square" lIns="0" tIns="0" rIns="0" bIns="0">
            <a:spAutoFit/>
          </a:bodyPr>
          <a:lstStyle/>
          <a:p>
            <a:pPr algn="l"/>
            <a:r>
              <a:rPr sz="1100" b="1" i="0">
                <a:solidFill>
                  <a:srgbClr val="1B2254"/>
                </a:solidFill>
                <a:latin typeface="Calibri"/>
              </a:rPr>
              <a:t>8 Fields:</a:t>
            </a:r>
          </a:p>
        </p:txBody>
      </p:sp>
      <p:sp>
        <p:nvSpPr>
          <p:cNvPr id="22" name="TextBox 21"/>
          <p:cNvSpPr txBox="1"/>
          <p:nvPr/>
        </p:nvSpPr>
        <p:spPr>
          <a:xfrm>
            <a:off x="365760" y="4750000"/>
            <a:ext cx="5600000" cy="700000"/>
          </a:xfrm>
          <a:prstGeom prst="rect">
            <a:avLst/>
          </a:prstGeom>
          <a:noFill/>
        </p:spPr>
        <p:txBody>
          <a:bodyPr wrap="square" lIns="0" tIns="0" rIns="0" bIns="0">
            <a:spAutoFit/>
          </a:bodyPr>
          <a:lstStyle/>
          <a:p>
            <a:pPr algn="l"/>
            <a:r>
              <a:rPr sz="1050" b="0" i="0">
                <a:solidFill>
                  <a:srgbClr val="64748B"/>
                </a:solidFill>
                <a:latin typeface="Calibri"/>
              </a:rPr>
              <a:t>InvoiceNo · StockCode · Description · Quantity · InvoiceDate · UnitPrice · CustomerID · Country</a:t>
            </a:r>
          </a:p>
        </p:txBody>
      </p:sp>
      <p:sp>
        <p:nvSpPr>
          <p:cNvPr id="23" name="TextBox 22"/>
          <p:cNvSpPr txBox="1"/>
          <p:nvPr/>
        </p:nvSpPr>
        <p:spPr>
          <a:xfrm>
            <a:off x="6400800" y="990600"/>
            <a:ext cx="5400000" cy="320000"/>
          </a:xfrm>
          <a:prstGeom prst="rect">
            <a:avLst/>
          </a:prstGeom>
          <a:noFill/>
        </p:spPr>
        <p:txBody>
          <a:bodyPr wrap="square" lIns="0" tIns="0" rIns="0" bIns="0">
            <a:spAutoFit/>
          </a:bodyPr>
          <a:lstStyle/>
          <a:p>
            <a:pPr algn="l"/>
            <a:r>
              <a:rPr sz="1500" b="1" i="0">
                <a:solidFill>
                  <a:srgbClr val="1B2254"/>
                </a:solidFill>
                <a:latin typeface="Calibri"/>
              </a:rPr>
              <a:t>Data Cleaning Steps</a:t>
            </a:r>
          </a:p>
        </p:txBody>
      </p:sp>
      <p:sp>
        <p:nvSpPr>
          <p:cNvPr id="24" name="Oval 23"/>
          <p:cNvSpPr/>
          <p:nvPr/>
        </p:nvSpPr>
        <p:spPr>
          <a:xfrm>
            <a:off x="6400800" y="1450000"/>
            <a:ext cx="130000" cy="13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00800" y="1420000"/>
            <a:ext cx="5100000" cy="480000"/>
          </a:xfrm>
          <a:prstGeom prst="rect">
            <a:avLst/>
          </a:prstGeom>
          <a:noFill/>
        </p:spPr>
        <p:txBody>
          <a:bodyPr wrap="square" lIns="0" tIns="0" rIns="0" bIns="0">
            <a:spAutoFit/>
          </a:bodyPr>
          <a:lstStyle/>
          <a:p>
            <a:pPr algn="l"/>
            <a:r>
              <a:rPr sz="1200" b="1" i="0">
                <a:solidFill>
                  <a:srgbClr val="1B2254"/>
                </a:solidFill>
                <a:latin typeface="Calibri"/>
              </a:rPr>
              <a:t>Converted InvoiceDate</a:t>
            </a:r>
          </a:p>
          <a:p>
            <a:pPr algn="l"/>
            <a:r>
              <a:rPr sz="1050" b="0" i="0">
                <a:solidFill>
                  <a:srgbClr val="64748B"/>
                </a:solidFill>
                <a:latin typeface="Calibri"/>
              </a:rPr>
              <a:t>to datetime format</a:t>
            </a:r>
          </a:p>
        </p:txBody>
      </p:sp>
      <p:sp>
        <p:nvSpPr>
          <p:cNvPr id="26" name="Oval 25"/>
          <p:cNvSpPr/>
          <p:nvPr/>
        </p:nvSpPr>
        <p:spPr>
          <a:xfrm>
            <a:off x="6400800" y="2010000"/>
            <a:ext cx="130000" cy="13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00800" y="1980000"/>
            <a:ext cx="5100000" cy="480000"/>
          </a:xfrm>
          <a:prstGeom prst="rect">
            <a:avLst/>
          </a:prstGeom>
          <a:noFill/>
        </p:spPr>
        <p:txBody>
          <a:bodyPr wrap="square" lIns="0" tIns="0" rIns="0" bIns="0">
            <a:spAutoFit/>
          </a:bodyPr>
          <a:lstStyle/>
          <a:p>
            <a:pPr algn="l"/>
            <a:r>
              <a:rPr sz="1200" b="1" i="0">
                <a:solidFill>
                  <a:srgbClr val="1B2254"/>
                </a:solidFill>
                <a:latin typeface="Calibri"/>
              </a:rPr>
              <a:t>Dropped null CustomerID rows</a:t>
            </a:r>
          </a:p>
          <a:p>
            <a:pPr algn="l"/>
            <a:r>
              <a:rPr sz="1050" b="0" i="0">
                <a:solidFill>
                  <a:srgbClr val="64748B"/>
                </a:solidFill>
                <a:latin typeface="Calibri"/>
              </a:rPr>
              <a:t>cannot link to a customer</a:t>
            </a:r>
          </a:p>
        </p:txBody>
      </p:sp>
      <p:sp>
        <p:nvSpPr>
          <p:cNvPr id="28" name="Oval 27"/>
          <p:cNvSpPr/>
          <p:nvPr/>
        </p:nvSpPr>
        <p:spPr>
          <a:xfrm>
            <a:off x="6400800" y="2570000"/>
            <a:ext cx="130000" cy="13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00800" y="2540000"/>
            <a:ext cx="5100000" cy="480000"/>
          </a:xfrm>
          <a:prstGeom prst="rect">
            <a:avLst/>
          </a:prstGeom>
          <a:noFill/>
        </p:spPr>
        <p:txBody>
          <a:bodyPr wrap="square" lIns="0" tIns="0" rIns="0" bIns="0">
            <a:spAutoFit/>
          </a:bodyPr>
          <a:lstStyle/>
          <a:p>
            <a:pPr algn="l"/>
            <a:r>
              <a:rPr sz="1200" b="1" i="0">
                <a:solidFill>
                  <a:srgbClr val="1B2254"/>
                </a:solidFill>
                <a:latin typeface="Calibri"/>
              </a:rPr>
              <a:t>Removed duplicates</a:t>
            </a:r>
          </a:p>
          <a:p>
            <a:pPr algn="l"/>
            <a:r>
              <a:rPr sz="1050" b="0" i="0">
                <a:solidFill>
                  <a:srgbClr val="64748B"/>
                </a:solidFill>
                <a:latin typeface="Calibri"/>
              </a:rPr>
              <a:t>reduced overall dataset size</a:t>
            </a:r>
          </a:p>
        </p:txBody>
      </p:sp>
      <p:sp>
        <p:nvSpPr>
          <p:cNvPr id="30" name="Oval 29"/>
          <p:cNvSpPr/>
          <p:nvPr/>
        </p:nvSpPr>
        <p:spPr>
          <a:xfrm>
            <a:off x="6400800" y="3130000"/>
            <a:ext cx="130000" cy="13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00800" y="3100000"/>
            <a:ext cx="5100000" cy="480000"/>
          </a:xfrm>
          <a:prstGeom prst="rect">
            <a:avLst/>
          </a:prstGeom>
          <a:noFill/>
        </p:spPr>
        <p:txBody>
          <a:bodyPr wrap="square" lIns="0" tIns="0" rIns="0" bIns="0">
            <a:spAutoFit/>
          </a:bodyPr>
          <a:lstStyle/>
          <a:p>
            <a:pPr algn="l"/>
            <a:r>
              <a:rPr sz="1200" b="1" i="0">
                <a:solidFill>
                  <a:srgbClr val="1B2254"/>
                </a:solidFill>
                <a:latin typeface="Calibri"/>
              </a:rPr>
              <a:t>Filtered UnitPrice ≤ 0</a:t>
            </a:r>
          </a:p>
          <a:p>
            <a:pPr algn="l"/>
            <a:r>
              <a:rPr sz="1050" b="0" i="0">
                <a:solidFill>
                  <a:srgbClr val="64748B"/>
                </a:solidFill>
                <a:latin typeface="Calibri"/>
              </a:rPr>
              <a:t>removed test / adjustment entries</a:t>
            </a:r>
          </a:p>
        </p:txBody>
      </p:sp>
      <p:sp>
        <p:nvSpPr>
          <p:cNvPr id="32" name="Rounded Rectangle 31"/>
          <p:cNvSpPr/>
          <p:nvPr/>
        </p:nvSpPr>
        <p:spPr>
          <a:xfrm>
            <a:off x="6400800" y="3720000"/>
            <a:ext cx="5100000" cy="90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80800" y="3810000"/>
            <a:ext cx="4800000" cy="300000"/>
          </a:xfrm>
          <a:prstGeom prst="rect">
            <a:avLst/>
          </a:prstGeom>
          <a:noFill/>
        </p:spPr>
        <p:txBody>
          <a:bodyPr wrap="square" lIns="0" tIns="0" rIns="0" bIns="0">
            <a:spAutoFit/>
          </a:bodyPr>
          <a:lstStyle/>
          <a:p>
            <a:pPr algn="l"/>
            <a:r>
              <a:rPr sz="1150" b="1" i="0">
                <a:solidFill>
                  <a:srgbClr val="1B2254"/>
                </a:solidFill>
                <a:latin typeface="Calibri"/>
              </a:rPr>
              <a:t>Split into two datasets:</a:t>
            </a:r>
          </a:p>
        </p:txBody>
      </p:sp>
      <p:sp>
        <p:nvSpPr>
          <p:cNvPr id="34" name="TextBox 33"/>
          <p:cNvSpPr txBox="1"/>
          <p:nvPr/>
        </p:nvSpPr>
        <p:spPr>
          <a:xfrm>
            <a:off x="6580800" y="4120000"/>
            <a:ext cx="4800000" cy="300000"/>
          </a:xfrm>
          <a:prstGeom prst="rect">
            <a:avLst/>
          </a:prstGeom>
          <a:noFill/>
        </p:spPr>
        <p:txBody>
          <a:bodyPr wrap="square" lIns="0" tIns="0" rIns="0" bIns="0">
            <a:spAutoFit/>
          </a:bodyPr>
          <a:lstStyle/>
          <a:p>
            <a:pPr algn="l"/>
            <a:r>
              <a:rPr sz="1050" b="0" i="0">
                <a:solidFill>
                  <a:srgbClr val="333333"/>
                </a:solidFill>
                <a:latin typeface="Calibri"/>
              </a:rPr>
              <a:t>Valid Purchases: 392,692 rows  ·  Returns/Cancellations: 8,872 rows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Feature Engineering &amp; RFM Framework</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5000000" cy="320000"/>
          </a:xfrm>
          <a:prstGeom prst="rect">
            <a:avLst/>
          </a:prstGeom>
          <a:noFill/>
        </p:spPr>
        <p:txBody>
          <a:bodyPr wrap="square" lIns="0" tIns="0" rIns="0" bIns="0">
            <a:spAutoFit/>
          </a:bodyPr>
          <a:lstStyle/>
          <a:p>
            <a:pPr algn="l"/>
            <a:r>
              <a:rPr sz="1500" b="1" i="0">
                <a:solidFill>
                  <a:srgbClr val="1B2254"/>
                </a:solidFill>
                <a:latin typeface="Calibri"/>
              </a:rPr>
              <a:t>Engineered Features</a:t>
            </a:r>
          </a:p>
        </p:txBody>
      </p:sp>
      <p:sp>
        <p:nvSpPr>
          <p:cNvPr id="8" name="Oval 7"/>
          <p:cNvSpPr/>
          <p:nvPr/>
        </p:nvSpPr>
        <p:spPr>
          <a:xfrm>
            <a:off x="325760" y="1380000"/>
            <a:ext cx="340000" cy="340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a:t>
            </a:r>
          </a:p>
        </p:txBody>
      </p:sp>
      <p:sp>
        <p:nvSpPr>
          <p:cNvPr id="9" name="TextBox 8"/>
          <p:cNvSpPr txBox="1"/>
          <p:nvPr/>
        </p:nvSpPr>
        <p:spPr>
          <a:xfrm>
            <a:off x="785760" y="1420000"/>
            <a:ext cx="5200000" cy="560000"/>
          </a:xfrm>
          <a:prstGeom prst="rect">
            <a:avLst/>
          </a:prstGeom>
          <a:noFill/>
        </p:spPr>
        <p:txBody>
          <a:bodyPr wrap="square" lIns="0" tIns="0" rIns="0" bIns="0">
            <a:spAutoFit/>
          </a:bodyPr>
          <a:lstStyle/>
          <a:p>
            <a:pPr algn="l"/>
            <a:r>
              <a:rPr sz="1250" b="1" i="0">
                <a:solidFill>
                  <a:srgbClr val="1B2254"/>
                </a:solidFill>
                <a:latin typeface="Calibri"/>
              </a:rPr>
              <a:t>Revenue</a:t>
            </a:r>
          </a:p>
          <a:p>
            <a:pPr algn="l"/>
            <a:r>
              <a:rPr sz="1050" b="0" i="0">
                <a:solidFill>
                  <a:srgbClr val="64748B"/>
                </a:solidFill>
                <a:latin typeface="Calibri"/>
              </a:rPr>
              <a:t>Quantity × UnitPrice — core monetary metric</a:t>
            </a:r>
          </a:p>
        </p:txBody>
      </p:sp>
      <p:sp>
        <p:nvSpPr>
          <p:cNvPr id="10" name="Oval 9"/>
          <p:cNvSpPr/>
          <p:nvPr/>
        </p:nvSpPr>
        <p:spPr>
          <a:xfrm>
            <a:off x="325760" y="2020000"/>
            <a:ext cx="340000" cy="340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a:t>
            </a:r>
          </a:p>
        </p:txBody>
      </p:sp>
      <p:sp>
        <p:nvSpPr>
          <p:cNvPr id="11" name="TextBox 10"/>
          <p:cNvSpPr txBox="1"/>
          <p:nvPr/>
        </p:nvSpPr>
        <p:spPr>
          <a:xfrm>
            <a:off x="785760" y="2060000"/>
            <a:ext cx="5200000" cy="560000"/>
          </a:xfrm>
          <a:prstGeom prst="rect">
            <a:avLst/>
          </a:prstGeom>
          <a:noFill/>
        </p:spPr>
        <p:txBody>
          <a:bodyPr wrap="square" lIns="0" tIns="0" rIns="0" bIns="0">
            <a:spAutoFit/>
          </a:bodyPr>
          <a:lstStyle/>
          <a:p>
            <a:pPr algn="l"/>
            <a:r>
              <a:rPr sz="1250" b="1" i="0">
                <a:solidFill>
                  <a:srgbClr val="1B2254"/>
                </a:solidFill>
                <a:latin typeface="Calibri"/>
              </a:rPr>
              <a:t>Month</a:t>
            </a:r>
          </a:p>
          <a:p>
            <a:pPr algn="l"/>
            <a:r>
              <a:rPr sz="1050" b="0" i="0">
                <a:solidFill>
                  <a:srgbClr val="64748B"/>
                </a:solidFill>
                <a:latin typeface="Calibri"/>
              </a:rPr>
              <a:t>InvoiceDate.to_period('M') for trend analysis</a:t>
            </a:r>
          </a:p>
        </p:txBody>
      </p:sp>
      <p:sp>
        <p:nvSpPr>
          <p:cNvPr id="12" name="Oval 11"/>
          <p:cNvSpPr/>
          <p:nvPr/>
        </p:nvSpPr>
        <p:spPr>
          <a:xfrm>
            <a:off x="325760" y="2660000"/>
            <a:ext cx="340000" cy="340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a:t>
            </a:r>
          </a:p>
        </p:txBody>
      </p:sp>
      <p:sp>
        <p:nvSpPr>
          <p:cNvPr id="13" name="TextBox 12"/>
          <p:cNvSpPr txBox="1"/>
          <p:nvPr/>
        </p:nvSpPr>
        <p:spPr>
          <a:xfrm>
            <a:off x="785760" y="2700000"/>
            <a:ext cx="5200000" cy="560000"/>
          </a:xfrm>
          <a:prstGeom prst="rect">
            <a:avLst/>
          </a:prstGeom>
          <a:noFill/>
        </p:spPr>
        <p:txBody>
          <a:bodyPr wrap="square" lIns="0" tIns="0" rIns="0" bIns="0">
            <a:spAutoFit/>
          </a:bodyPr>
          <a:lstStyle/>
          <a:p>
            <a:pPr algn="l"/>
            <a:r>
              <a:rPr sz="1250" b="1" i="0">
                <a:solidFill>
                  <a:srgbClr val="1B2254"/>
                </a:solidFill>
                <a:latin typeface="Calibri"/>
              </a:rPr>
              <a:t>RFM</a:t>
            </a:r>
          </a:p>
          <a:p>
            <a:pPr algn="l"/>
            <a:r>
              <a:rPr sz="1050" b="0" i="0">
                <a:solidFill>
                  <a:srgbClr val="64748B"/>
                </a:solidFill>
                <a:latin typeface="Calibri"/>
              </a:rPr>
              <a:t>Recency, Frequency, Monetary — core segmentation features</a:t>
            </a:r>
          </a:p>
        </p:txBody>
      </p:sp>
      <p:sp>
        <p:nvSpPr>
          <p:cNvPr id="14" name="Oval 13"/>
          <p:cNvSpPr/>
          <p:nvPr/>
        </p:nvSpPr>
        <p:spPr>
          <a:xfrm>
            <a:off x="325760" y="3300000"/>
            <a:ext cx="340000" cy="340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a:t>
            </a:r>
          </a:p>
        </p:txBody>
      </p:sp>
      <p:sp>
        <p:nvSpPr>
          <p:cNvPr id="15" name="TextBox 14"/>
          <p:cNvSpPr txBox="1"/>
          <p:nvPr/>
        </p:nvSpPr>
        <p:spPr>
          <a:xfrm>
            <a:off x="785760" y="3340000"/>
            <a:ext cx="5200000" cy="560000"/>
          </a:xfrm>
          <a:prstGeom prst="rect">
            <a:avLst/>
          </a:prstGeom>
          <a:noFill/>
        </p:spPr>
        <p:txBody>
          <a:bodyPr wrap="square" lIns="0" tIns="0" rIns="0" bIns="0">
            <a:spAutoFit/>
          </a:bodyPr>
          <a:lstStyle/>
          <a:p>
            <a:pPr algn="l"/>
            <a:r>
              <a:rPr sz="1250" b="1" i="0">
                <a:solidFill>
                  <a:srgbClr val="1B2254"/>
                </a:solidFill>
                <a:latin typeface="Calibri"/>
              </a:rPr>
              <a:t>Log1p + StandardScaler</a:t>
            </a:r>
          </a:p>
          <a:p>
            <a:pPr algn="l"/>
            <a:r>
              <a:rPr sz="1050" b="0" i="0">
                <a:solidFill>
                  <a:srgbClr val="64748B"/>
                </a:solidFill>
                <a:latin typeface="Calibri"/>
              </a:rPr>
              <a:t>de-skews &amp; normalizes RFM before clustering</a:t>
            </a:r>
          </a:p>
        </p:txBody>
      </p:sp>
      <p:sp>
        <p:nvSpPr>
          <p:cNvPr id="16" name="TextBox 15"/>
          <p:cNvSpPr txBox="1"/>
          <p:nvPr/>
        </p:nvSpPr>
        <p:spPr>
          <a:xfrm>
            <a:off x="6400800" y="990600"/>
            <a:ext cx="5400000" cy="320000"/>
          </a:xfrm>
          <a:prstGeom prst="rect">
            <a:avLst/>
          </a:prstGeom>
          <a:noFill/>
        </p:spPr>
        <p:txBody>
          <a:bodyPr wrap="square" lIns="0" tIns="0" rIns="0" bIns="0">
            <a:spAutoFit/>
          </a:bodyPr>
          <a:lstStyle/>
          <a:p>
            <a:pPr algn="l"/>
            <a:r>
              <a:rPr sz="1500" b="1" i="0">
                <a:solidFill>
                  <a:srgbClr val="1B2254"/>
                </a:solidFill>
                <a:latin typeface="Calibri"/>
              </a:rPr>
              <a:t>The RFM Framework</a:t>
            </a:r>
          </a:p>
        </p:txBody>
      </p:sp>
      <p:sp>
        <p:nvSpPr>
          <p:cNvPr id="17" name="Rounded Rectangle 16"/>
          <p:cNvSpPr/>
          <p:nvPr/>
        </p:nvSpPr>
        <p:spPr>
          <a:xfrm>
            <a:off x="6400800" y="1420000"/>
            <a:ext cx="1700000" cy="2450000"/>
          </a:xfrm>
          <a:prstGeom prst="roundRect">
            <a:avLst>
              <a:gd name="adj" fmla="val 6000"/>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20800" y="1520000"/>
            <a:ext cx="1500000" cy="500000"/>
          </a:xfrm>
          <a:prstGeom prst="rect">
            <a:avLst/>
          </a:prstGeom>
          <a:noFill/>
        </p:spPr>
        <p:txBody>
          <a:bodyPr wrap="square" lIns="0" tIns="0" rIns="0" bIns="0">
            <a:spAutoFit/>
          </a:bodyPr>
          <a:lstStyle/>
          <a:p>
            <a:pPr algn="l"/>
            <a:r>
              <a:rPr sz="3200" b="1" i="0">
                <a:solidFill>
                  <a:srgbClr val="FFFFFF"/>
                </a:solidFill>
                <a:latin typeface="Calibri"/>
              </a:rPr>
              <a:t>R</a:t>
            </a:r>
          </a:p>
        </p:txBody>
      </p:sp>
      <p:sp>
        <p:nvSpPr>
          <p:cNvPr id="19" name="TextBox 18"/>
          <p:cNvSpPr txBox="1"/>
          <p:nvPr/>
        </p:nvSpPr>
        <p:spPr>
          <a:xfrm>
            <a:off x="6520800" y="2060000"/>
            <a:ext cx="1500000" cy="340000"/>
          </a:xfrm>
          <a:prstGeom prst="rect">
            <a:avLst/>
          </a:prstGeom>
          <a:noFill/>
        </p:spPr>
        <p:txBody>
          <a:bodyPr wrap="square" lIns="0" tIns="0" rIns="0" bIns="0">
            <a:spAutoFit/>
          </a:bodyPr>
          <a:lstStyle/>
          <a:p>
            <a:pPr algn="l"/>
            <a:r>
              <a:rPr sz="1300" b="1" i="0">
                <a:solidFill>
                  <a:srgbClr val="FFFFFF"/>
                </a:solidFill>
                <a:latin typeface="Calibri"/>
              </a:rPr>
              <a:t>Recency</a:t>
            </a:r>
          </a:p>
        </p:txBody>
      </p:sp>
      <p:sp>
        <p:nvSpPr>
          <p:cNvPr id="20" name="TextBox 19"/>
          <p:cNvSpPr txBox="1"/>
          <p:nvPr/>
        </p:nvSpPr>
        <p:spPr>
          <a:xfrm>
            <a:off x="6520800" y="2470000"/>
            <a:ext cx="1480000" cy="1300000"/>
          </a:xfrm>
          <a:prstGeom prst="rect">
            <a:avLst/>
          </a:prstGeom>
          <a:noFill/>
        </p:spPr>
        <p:txBody>
          <a:bodyPr wrap="square" lIns="0" tIns="0" rIns="0" bIns="0">
            <a:spAutoFit/>
          </a:bodyPr>
          <a:lstStyle/>
          <a:p>
            <a:pPr algn="l">
              <a:lnSpc>
                <a:spcPct val="105000"/>
              </a:lnSpc>
              <a:spcAft>
                <a:spcPts val="600"/>
              </a:spcAft>
            </a:pPr>
            <a:r>
              <a:rPr sz="950" b="0" i="0">
                <a:solidFill>
                  <a:srgbClr val="FFFFFF"/>
                </a:solidFill>
                <a:latin typeface="Calibri"/>
              </a:rPr>
              <a:t>Days since last purchase</a:t>
            </a:r>
          </a:p>
          <a:p>
            <a:pPr algn="l">
              <a:lnSpc>
                <a:spcPct val="105000"/>
              </a:lnSpc>
            </a:pPr>
            <a:r>
              <a:rPr sz="950" b="1" i="0">
                <a:solidFill>
                  <a:srgbClr val="FFFFFF"/>
                </a:solidFill>
                <a:latin typeface="Calibri"/>
              </a:rPr>
              <a:t>Lower = better</a:t>
            </a:r>
          </a:p>
        </p:txBody>
      </p:sp>
      <p:sp>
        <p:nvSpPr>
          <p:cNvPr id="21" name="Rounded Rectangle 20"/>
          <p:cNvSpPr/>
          <p:nvPr/>
        </p:nvSpPr>
        <p:spPr>
          <a:xfrm>
            <a:off x="8250800" y="1420000"/>
            <a:ext cx="1700000" cy="2450000"/>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70800" y="1520000"/>
            <a:ext cx="1500000" cy="500000"/>
          </a:xfrm>
          <a:prstGeom prst="rect">
            <a:avLst/>
          </a:prstGeom>
          <a:noFill/>
        </p:spPr>
        <p:txBody>
          <a:bodyPr wrap="square" lIns="0" tIns="0" rIns="0" bIns="0">
            <a:spAutoFit/>
          </a:bodyPr>
          <a:lstStyle/>
          <a:p>
            <a:pPr algn="l"/>
            <a:r>
              <a:rPr sz="3200" b="1" i="0">
                <a:solidFill>
                  <a:srgbClr val="FFFFFF"/>
                </a:solidFill>
                <a:latin typeface="Calibri"/>
              </a:rPr>
              <a:t>F</a:t>
            </a:r>
          </a:p>
        </p:txBody>
      </p:sp>
      <p:sp>
        <p:nvSpPr>
          <p:cNvPr id="23" name="TextBox 22"/>
          <p:cNvSpPr txBox="1"/>
          <p:nvPr/>
        </p:nvSpPr>
        <p:spPr>
          <a:xfrm>
            <a:off x="8370800" y="2060000"/>
            <a:ext cx="1500000" cy="340000"/>
          </a:xfrm>
          <a:prstGeom prst="rect">
            <a:avLst/>
          </a:prstGeom>
          <a:noFill/>
        </p:spPr>
        <p:txBody>
          <a:bodyPr wrap="square" lIns="0" tIns="0" rIns="0" bIns="0">
            <a:spAutoFit/>
          </a:bodyPr>
          <a:lstStyle/>
          <a:p>
            <a:pPr algn="l"/>
            <a:r>
              <a:rPr sz="1300" b="1" i="0">
                <a:solidFill>
                  <a:srgbClr val="FFFFFF"/>
                </a:solidFill>
                <a:latin typeface="Calibri"/>
              </a:rPr>
              <a:t>Frequency</a:t>
            </a:r>
          </a:p>
        </p:txBody>
      </p:sp>
      <p:sp>
        <p:nvSpPr>
          <p:cNvPr id="24" name="TextBox 23"/>
          <p:cNvSpPr txBox="1"/>
          <p:nvPr/>
        </p:nvSpPr>
        <p:spPr>
          <a:xfrm>
            <a:off x="8370800" y="2470000"/>
            <a:ext cx="1480000" cy="1300000"/>
          </a:xfrm>
          <a:prstGeom prst="rect">
            <a:avLst/>
          </a:prstGeom>
          <a:noFill/>
        </p:spPr>
        <p:txBody>
          <a:bodyPr wrap="square" lIns="0" tIns="0" rIns="0" bIns="0">
            <a:spAutoFit/>
          </a:bodyPr>
          <a:lstStyle/>
          <a:p>
            <a:pPr algn="l">
              <a:lnSpc>
                <a:spcPct val="105000"/>
              </a:lnSpc>
              <a:spcAft>
                <a:spcPts val="600"/>
              </a:spcAft>
            </a:pPr>
            <a:r>
              <a:rPr sz="950" b="0" i="0">
                <a:solidFill>
                  <a:srgbClr val="FFFFFF"/>
                </a:solidFill>
                <a:latin typeface="Calibri"/>
              </a:rPr>
              <a:t>Number of unique invoices</a:t>
            </a:r>
          </a:p>
          <a:p>
            <a:pPr algn="l">
              <a:lnSpc>
                <a:spcPct val="105000"/>
              </a:lnSpc>
            </a:pPr>
            <a:r>
              <a:rPr sz="950" b="1" i="0">
                <a:solidFill>
                  <a:srgbClr val="FFFFFF"/>
                </a:solidFill>
                <a:latin typeface="Calibri"/>
              </a:rPr>
              <a:t>Higher = better</a:t>
            </a:r>
          </a:p>
        </p:txBody>
      </p:sp>
      <p:sp>
        <p:nvSpPr>
          <p:cNvPr id="25" name="Rounded Rectangle 24"/>
          <p:cNvSpPr/>
          <p:nvPr/>
        </p:nvSpPr>
        <p:spPr>
          <a:xfrm>
            <a:off x="10100800" y="1420000"/>
            <a:ext cx="1700000" cy="2450000"/>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20800" y="1520000"/>
            <a:ext cx="1500000" cy="500000"/>
          </a:xfrm>
          <a:prstGeom prst="rect">
            <a:avLst/>
          </a:prstGeom>
          <a:noFill/>
        </p:spPr>
        <p:txBody>
          <a:bodyPr wrap="square" lIns="0" tIns="0" rIns="0" bIns="0">
            <a:spAutoFit/>
          </a:bodyPr>
          <a:lstStyle/>
          <a:p>
            <a:pPr algn="l"/>
            <a:r>
              <a:rPr sz="3200" b="1" i="0">
                <a:solidFill>
                  <a:srgbClr val="FFFFFF"/>
                </a:solidFill>
                <a:latin typeface="Calibri"/>
              </a:rPr>
              <a:t>M</a:t>
            </a:r>
          </a:p>
        </p:txBody>
      </p:sp>
      <p:sp>
        <p:nvSpPr>
          <p:cNvPr id="27" name="TextBox 26"/>
          <p:cNvSpPr txBox="1"/>
          <p:nvPr/>
        </p:nvSpPr>
        <p:spPr>
          <a:xfrm>
            <a:off x="10220800" y="2060000"/>
            <a:ext cx="1500000" cy="340000"/>
          </a:xfrm>
          <a:prstGeom prst="rect">
            <a:avLst/>
          </a:prstGeom>
          <a:noFill/>
        </p:spPr>
        <p:txBody>
          <a:bodyPr wrap="square" lIns="0" tIns="0" rIns="0" bIns="0">
            <a:spAutoFit/>
          </a:bodyPr>
          <a:lstStyle/>
          <a:p>
            <a:pPr algn="l"/>
            <a:r>
              <a:rPr sz="1300" b="1" i="0">
                <a:solidFill>
                  <a:srgbClr val="FFFFFF"/>
                </a:solidFill>
                <a:latin typeface="Calibri"/>
              </a:rPr>
              <a:t>Monetary</a:t>
            </a:r>
          </a:p>
        </p:txBody>
      </p:sp>
      <p:sp>
        <p:nvSpPr>
          <p:cNvPr id="28" name="TextBox 27"/>
          <p:cNvSpPr txBox="1"/>
          <p:nvPr/>
        </p:nvSpPr>
        <p:spPr>
          <a:xfrm>
            <a:off x="10220800" y="2470000"/>
            <a:ext cx="1480000" cy="1300000"/>
          </a:xfrm>
          <a:prstGeom prst="rect">
            <a:avLst/>
          </a:prstGeom>
          <a:noFill/>
        </p:spPr>
        <p:txBody>
          <a:bodyPr wrap="square" lIns="0" tIns="0" rIns="0" bIns="0">
            <a:spAutoFit/>
          </a:bodyPr>
          <a:lstStyle/>
          <a:p>
            <a:pPr algn="l">
              <a:lnSpc>
                <a:spcPct val="105000"/>
              </a:lnSpc>
              <a:spcAft>
                <a:spcPts val="600"/>
              </a:spcAft>
            </a:pPr>
            <a:r>
              <a:rPr sz="950" b="0" i="0">
                <a:solidFill>
                  <a:srgbClr val="FFFFFF"/>
                </a:solidFill>
                <a:latin typeface="Calibri"/>
              </a:rPr>
              <a:t>Total revenue generated</a:t>
            </a:r>
          </a:p>
          <a:p>
            <a:pPr algn="l">
              <a:lnSpc>
                <a:spcPct val="105000"/>
              </a:lnSpc>
            </a:pPr>
            <a:r>
              <a:rPr sz="950" b="1" i="0">
                <a:solidFill>
                  <a:srgbClr val="FFFFFF"/>
                </a:solidFill>
                <a:latin typeface="Calibri"/>
              </a:rPr>
              <a:t>Higher = better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EDA Insights — Revenue Patterns</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5000000" cy="320000"/>
          </a:xfrm>
          <a:prstGeom prst="rect">
            <a:avLst/>
          </a:prstGeom>
          <a:noFill/>
        </p:spPr>
        <p:txBody>
          <a:bodyPr wrap="square" lIns="0" tIns="0" rIns="0" bIns="0">
            <a:spAutoFit/>
          </a:bodyPr>
          <a:lstStyle/>
          <a:p>
            <a:pPr algn="l"/>
            <a:r>
              <a:rPr sz="1500" b="1" i="0">
                <a:solidFill>
                  <a:srgbClr val="1B2254"/>
                </a:solidFill>
                <a:latin typeface="Calibri"/>
              </a:rPr>
              <a:t>Key Findings</a:t>
            </a:r>
          </a:p>
        </p:txBody>
      </p:sp>
      <p:sp>
        <p:nvSpPr>
          <p:cNvPr id="8" name="Rectangle 7"/>
          <p:cNvSpPr/>
          <p:nvPr/>
        </p:nvSpPr>
        <p:spPr>
          <a:xfrm>
            <a:off x="365760" y="1440000"/>
            <a:ext cx="55000" cy="5000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5760" y="1420000"/>
            <a:ext cx="5200000" cy="620000"/>
          </a:xfrm>
          <a:prstGeom prst="rect">
            <a:avLst/>
          </a:prstGeom>
          <a:noFill/>
        </p:spPr>
        <p:txBody>
          <a:bodyPr wrap="square" lIns="0" tIns="0" rIns="0" bIns="0">
            <a:spAutoFit/>
          </a:bodyPr>
          <a:lstStyle/>
          <a:p>
            <a:pPr algn="l">
              <a:spcAft>
                <a:spcPts val="200"/>
              </a:spcAft>
            </a:pPr>
            <a:r>
              <a:rPr sz="1200" b="1" i="0">
                <a:solidFill>
                  <a:srgbClr val="1B2254"/>
                </a:solidFill>
                <a:latin typeface="Calibri"/>
              </a:rPr>
              <a:t>Revenue is highly right-skewed</a:t>
            </a:r>
          </a:p>
          <a:p>
            <a:pPr algn="l"/>
            <a:r>
              <a:rPr sz="1050" b="0" i="0">
                <a:solidFill>
                  <a:srgbClr val="64748B"/>
                </a:solidFill>
                <a:latin typeface="Calibri"/>
              </a:rPr>
              <a:t>Most transactions are low-value; a few are very high</a:t>
            </a:r>
          </a:p>
        </p:txBody>
      </p:sp>
      <p:sp>
        <p:nvSpPr>
          <p:cNvPr id="10" name="Rectangle 9"/>
          <p:cNvSpPr/>
          <p:nvPr/>
        </p:nvSpPr>
        <p:spPr>
          <a:xfrm>
            <a:off x="365760" y="2140000"/>
            <a:ext cx="55000" cy="5000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5760" y="2120000"/>
            <a:ext cx="5200000" cy="620000"/>
          </a:xfrm>
          <a:prstGeom prst="rect">
            <a:avLst/>
          </a:prstGeom>
          <a:noFill/>
        </p:spPr>
        <p:txBody>
          <a:bodyPr wrap="square" lIns="0" tIns="0" rIns="0" bIns="0">
            <a:spAutoFit/>
          </a:bodyPr>
          <a:lstStyle/>
          <a:p>
            <a:pPr algn="l">
              <a:spcAft>
                <a:spcPts val="200"/>
              </a:spcAft>
            </a:pPr>
            <a:r>
              <a:rPr sz="1200" b="1" i="0">
                <a:solidFill>
                  <a:srgbClr val="1B2254"/>
                </a:solidFill>
                <a:latin typeface="Calibri"/>
              </a:rPr>
              <a:t>UK dominates revenue at 82%</a:t>
            </a:r>
          </a:p>
          <a:p>
            <a:pPr algn="l"/>
            <a:r>
              <a:rPr sz="1050" b="0" i="0">
                <a:solidFill>
                  <a:srgbClr val="64748B"/>
                </a:solidFill>
                <a:latin typeface="Calibri"/>
              </a:rPr>
              <a:t>£7.28M of £8.89M total revenue</a:t>
            </a:r>
          </a:p>
        </p:txBody>
      </p:sp>
      <p:sp>
        <p:nvSpPr>
          <p:cNvPr id="12" name="Rectangle 11"/>
          <p:cNvSpPr/>
          <p:nvPr/>
        </p:nvSpPr>
        <p:spPr>
          <a:xfrm>
            <a:off x="365760" y="2840000"/>
            <a:ext cx="55000" cy="5000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760" y="2820000"/>
            <a:ext cx="5200000" cy="620000"/>
          </a:xfrm>
          <a:prstGeom prst="rect">
            <a:avLst/>
          </a:prstGeom>
          <a:noFill/>
        </p:spPr>
        <p:txBody>
          <a:bodyPr wrap="square" lIns="0" tIns="0" rIns="0" bIns="0">
            <a:spAutoFit/>
          </a:bodyPr>
          <a:lstStyle/>
          <a:p>
            <a:pPr algn="l">
              <a:spcAft>
                <a:spcPts val="200"/>
              </a:spcAft>
            </a:pPr>
            <a:r>
              <a:rPr sz="1200" b="1" i="0">
                <a:solidFill>
                  <a:srgbClr val="1B2254"/>
                </a:solidFill>
                <a:latin typeface="Calibri"/>
              </a:rPr>
              <a:t>Seasonal peaks in Sep–Nov</a:t>
            </a:r>
          </a:p>
          <a:p>
            <a:pPr algn="l"/>
            <a:r>
              <a:rPr sz="1050" b="0" i="0">
                <a:solidFill>
                  <a:srgbClr val="64748B"/>
                </a:solidFill>
                <a:latin typeface="Calibri"/>
              </a:rPr>
              <a:t>Nov 2011 was the highest month at £1.16M</a:t>
            </a:r>
          </a:p>
        </p:txBody>
      </p:sp>
      <p:sp>
        <p:nvSpPr>
          <p:cNvPr id="14" name="Rectangle 13"/>
          <p:cNvSpPr/>
          <p:nvPr/>
        </p:nvSpPr>
        <p:spPr>
          <a:xfrm>
            <a:off x="365760" y="3540000"/>
            <a:ext cx="55000" cy="5000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760" y="3520000"/>
            <a:ext cx="5200000" cy="620000"/>
          </a:xfrm>
          <a:prstGeom prst="rect">
            <a:avLst/>
          </a:prstGeom>
          <a:noFill/>
        </p:spPr>
        <p:txBody>
          <a:bodyPr wrap="square" lIns="0" tIns="0" rIns="0" bIns="0">
            <a:spAutoFit/>
          </a:bodyPr>
          <a:lstStyle/>
          <a:p>
            <a:pPr algn="l">
              <a:spcAft>
                <a:spcPts val="200"/>
              </a:spcAft>
            </a:pPr>
            <a:r>
              <a:rPr sz="1200" b="1" i="0">
                <a:solidFill>
                  <a:srgbClr val="1B2254"/>
                </a:solidFill>
                <a:latin typeface="Calibri"/>
              </a:rPr>
              <a:t>Top 10 customers drive outsized revenue</a:t>
            </a:r>
          </a:p>
          <a:p>
            <a:pPr algn="l"/>
            <a:r>
              <a:rPr sz="1050" b="0" i="0">
                <a:solidFill>
                  <a:srgbClr val="64748B"/>
                </a:solidFill>
                <a:latin typeface="Calibri"/>
              </a:rPr>
              <a:t>A small cohort are VIP spenders</a:t>
            </a:r>
          </a:p>
        </p:txBody>
      </p:sp>
      <p:sp>
        <p:nvSpPr>
          <p:cNvPr id="17" name="Oval 16"/>
          <p:cNvSpPr/>
          <p:nvPr/>
        </p:nvSpPr>
        <p:spPr>
          <a:xfrm>
            <a:off x="8869516" y="16956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18" name="TextBox 17"/>
          <p:cNvSpPr txBox="1"/>
          <p:nvPr/>
        </p:nvSpPr>
        <p:spPr>
          <a:xfrm>
            <a:off x="6550800" y="2335600"/>
            <a:ext cx="5157432" cy="340000"/>
          </a:xfrm>
          <a:prstGeom prst="rect">
            <a:avLst/>
          </a:prstGeom>
          <a:noFill/>
        </p:spPr>
        <p:txBody>
          <a:bodyPr wrap="square" lIns="0" tIns="0" rIns="0" bIns="0">
            <a:spAutoFit/>
          </a:bodyPr>
          <a:lstStyle/>
          <a:p>
            <a:pPr algn="ctr"/>
            <a:r>
              <a:rPr sz="1250" b="1" i="0">
                <a:solidFill>
                  <a:srgbClr val="1B2254"/>
                </a:solidFill>
                <a:latin typeface="Calibri"/>
              </a:rPr>
              <a:t>Revenue Distribution</a:t>
            </a:r>
          </a:p>
        </p:txBody>
      </p:sp>
      <p:sp>
        <p:nvSpPr>
          <p:cNvPr id="19" name="TextBox 18"/>
          <p:cNvSpPr txBox="1"/>
          <p:nvPr/>
        </p:nvSpPr>
        <p:spPr>
          <a:xfrm>
            <a:off x="6550800" y="2635600"/>
            <a:ext cx="5157432" cy="300000"/>
          </a:xfrm>
          <a:prstGeom prst="rect">
            <a:avLst/>
          </a:prstGeom>
          <a:noFill/>
        </p:spPr>
        <p:txBody>
          <a:bodyPr wrap="square" lIns="0" tIns="0" rIns="0" bIns="0">
            <a:spAutoFit/>
          </a:bodyPr>
          <a:lstStyle/>
          <a:p>
            <a:pPr algn="ctr"/>
            <a:r>
              <a:rPr sz="950" b="0" i="1">
                <a:solidFill>
                  <a:srgbClr val="64748B"/>
                </a:solidFill>
                <a:latin typeface="Calibri"/>
              </a:rPr>
              <a:t>Insert histogram from EDA.ipynb</a:t>
            </a:r>
          </a:p>
        </p:txBody>
      </p:sp>
      <p:sp>
        <p:nvSpPr>
          <p:cNvPr id="21" name="Oval 20"/>
          <p:cNvSpPr/>
          <p:nvPr/>
        </p:nvSpPr>
        <p:spPr>
          <a:xfrm>
            <a:off x="8869516" y="43250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22" name="TextBox 21"/>
          <p:cNvSpPr txBox="1"/>
          <p:nvPr/>
        </p:nvSpPr>
        <p:spPr>
          <a:xfrm>
            <a:off x="6550800" y="4965000"/>
            <a:ext cx="5157432" cy="340000"/>
          </a:xfrm>
          <a:prstGeom prst="rect">
            <a:avLst/>
          </a:prstGeom>
          <a:noFill/>
        </p:spPr>
        <p:txBody>
          <a:bodyPr wrap="square" lIns="0" tIns="0" rIns="0" bIns="0">
            <a:spAutoFit/>
          </a:bodyPr>
          <a:lstStyle/>
          <a:p>
            <a:pPr algn="ctr"/>
            <a:r>
              <a:rPr sz="1250" b="1" i="0" dirty="0">
                <a:solidFill>
                  <a:srgbClr val="1B2254"/>
                </a:solidFill>
                <a:latin typeface="Calibri"/>
              </a:rPr>
              <a:t>Monthly Revenue Trend (£M)</a:t>
            </a:r>
          </a:p>
        </p:txBody>
      </p:sp>
      <p:sp>
        <p:nvSpPr>
          <p:cNvPr id="23" name="TextBox 22"/>
          <p:cNvSpPr txBox="1"/>
          <p:nvPr/>
        </p:nvSpPr>
        <p:spPr>
          <a:xfrm>
            <a:off x="6550800" y="5265000"/>
            <a:ext cx="5157432" cy="300000"/>
          </a:xfrm>
          <a:prstGeom prst="rect">
            <a:avLst/>
          </a:prstGeom>
          <a:noFill/>
        </p:spPr>
        <p:txBody>
          <a:bodyPr wrap="square" lIns="0" tIns="0" rIns="0" bIns="0">
            <a:spAutoFit/>
          </a:bodyPr>
          <a:lstStyle/>
          <a:p>
            <a:pPr algn="ctr"/>
            <a:r>
              <a:rPr sz="950" b="0" i="1">
                <a:solidFill>
                  <a:srgbClr val="64748B"/>
                </a:solidFill>
                <a:latin typeface="Calibri"/>
              </a:rPr>
              <a:t>Insert line chart from EDA.ipynb</a:t>
            </a:r>
          </a:p>
        </p:txBody>
      </p:sp>
      <p:pic>
        <p:nvPicPr>
          <p:cNvPr id="25" name="Picture 24">
            <a:extLst>
              <a:ext uri="{FF2B5EF4-FFF2-40B4-BE49-F238E27FC236}">
                <a16:creationId xmlns:a16="http://schemas.microsoft.com/office/drawing/2014/main" id="{46BE0270-208D-9DB7-5A90-83975A325BC3}"/>
              </a:ext>
            </a:extLst>
          </p:cNvPr>
          <p:cNvPicPr>
            <a:picLocks noChangeAspect="1"/>
          </p:cNvPicPr>
          <p:nvPr/>
        </p:nvPicPr>
        <p:blipFill>
          <a:blip r:embed="rId2"/>
          <a:stretch>
            <a:fillRect/>
          </a:stretch>
        </p:blipFill>
        <p:spPr>
          <a:xfrm>
            <a:off x="6587077" y="910037"/>
            <a:ext cx="4803606" cy="2589963"/>
          </a:xfrm>
          <a:prstGeom prst="rect">
            <a:avLst/>
          </a:prstGeom>
        </p:spPr>
      </p:pic>
      <p:pic>
        <p:nvPicPr>
          <p:cNvPr id="27" name="Picture 26">
            <a:extLst>
              <a:ext uri="{FF2B5EF4-FFF2-40B4-BE49-F238E27FC236}">
                <a16:creationId xmlns:a16="http://schemas.microsoft.com/office/drawing/2014/main" id="{67C5FB6F-B63C-C13A-C18F-985432B3BB9A}"/>
              </a:ext>
            </a:extLst>
          </p:cNvPr>
          <p:cNvPicPr>
            <a:picLocks noChangeAspect="1"/>
          </p:cNvPicPr>
          <p:nvPr/>
        </p:nvPicPr>
        <p:blipFill>
          <a:blip r:embed="rId3"/>
          <a:stretch>
            <a:fillRect/>
          </a:stretch>
        </p:blipFill>
        <p:spPr>
          <a:xfrm>
            <a:off x="7162800" y="3507759"/>
            <a:ext cx="4197678" cy="274149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RFM Distribution Summary</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11457432" cy="500000"/>
          </a:xfrm>
          <a:prstGeom prst="rect">
            <a:avLst/>
          </a:prstGeom>
          <a:noFill/>
        </p:spPr>
        <p:txBody>
          <a:bodyPr wrap="square" lIns="0" tIns="0" rIns="0" bIns="0">
            <a:spAutoFit/>
          </a:bodyPr>
          <a:lstStyle/>
          <a:p>
            <a:pPr algn="l"/>
            <a:r>
              <a:rPr sz="1250" b="0" i="0">
                <a:solidFill>
                  <a:srgbClr val="64748B"/>
                </a:solidFill>
                <a:latin typeface="Calibri"/>
              </a:rPr>
              <a:t>RFM scores each customer on Recency, Frequency &amp; Monetary dimensions to reveal high-value segments.</a:t>
            </a:r>
          </a:p>
        </p:txBody>
      </p:sp>
      <p:sp>
        <p:nvSpPr>
          <p:cNvPr id="8" name="TextBox 7"/>
          <p:cNvSpPr txBox="1"/>
          <p:nvPr/>
        </p:nvSpPr>
        <p:spPr>
          <a:xfrm>
            <a:off x="365760" y="1650000"/>
            <a:ext cx="5000000" cy="320000"/>
          </a:xfrm>
          <a:prstGeom prst="rect">
            <a:avLst/>
          </a:prstGeom>
          <a:noFill/>
        </p:spPr>
        <p:txBody>
          <a:bodyPr wrap="square" lIns="0" tIns="0" rIns="0" bIns="0">
            <a:spAutoFit/>
          </a:bodyPr>
          <a:lstStyle/>
          <a:p>
            <a:pPr algn="l"/>
            <a:r>
              <a:rPr sz="1500" b="1" i="0">
                <a:solidFill>
                  <a:srgbClr val="1B2254"/>
                </a:solidFill>
                <a:latin typeface="Calibri"/>
              </a:rPr>
              <a:t>Skewness Handling</a:t>
            </a:r>
          </a:p>
        </p:txBody>
      </p:sp>
      <p:sp>
        <p:nvSpPr>
          <p:cNvPr id="9" name="Rounded Rectangle 8"/>
          <p:cNvSpPr/>
          <p:nvPr/>
        </p:nvSpPr>
        <p:spPr>
          <a:xfrm>
            <a:off x="365760" y="2050000"/>
            <a:ext cx="5457432" cy="165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5760" y="2250000"/>
            <a:ext cx="5000000" cy="1250000"/>
          </a:xfrm>
          <a:prstGeom prst="rect">
            <a:avLst/>
          </a:prstGeom>
          <a:noFill/>
        </p:spPr>
        <p:txBody>
          <a:bodyPr wrap="square" lIns="0" tIns="0" rIns="0" bIns="0">
            <a:spAutoFit/>
          </a:bodyPr>
          <a:lstStyle/>
          <a:p>
            <a:pPr algn="l">
              <a:lnSpc>
                <a:spcPct val="115000"/>
              </a:lnSpc>
              <a:spcAft>
                <a:spcPts val="800"/>
              </a:spcAft>
            </a:pPr>
            <a:r>
              <a:rPr sz="1150" b="1" i="0">
                <a:solidFill>
                  <a:srgbClr val="1B2254"/>
                </a:solidFill>
                <a:latin typeface="Calibri"/>
              </a:rPr>
              <a:t>Frequency (skew: 12.07) and Monetary (skew: 19.34) </a:t>
            </a:r>
            <a:r>
              <a:rPr sz="1150" b="0" i="0">
                <a:solidFill>
                  <a:srgbClr val="333333"/>
                </a:solidFill>
                <a:latin typeface="Calibri"/>
              </a:rPr>
              <a:t>were highly right-skewed.</a:t>
            </a:r>
          </a:p>
          <a:p>
            <a:pPr algn="l">
              <a:lnSpc>
                <a:spcPct val="115000"/>
              </a:lnSpc>
            </a:pPr>
            <a:r>
              <a:rPr sz="1150" b="0" i="0">
                <a:solidFill>
                  <a:srgbClr val="333333"/>
                </a:solidFill>
                <a:latin typeface="Calibri"/>
              </a:rPr>
              <a:t>log1p transformation → skewness near zero → StandardScaler applied.</a:t>
            </a:r>
          </a:p>
        </p:txBody>
      </p:sp>
      <p:sp>
        <p:nvSpPr>
          <p:cNvPr id="11" name="TextBox 10"/>
          <p:cNvSpPr txBox="1"/>
          <p:nvPr/>
        </p:nvSpPr>
        <p:spPr>
          <a:xfrm>
            <a:off x="6400800" y="1650000"/>
            <a:ext cx="5400000" cy="320000"/>
          </a:xfrm>
          <a:prstGeom prst="rect">
            <a:avLst/>
          </a:prstGeom>
          <a:noFill/>
        </p:spPr>
        <p:txBody>
          <a:bodyPr wrap="square" lIns="0" tIns="0" rIns="0" bIns="0">
            <a:spAutoFit/>
          </a:bodyPr>
          <a:lstStyle/>
          <a:p>
            <a:pPr algn="l"/>
            <a:r>
              <a:rPr sz="1500" b="1" i="0">
                <a:solidFill>
                  <a:srgbClr val="1B2254"/>
                </a:solidFill>
                <a:latin typeface="Calibri"/>
              </a:rPr>
              <a:t>RFM Distribution Table</a:t>
            </a:r>
          </a:p>
        </p:txBody>
      </p:sp>
      <p:graphicFrame>
        <p:nvGraphicFramePr>
          <p:cNvPr id="12" name="Table 11"/>
          <p:cNvGraphicFramePr>
            <a:graphicFrameLocks noGrp="1"/>
          </p:cNvGraphicFramePr>
          <p:nvPr/>
        </p:nvGraphicFramePr>
        <p:xfrm>
          <a:off x="6400800" y="2050000"/>
          <a:ext cx="5457432" cy="1650000"/>
        </p:xfrm>
        <a:graphic>
          <a:graphicData uri="http://schemas.openxmlformats.org/drawingml/2006/table">
            <a:tbl>
              <a:tblPr firstRow="1" bandRow="1">
                <a:tableStyleId>{5C22544A-7EE6-4342-B048-85BDC9FD1C3A}</a:tableStyleId>
              </a:tblPr>
              <a:tblGrid>
                <a:gridCol w="1364358">
                  <a:extLst>
                    <a:ext uri="{9D8B030D-6E8A-4147-A177-3AD203B41FA5}">
                      <a16:colId xmlns:a16="http://schemas.microsoft.com/office/drawing/2014/main" val="20000"/>
                    </a:ext>
                  </a:extLst>
                </a:gridCol>
                <a:gridCol w="1364358">
                  <a:extLst>
                    <a:ext uri="{9D8B030D-6E8A-4147-A177-3AD203B41FA5}">
                      <a16:colId xmlns:a16="http://schemas.microsoft.com/office/drawing/2014/main" val="20001"/>
                    </a:ext>
                  </a:extLst>
                </a:gridCol>
                <a:gridCol w="1364358">
                  <a:extLst>
                    <a:ext uri="{9D8B030D-6E8A-4147-A177-3AD203B41FA5}">
                      <a16:colId xmlns:a16="http://schemas.microsoft.com/office/drawing/2014/main" val="20002"/>
                    </a:ext>
                  </a:extLst>
                </a:gridCol>
                <a:gridCol w="1364358">
                  <a:extLst>
                    <a:ext uri="{9D8B030D-6E8A-4147-A177-3AD203B41FA5}">
                      <a16:colId xmlns:a16="http://schemas.microsoft.com/office/drawing/2014/main" val="20003"/>
                    </a:ext>
                  </a:extLst>
                </a:gridCol>
              </a:tblGrid>
              <a:tr h="412500">
                <a:tc>
                  <a:txBody>
                    <a:bodyPr/>
                    <a:lstStyle/>
                    <a:p>
                      <a:pPr algn="l"/>
                      <a:r>
                        <a:rPr sz="1100" b="1">
                          <a:solidFill>
                            <a:srgbClr val="FFFFFF"/>
                          </a:solidFill>
                          <a:latin typeface="Calibri"/>
                        </a:rPr>
                        <a:t>Metric</a:t>
                      </a:r>
                    </a:p>
                  </a:txBody>
                  <a:tcPr>
                    <a:solidFill>
                      <a:srgbClr val="1B2254"/>
                    </a:solidFill>
                  </a:tcPr>
                </a:tc>
                <a:tc>
                  <a:txBody>
                    <a:bodyPr/>
                    <a:lstStyle/>
                    <a:p>
                      <a:pPr algn="l"/>
                      <a:r>
                        <a:rPr sz="1100" b="1">
                          <a:solidFill>
                            <a:srgbClr val="FFFFFF"/>
                          </a:solidFill>
                          <a:latin typeface="Calibri"/>
                        </a:rPr>
                        <a:t>Mean</a:t>
                      </a:r>
                    </a:p>
                  </a:txBody>
                  <a:tcPr>
                    <a:solidFill>
                      <a:srgbClr val="1B2254"/>
                    </a:solidFill>
                  </a:tcPr>
                </a:tc>
                <a:tc>
                  <a:txBody>
                    <a:bodyPr/>
                    <a:lstStyle/>
                    <a:p>
                      <a:pPr algn="l"/>
                      <a:r>
                        <a:rPr sz="1100" b="1">
                          <a:solidFill>
                            <a:srgbClr val="FFFFFF"/>
                          </a:solidFill>
                          <a:latin typeface="Calibri"/>
                        </a:rPr>
                        <a:t>Min</a:t>
                      </a:r>
                    </a:p>
                  </a:txBody>
                  <a:tcPr>
                    <a:solidFill>
                      <a:srgbClr val="1B2254"/>
                    </a:solidFill>
                  </a:tcPr>
                </a:tc>
                <a:tc>
                  <a:txBody>
                    <a:bodyPr/>
                    <a:lstStyle/>
                    <a:p>
                      <a:pPr algn="l"/>
                      <a:r>
                        <a:rPr sz="1100" b="1">
                          <a:solidFill>
                            <a:srgbClr val="FFFFFF"/>
                          </a:solidFill>
                          <a:latin typeface="Calibri"/>
                        </a:rPr>
                        <a:t>Max</a:t>
                      </a:r>
                    </a:p>
                  </a:txBody>
                  <a:tcPr>
                    <a:solidFill>
                      <a:srgbClr val="1B2254"/>
                    </a:solidFill>
                  </a:tcPr>
                </a:tc>
                <a:extLst>
                  <a:ext uri="{0D108BD9-81ED-4DB2-BD59-A6C34878D82A}">
                    <a16:rowId xmlns:a16="http://schemas.microsoft.com/office/drawing/2014/main" val="10000"/>
                  </a:ext>
                </a:extLst>
              </a:tr>
              <a:tr h="412500">
                <a:tc>
                  <a:txBody>
                    <a:bodyPr/>
                    <a:lstStyle/>
                    <a:p>
                      <a:pPr algn="l"/>
                      <a:r>
                        <a:rPr sz="1100" b="1">
                          <a:solidFill>
                            <a:srgbClr val="333333"/>
                          </a:solidFill>
                          <a:latin typeface="Calibri"/>
                        </a:rPr>
                        <a:t>Recency (days)</a:t>
                      </a:r>
                    </a:p>
                  </a:txBody>
                  <a:tcPr marT="36576" marB="36576">
                    <a:solidFill>
                      <a:srgbClr val="FFFFFF"/>
                    </a:solidFill>
                  </a:tcPr>
                </a:tc>
                <a:tc>
                  <a:txBody>
                    <a:bodyPr/>
                    <a:lstStyle/>
                    <a:p>
                      <a:pPr algn="l"/>
                      <a:r>
                        <a:rPr sz="1100" b="0">
                          <a:solidFill>
                            <a:srgbClr val="333333"/>
                          </a:solidFill>
                          <a:latin typeface="Calibri"/>
                        </a:rPr>
                        <a:t>92.5</a:t>
                      </a:r>
                    </a:p>
                  </a:txBody>
                  <a:tcPr marT="36576" marB="36576">
                    <a:solidFill>
                      <a:srgbClr val="FFFFFF"/>
                    </a:solidFill>
                  </a:tcPr>
                </a:tc>
                <a:tc>
                  <a:txBody>
                    <a:bodyPr/>
                    <a:lstStyle/>
                    <a:p>
                      <a:pPr algn="l"/>
                      <a:r>
                        <a:rPr sz="1100" b="0">
                          <a:solidFill>
                            <a:srgbClr val="333333"/>
                          </a:solidFill>
                          <a:latin typeface="Calibri"/>
                        </a:rPr>
                        <a:t>1</a:t>
                      </a:r>
                    </a:p>
                  </a:txBody>
                  <a:tcPr marT="36576" marB="36576">
                    <a:solidFill>
                      <a:srgbClr val="FFFFFF"/>
                    </a:solidFill>
                  </a:tcPr>
                </a:tc>
                <a:tc>
                  <a:txBody>
                    <a:bodyPr/>
                    <a:lstStyle/>
                    <a:p>
                      <a:pPr algn="l"/>
                      <a:r>
                        <a:rPr sz="1100" b="0">
                          <a:solidFill>
                            <a:srgbClr val="333333"/>
                          </a:solidFill>
                          <a:latin typeface="Calibri"/>
                        </a:rPr>
                        <a:t>374</a:t>
                      </a:r>
                    </a:p>
                  </a:txBody>
                  <a:tcPr marT="36576" marB="36576">
                    <a:solidFill>
                      <a:srgbClr val="FFFFFF"/>
                    </a:solidFill>
                  </a:tcPr>
                </a:tc>
                <a:extLst>
                  <a:ext uri="{0D108BD9-81ED-4DB2-BD59-A6C34878D82A}">
                    <a16:rowId xmlns:a16="http://schemas.microsoft.com/office/drawing/2014/main" val="10001"/>
                  </a:ext>
                </a:extLst>
              </a:tr>
              <a:tr h="412500">
                <a:tc>
                  <a:txBody>
                    <a:bodyPr/>
                    <a:lstStyle/>
                    <a:p>
                      <a:pPr algn="l"/>
                      <a:r>
                        <a:rPr sz="1100" b="1">
                          <a:solidFill>
                            <a:srgbClr val="333333"/>
                          </a:solidFill>
                          <a:latin typeface="Calibri"/>
                        </a:rPr>
                        <a:t>Frequency</a:t>
                      </a:r>
                    </a:p>
                  </a:txBody>
                  <a:tcPr marT="36576" marB="36576">
                    <a:solidFill>
                      <a:srgbClr val="F2F2F2"/>
                    </a:solidFill>
                  </a:tcPr>
                </a:tc>
                <a:tc>
                  <a:txBody>
                    <a:bodyPr/>
                    <a:lstStyle/>
                    <a:p>
                      <a:pPr algn="l"/>
                      <a:r>
                        <a:rPr sz="1100" b="0">
                          <a:solidFill>
                            <a:srgbClr val="333333"/>
                          </a:solidFill>
                          <a:latin typeface="Calibri"/>
                        </a:rPr>
                        <a:t>4.3</a:t>
                      </a:r>
                    </a:p>
                  </a:txBody>
                  <a:tcPr marT="36576" marB="36576">
                    <a:solidFill>
                      <a:srgbClr val="F2F2F2"/>
                    </a:solidFill>
                  </a:tcPr>
                </a:tc>
                <a:tc>
                  <a:txBody>
                    <a:bodyPr/>
                    <a:lstStyle/>
                    <a:p>
                      <a:pPr algn="l"/>
                      <a:r>
                        <a:rPr sz="1100" b="0">
                          <a:solidFill>
                            <a:srgbClr val="333333"/>
                          </a:solidFill>
                          <a:latin typeface="Calibri"/>
                        </a:rPr>
                        <a:t>1</a:t>
                      </a:r>
                    </a:p>
                  </a:txBody>
                  <a:tcPr marT="36576" marB="36576">
                    <a:solidFill>
                      <a:srgbClr val="F2F2F2"/>
                    </a:solidFill>
                  </a:tcPr>
                </a:tc>
                <a:tc>
                  <a:txBody>
                    <a:bodyPr/>
                    <a:lstStyle/>
                    <a:p>
                      <a:pPr algn="l"/>
                      <a:r>
                        <a:rPr sz="1100" b="0">
                          <a:solidFill>
                            <a:srgbClr val="333333"/>
                          </a:solidFill>
                          <a:latin typeface="Calibri"/>
                        </a:rPr>
                        <a:t>209</a:t>
                      </a:r>
                    </a:p>
                  </a:txBody>
                  <a:tcPr marT="36576" marB="36576">
                    <a:solidFill>
                      <a:srgbClr val="F2F2F2"/>
                    </a:solidFill>
                  </a:tcPr>
                </a:tc>
                <a:extLst>
                  <a:ext uri="{0D108BD9-81ED-4DB2-BD59-A6C34878D82A}">
                    <a16:rowId xmlns:a16="http://schemas.microsoft.com/office/drawing/2014/main" val="10002"/>
                  </a:ext>
                </a:extLst>
              </a:tr>
              <a:tr h="412500">
                <a:tc>
                  <a:txBody>
                    <a:bodyPr/>
                    <a:lstStyle/>
                    <a:p>
                      <a:pPr algn="l"/>
                      <a:r>
                        <a:rPr sz="1100" b="1">
                          <a:solidFill>
                            <a:srgbClr val="333333"/>
                          </a:solidFill>
                          <a:latin typeface="Calibri"/>
                        </a:rPr>
                        <a:t>Monetary (£)</a:t>
                      </a:r>
                    </a:p>
                  </a:txBody>
                  <a:tcPr marT="36576" marB="36576">
                    <a:solidFill>
                      <a:srgbClr val="FFFFFF"/>
                    </a:solidFill>
                  </a:tcPr>
                </a:tc>
                <a:tc>
                  <a:txBody>
                    <a:bodyPr/>
                    <a:lstStyle/>
                    <a:p>
                      <a:pPr algn="l"/>
                      <a:r>
                        <a:rPr sz="1100" b="0">
                          <a:solidFill>
                            <a:srgbClr val="333333"/>
                          </a:solidFill>
                          <a:latin typeface="Calibri"/>
                        </a:rPr>
                        <a:t>£2,049</a:t>
                      </a:r>
                    </a:p>
                  </a:txBody>
                  <a:tcPr marT="36576" marB="36576">
                    <a:solidFill>
                      <a:srgbClr val="FFFFFF"/>
                    </a:solidFill>
                  </a:tcPr>
                </a:tc>
                <a:tc>
                  <a:txBody>
                    <a:bodyPr/>
                    <a:lstStyle/>
                    <a:p>
                      <a:pPr algn="l"/>
                      <a:r>
                        <a:rPr sz="1100" b="0">
                          <a:solidFill>
                            <a:srgbClr val="333333"/>
                          </a:solidFill>
                          <a:latin typeface="Calibri"/>
                        </a:rPr>
                        <a:t>£3.75</a:t>
                      </a:r>
                    </a:p>
                  </a:txBody>
                  <a:tcPr marT="36576" marB="36576">
                    <a:solidFill>
                      <a:srgbClr val="FFFFFF"/>
                    </a:solidFill>
                  </a:tcPr>
                </a:tc>
                <a:tc>
                  <a:txBody>
                    <a:bodyPr/>
                    <a:lstStyle/>
                    <a:p>
                      <a:pPr algn="l"/>
                      <a:r>
                        <a:rPr sz="1100" b="0">
                          <a:solidFill>
                            <a:srgbClr val="333333"/>
                          </a:solidFill>
                          <a:latin typeface="Calibri"/>
                        </a:rPr>
                        <a:t>£280,206</a:t>
                      </a:r>
                    </a:p>
                  </a:txBody>
                  <a:tcPr marT="36576" marB="36576">
                    <a:solidFill>
                      <a:srgbClr val="FFFFFF"/>
                    </a:solidFill>
                  </a:tcPr>
                </a:tc>
                <a:extLst>
                  <a:ext uri="{0D108BD9-81ED-4DB2-BD59-A6C34878D82A}">
                    <a16:rowId xmlns:a16="http://schemas.microsoft.com/office/drawing/2014/main" val="10003"/>
                  </a:ext>
                </a:extLst>
              </a:tr>
            </a:tbl>
          </a:graphicData>
        </a:graphic>
      </p:graphicFrame>
      <p:sp>
        <p:nvSpPr>
          <p:cNvPr id="13" name="Rounded Rectangle 12"/>
          <p:cNvSpPr/>
          <p:nvPr/>
        </p:nvSpPr>
        <p:spPr>
          <a:xfrm>
            <a:off x="6400800" y="3850000"/>
            <a:ext cx="5457432" cy="900000"/>
          </a:xfrm>
          <a:prstGeom prst="roundRect">
            <a:avLst>
              <a:gd name="adj" fmla="val 600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0800" y="3970000"/>
            <a:ext cx="5100000" cy="300000"/>
          </a:xfrm>
          <a:prstGeom prst="rect">
            <a:avLst/>
          </a:prstGeom>
          <a:noFill/>
        </p:spPr>
        <p:txBody>
          <a:bodyPr wrap="square" lIns="0" tIns="0" rIns="0" bIns="0">
            <a:spAutoFit/>
          </a:bodyPr>
          <a:lstStyle/>
          <a:p>
            <a:pPr algn="l"/>
            <a:r>
              <a:rPr sz="1150" b="1" i="0">
                <a:solidFill>
                  <a:srgbClr val="1B2254"/>
                </a:solidFill>
                <a:latin typeface="Calibri"/>
              </a:rPr>
              <a:t>High-Value Customers (VIP + Loyal)</a:t>
            </a:r>
          </a:p>
        </p:txBody>
      </p:sp>
      <p:sp>
        <p:nvSpPr>
          <p:cNvPr id="15" name="TextBox 14"/>
          <p:cNvSpPr txBox="1"/>
          <p:nvPr/>
        </p:nvSpPr>
        <p:spPr>
          <a:xfrm>
            <a:off x="6580800" y="4280000"/>
            <a:ext cx="5100000" cy="300000"/>
          </a:xfrm>
          <a:prstGeom prst="rect">
            <a:avLst/>
          </a:prstGeom>
          <a:noFill/>
        </p:spPr>
        <p:txBody>
          <a:bodyPr wrap="square" lIns="0" tIns="0" rIns="0" bIns="0">
            <a:spAutoFit/>
          </a:bodyPr>
          <a:lstStyle/>
          <a:p>
            <a:pPr algn="l"/>
            <a:r>
              <a:rPr sz="1100" b="0" i="0">
                <a:solidFill>
                  <a:srgbClr val="10B981"/>
                </a:solidFill>
                <a:latin typeface="Calibri"/>
              </a:rPr>
              <a:t>1,879 customers · 43.3% of total customer base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0" y="0"/>
            <a:ext cx="71628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2011680"/>
            <a:ext cx="3200400" cy="914400"/>
          </a:xfrm>
          <a:prstGeom prst="rect">
            <a:avLst/>
          </a:prstGeom>
          <a:noFill/>
        </p:spPr>
        <p:txBody>
          <a:bodyPr wrap="square" lIns="0" tIns="0" rIns="0" bIns="0">
            <a:spAutoFit/>
          </a:bodyPr>
          <a:lstStyle/>
          <a:p>
            <a:pPr algn="ctr"/>
            <a:r>
              <a:rPr sz="6400" b="1" i="0">
                <a:solidFill>
                  <a:srgbClr val="CADCFC"/>
                </a:solidFill>
                <a:latin typeface="Calibri"/>
              </a:rPr>
              <a:t>03</a:t>
            </a:r>
          </a:p>
        </p:txBody>
      </p:sp>
      <p:sp>
        <p:nvSpPr>
          <p:cNvPr id="5" name="TextBox 4"/>
          <p:cNvSpPr txBox="1"/>
          <p:nvPr/>
        </p:nvSpPr>
        <p:spPr>
          <a:xfrm>
            <a:off x="457200" y="3017520"/>
            <a:ext cx="4114800" cy="1828800"/>
          </a:xfrm>
          <a:prstGeom prst="rect">
            <a:avLst/>
          </a:prstGeom>
          <a:noFill/>
        </p:spPr>
        <p:txBody>
          <a:bodyPr wrap="square" lIns="0" tIns="0" rIns="0" bIns="0">
            <a:spAutoFit/>
          </a:bodyPr>
          <a:lstStyle/>
          <a:p>
            <a:pPr algn="l">
              <a:spcAft>
                <a:spcPts val="200"/>
              </a:spcAft>
            </a:pPr>
            <a:r>
              <a:rPr sz="3000" b="1" i="0">
                <a:solidFill>
                  <a:srgbClr val="FFFFFF"/>
                </a:solidFill>
                <a:latin typeface="Calibri"/>
              </a:rPr>
              <a:t>Customer</a:t>
            </a:r>
          </a:p>
          <a:p>
            <a:pPr algn="l">
              <a:spcAft>
                <a:spcPts val="200"/>
              </a:spcAft>
            </a:pPr>
            <a:r>
              <a:rPr sz="3000" b="1" i="0">
                <a:solidFill>
                  <a:srgbClr val="FFFFFF"/>
                </a:solidFill>
                <a:latin typeface="Calibri"/>
              </a:rPr>
              <a:t>Segmentation</a:t>
            </a:r>
          </a:p>
        </p:txBody>
      </p:sp>
      <p:sp>
        <p:nvSpPr>
          <p:cNvPr id="6" name="TextBox 5"/>
          <p:cNvSpPr txBox="1"/>
          <p:nvPr/>
        </p:nvSpPr>
        <p:spPr>
          <a:xfrm>
            <a:off x="5486400" y="2560320"/>
            <a:ext cx="6400800" cy="1450000"/>
          </a:xfrm>
          <a:prstGeom prst="rect">
            <a:avLst/>
          </a:prstGeom>
          <a:noFill/>
        </p:spPr>
        <p:txBody>
          <a:bodyPr wrap="square" lIns="0" tIns="0" rIns="0" bIns="0">
            <a:spAutoFit/>
          </a:bodyPr>
          <a:lstStyle/>
          <a:p>
            <a:pPr algn="l">
              <a:spcAft>
                <a:spcPts val="1000"/>
              </a:spcAft>
            </a:pPr>
            <a:r>
              <a:rPr sz="1800" b="1" i="0">
                <a:solidFill>
                  <a:srgbClr val="1B2254"/>
                </a:solidFill>
                <a:latin typeface="Calibri"/>
              </a:rPr>
              <a:t>K-Means · Hierarchical · DBSCAN</a:t>
            </a:r>
          </a:p>
          <a:p>
            <a:pPr algn="l">
              <a:lnSpc>
                <a:spcPct val="115000"/>
              </a:lnSpc>
            </a:pPr>
            <a:r>
              <a:rPr sz="1300" b="0" i="0">
                <a:solidFill>
                  <a:srgbClr val="333333"/>
                </a:solidFill>
                <a:latin typeface="Calibri"/>
              </a:rPr>
              <a:t>Comparing three clustering algorithms on scaled RFM features to find the most useful, business-interpretable customer segments.</a:t>
            </a:r>
          </a:p>
        </p:txBody>
      </p:sp>
      <p:sp>
        <p:nvSpPr>
          <p:cNvPr id="7" name="TextBox 6"/>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K-Means Clustering — Optimal K Selection</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8" name="Oval 7"/>
          <p:cNvSpPr/>
          <p:nvPr/>
        </p:nvSpPr>
        <p:spPr>
          <a:xfrm>
            <a:off x="2834476" y="16456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9" name="TextBox 8"/>
          <p:cNvSpPr txBox="1"/>
          <p:nvPr/>
        </p:nvSpPr>
        <p:spPr>
          <a:xfrm>
            <a:off x="515760" y="2285600"/>
            <a:ext cx="5157432" cy="340000"/>
          </a:xfrm>
          <a:prstGeom prst="rect">
            <a:avLst/>
          </a:prstGeom>
          <a:noFill/>
        </p:spPr>
        <p:txBody>
          <a:bodyPr wrap="square" lIns="0" tIns="0" rIns="0" bIns="0">
            <a:spAutoFit/>
          </a:bodyPr>
          <a:lstStyle/>
          <a:p>
            <a:pPr algn="ctr"/>
            <a:r>
              <a:rPr sz="1250" b="1" i="0" dirty="0">
                <a:solidFill>
                  <a:srgbClr val="1B2254"/>
                </a:solidFill>
                <a:latin typeface="Calibri"/>
              </a:rPr>
              <a:t>Elbow Curve (WCSS vs K)</a:t>
            </a:r>
          </a:p>
        </p:txBody>
      </p:sp>
      <p:sp>
        <p:nvSpPr>
          <p:cNvPr id="10" name="TextBox 9"/>
          <p:cNvSpPr txBox="1"/>
          <p:nvPr/>
        </p:nvSpPr>
        <p:spPr>
          <a:xfrm>
            <a:off x="515760" y="2585600"/>
            <a:ext cx="5157432" cy="300000"/>
          </a:xfrm>
          <a:prstGeom prst="rect">
            <a:avLst/>
          </a:prstGeom>
          <a:noFill/>
        </p:spPr>
        <p:txBody>
          <a:bodyPr wrap="square" lIns="0" tIns="0" rIns="0" bIns="0">
            <a:spAutoFit/>
          </a:bodyPr>
          <a:lstStyle/>
          <a:p>
            <a:pPr algn="ctr"/>
            <a:r>
              <a:rPr sz="950" b="0" i="1">
                <a:solidFill>
                  <a:srgbClr val="64748B"/>
                </a:solidFill>
                <a:latin typeface="Calibri"/>
              </a:rPr>
              <a:t>Insert elbow plot from CustomerSegmentation_Prediction.ipynb</a:t>
            </a:r>
          </a:p>
        </p:txBody>
      </p:sp>
      <p:sp>
        <p:nvSpPr>
          <p:cNvPr id="11" name="Rounded Rectangle 10"/>
          <p:cNvSpPr/>
          <p:nvPr/>
        </p:nvSpPr>
        <p:spPr>
          <a:xfrm>
            <a:off x="730037" y="4922840"/>
            <a:ext cx="5457432" cy="950000"/>
          </a:xfrm>
          <a:prstGeom prst="roundRect">
            <a:avLst>
              <a:gd name="adj" fmla="val 600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476" y="5052609"/>
            <a:ext cx="5100000" cy="700000"/>
          </a:xfrm>
          <a:prstGeom prst="rect">
            <a:avLst/>
          </a:prstGeom>
          <a:noFill/>
        </p:spPr>
        <p:txBody>
          <a:bodyPr wrap="square" lIns="0" tIns="0" rIns="0" bIns="0" anchor="ctr">
            <a:spAutoFit/>
          </a:bodyPr>
          <a:lstStyle/>
          <a:p>
            <a:pPr algn="l"/>
            <a:r>
              <a:rPr sz="1250" b="1" i="0" dirty="0">
                <a:solidFill>
                  <a:srgbClr val="10B981"/>
                </a:solidFill>
                <a:latin typeface="Calibri"/>
              </a:rPr>
              <a:t>WCSS gain flattens after K=4 → Optimal K = 4</a:t>
            </a:r>
          </a:p>
        </p:txBody>
      </p:sp>
      <p:sp>
        <p:nvSpPr>
          <p:cNvPr id="13" name="TextBox 12"/>
          <p:cNvSpPr txBox="1"/>
          <p:nvPr/>
        </p:nvSpPr>
        <p:spPr>
          <a:xfrm>
            <a:off x="6400800" y="990600"/>
            <a:ext cx="5400000" cy="320000"/>
          </a:xfrm>
          <a:prstGeom prst="rect">
            <a:avLst/>
          </a:prstGeom>
          <a:noFill/>
        </p:spPr>
        <p:txBody>
          <a:bodyPr wrap="square" lIns="0" tIns="0" rIns="0" bIns="0">
            <a:spAutoFit/>
          </a:bodyPr>
          <a:lstStyle/>
          <a:p>
            <a:pPr algn="l"/>
            <a:r>
              <a:rPr sz="1350" b="1" i="0">
                <a:solidFill>
                  <a:srgbClr val="1B2254"/>
                </a:solidFill>
                <a:latin typeface="Calibri"/>
              </a:rPr>
              <a:t>Silhouette Scores (K = 2 to 6)</a:t>
            </a:r>
          </a:p>
        </p:txBody>
      </p:sp>
      <p:sp>
        <p:nvSpPr>
          <p:cNvPr id="14" name="Rectangle 13"/>
          <p:cNvSpPr/>
          <p:nvPr/>
        </p:nvSpPr>
        <p:spPr>
          <a:xfrm>
            <a:off x="6400800" y="1420000"/>
            <a:ext cx="900000" cy="34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460000"/>
            <a:ext cx="900000" cy="260000"/>
          </a:xfrm>
          <a:prstGeom prst="rect">
            <a:avLst/>
          </a:prstGeom>
          <a:noFill/>
        </p:spPr>
        <p:txBody>
          <a:bodyPr wrap="square" lIns="0" tIns="0" rIns="0" bIns="0">
            <a:spAutoFit/>
          </a:bodyPr>
          <a:lstStyle/>
          <a:p>
            <a:pPr algn="ctr"/>
            <a:r>
              <a:rPr sz="1050" b="1" i="0">
                <a:solidFill>
                  <a:srgbClr val="1B2254"/>
                </a:solidFill>
                <a:latin typeface="Calibri"/>
              </a:rPr>
              <a:t>K=2</a:t>
            </a:r>
          </a:p>
        </p:txBody>
      </p:sp>
      <p:sp>
        <p:nvSpPr>
          <p:cNvPr id="16" name="Rectangle 15"/>
          <p:cNvSpPr/>
          <p:nvPr/>
        </p:nvSpPr>
        <p:spPr>
          <a:xfrm>
            <a:off x="7420800" y="1420000"/>
            <a:ext cx="3600000" cy="340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100800" y="1460000"/>
            <a:ext cx="500000" cy="260000"/>
          </a:xfrm>
          <a:prstGeom prst="rect">
            <a:avLst/>
          </a:prstGeom>
          <a:noFill/>
        </p:spPr>
        <p:txBody>
          <a:bodyPr wrap="square" lIns="0" tIns="0" rIns="0" bIns="0">
            <a:spAutoFit/>
          </a:bodyPr>
          <a:lstStyle/>
          <a:p>
            <a:pPr algn="l"/>
            <a:r>
              <a:rPr sz="1050" b="1" i="0">
                <a:solidFill>
                  <a:srgbClr val="1B2254"/>
                </a:solidFill>
                <a:latin typeface="Calibri"/>
              </a:rPr>
              <a:t>0.4328</a:t>
            </a:r>
          </a:p>
        </p:txBody>
      </p:sp>
      <p:sp>
        <p:nvSpPr>
          <p:cNvPr id="18" name="Rectangle 17"/>
          <p:cNvSpPr/>
          <p:nvPr/>
        </p:nvSpPr>
        <p:spPr>
          <a:xfrm>
            <a:off x="6400800" y="1840000"/>
            <a:ext cx="900000" cy="34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1880000"/>
            <a:ext cx="900000" cy="260000"/>
          </a:xfrm>
          <a:prstGeom prst="rect">
            <a:avLst/>
          </a:prstGeom>
          <a:noFill/>
        </p:spPr>
        <p:txBody>
          <a:bodyPr wrap="square" lIns="0" tIns="0" rIns="0" bIns="0">
            <a:spAutoFit/>
          </a:bodyPr>
          <a:lstStyle/>
          <a:p>
            <a:pPr algn="ctr"/>
            <a:r>
              <a:rPr sz="1050" b="1" i="0">
                <a:solidFill>
                  <a:srgbClr val="1B2254"/>
                </a:solidFill>
                <a:latin typeface="Calibri"/>
              </a:rPr>
              <a:t>K=3</a:t>
            </a:r>
          </a:p>
        </p:txBody>
      </p:sp>
      <p:sp>
        <p:nvSpPr>
          <p:cNvPr id="20" name="Rectangle 19"/>
          <p:cNvSpPr/>
          <p:nvPr/>
        </p:nvSpPr>
        <p:spPr>
          <a:xfrm>
            <a:off x="7420800" y="1840000"/>
            <a:ext cx="3120055" cy="3400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620855" y="1880000"/>
            <a:ext cx="500000" cy="260000"/>
          </a:xfrm>
          <a:prstGeom prst="rect">
            <a:avLst/>
          </a:prstGeom>
          <a:noFill/>
        </p:spPr>
        <p:txBody>
          <a:bodyPr wrap="square" lIns="0" tIns="0" rIns="0" bIns="0">
            <a:spAutoFit/>
          </a:bodyPr>
          <a:lstStyle/>
          <a:p>
            <a:pPr algn="l"/>
            <a:r>
              <a:rPr sz="1050" b="1" i="0">
                <a:solidFill>
                  <a:srgbClr val="1B2254"/>
                </a:solidFill>
                <a:latin typeface="Calibri"/>
              </a:rPr>
              <a:t>0.3751</a:t>
            </a:r>
          </a:p>
        </p:txBody>
      </p:sp>
      <p:sp>
        <p:nvSpPr>
          <p:cNvPr id="22" name="Rectangle 21"/>
          <p:cNvSpPr/>
          <p:nvPr/>
        </p:nvSpPr>
        <p:spPr>
          <a:xfrm>
            <a:off x="6400800" y="2260000"/>
            <a:ext cx="900000" cy="34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2300000"/>
            <a:ext cx="900000" cy="260000"/>
          </a:xfrm>
          <a:prstGeom prst="rect">
            <a:avLst/>
          </a:prstGeom>
          <a:noFill/>
        </p:spPr>
        <p:txBody>
          <a:bodyPr wrap="square" lIns="0" tIns="0" rIns="0" bIns="0">
            <a:spAutoFit/>
          </a:bodyPr>
          <a:lstStyle/>
          <a:p>
            <a:pPr algn="ctr"/>
            <a:r>
              <a:rPr sz="1050" b="1" i="0">
                <a:solidFill>
                  <a:srgbClr val="1B2254"/>
                </a:solidFill>
                <a:latin typeface="Calibri"/>
              </a:rPr>
              <a:t>K=4</a:t>
            </a:r>
          </a:p>
        </p:txBody>
      </p:sp>
      <p:sp>
        <p:nvSpPr>
          <p:cNvPr id="24" name="Rectangle 23"/>
          <p:cNvSpPr/>
          <p:nvPr/>
        </p:nvSpPr>
        <p:spPr>
          <a:xfrm>
            <a:off x="7420800" y="2260000"/>
            <a:ext cx="2914602" cy="3400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415402" y="2300000"/>
            <a:ext cx="500000" cy="260000"/>
          </a:xfrm>
          <a:prstGeom prst="rect">
            <a:avLst/>
          </a:prstGeom>
          <a:noFill/>
        </p:spPr>
        <p:txBody>
          <a:bodyPr wrap="square" lIns="0" tIns="0" rIns="0" bIns="0">
            <a:spAutoFit/>
          </a:bodyPr>
          <a:lstStyle/>
          <a:p>
            <a:pPr algn="l"/>
            <a:r>
              <a:rPr sz="1050" b="1" i="0">
                <a:solidFill>
                  <a:srgbClr val="1B2254"/>
                </a:solidFill>
                <a:latin typeface="Calibri"/>
              </a:rPr>
              <a:t>0.3504</a:t>
            </a:r>
          </a:p>
        </p:txBody>
      </p:sp>
      <p:sp>
        <p:nvSpPr>
          <p:cNvPr id="26" name="Rectangle 25"/>
          <p:cNvSpPr/>
          <p:nvPr/>
        </p:nvSpPr>
        <p:spPr>
          <a:xfrm>
            <a:off x="6400800" y="2680000"/>
            <a:ext cx="900000" cy="34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0" y="2720000"/>
            <a:ext cx="900000" cy="260000"/>
          </a:xfrm>
          <a:prstGeom prst="rect">
            <a:avLst/>
          </a:prstGeom>
          <a:noFill/>
        </p:spPr>
        <p:txBody>
          <a:bodyPr wrap="square" lIns="0" tIns="0" rIns="0" bIns="0">
            <a:spAutoFit/>
          </a:bodyPr>
          <a:lstStyle/>
          <a:p>
            <a:pPr algn="ctr"/>
            <a:r>
              <a:rPr sz="1050" b="1" i="0">
                <a:solidFill>
                  <a:srgbClr val="1B2254"/>
                </a:solidFill>
                <a:latin typeface="Calibri"/>
              </a:rPr>
              <a:t>K=5</a:t>
            </a:r>
          </a:p>
        </p:txBody>
      </p:sp>
      <p:sp>
        <p:nvSpPr>
          <p:cNvPr id="28" name="Rectangle 27"/>
          <p:cNvSpPr/>
          <p:nvPr/>
        </p:nvSpPr>
        <p:spPr>
          <a:xfrm>
            <a:off x="7420800" y="2680000"/>
            <a:ext cx="2735767" cy="3400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36567" y="2720000"/>
            <a:ext cx="500000" cy="260000"/>
          </a:xfrm>
          <a:prstGeom prst="rect">
            <a:avLst/>
          </a:prstGeom>
          <a:noFill/>
        </p:spPr>
        <p:txBody>
          <a:bodyPr wrap="square" lIns="0" tIns="0" rIns="0" bIns="0">
            <a:spAutoFit/>
          </a:bodyPr>
          <a:lstStyle/>
          <a:p>
            <a:pPr algn="l"/>
            <a:r>
              <a:rPr sz="1050" b="1" i="0">
                <a:solidFill>
                  <a:srgbClr val="1B2254"/>
                </a:solidFill>
                <a:latin typeface="Calibri"/>
              </a:rPr>
              <a:t>0.3289</a:t>
            </a:r>
          </a:p>
        </p:txBody>
      </p:sp>
      <p:sp>
        <p:nvSpPr>
          <p:cNvPr id="30" name="Rectangle 29"/>
          <p:cNvSpPr/>
          <p:nvPr/>
        </p:nvSpPr>
        <p:spPr>
          <a:xfrm>
            <a:off x="6400800" y="3100000"/>
            <a:ext cx="900000" cy="34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140000"/>
            <a:ext cx="900000" cy="260000"/>
          </a:xfrm>
          <a:prstGeom prst="rect">
            <a:avLst/>
          </a:prstGeom>
          <a:noFill/>
        </p:spPr>
        <p:txBody>
          <a:bodyPr wrap="square" lIns="0" tIns="0" rIns="0" bIns="0">
            <a:spAutoFit/>
          </a:bodyPr>
          <a:lstStyle/>
          <a:p>
            <a:pPr algn="ctr"/>
            <a:r>
              <a:rPr sz="1050" b="1" i="0">
                <a:solidFill>
                  <a:srgbClr val="1B2254"/>
                </a:solidFill>
                <a:latin typeface="Calibri"/>
              </a:rPr>
              <a:t>K=6</a:t>
            </a:r>
          </a:p>
        </p:txBody>
      </p:sp>
      <p:sp>
        <p:nvSpPr>
          <p:cNvPr id="32" name="Rectangle 31"/>
          <p:cNvSpPr/>
          <p:nvPr/>
        </p:nvSpPr>
        <p:spPr>
          <a:xfrm>
            <a:off x="7420800" y="3100000"/>
            <a:ext cx="2580221" cy="340000"/>
          </a:xfrm>
          <a:prstGeom prst="rect">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81021" y="3140000"/>
            <a:ext cx="500000" cy="260000"/>
          </a:xfrm>
          <a:prstGeom prst="rect">
            <a:avLst/>
          </a:prstGeom>
          <a:noFill/>
        </p:spPr>
        <p:txBody>
          <a:bodyPr wrap="square" lIns="0" tIns="0" rIns="0" bIns="0">
            <a:spAutoFit/>
          </a:bodyPr>
          <a:lstStyle/>
          <a:p>
            <a:pPr algn="l"/>
            <a:r>
              <a:rPr sz="1050" b="1" i="0">
                <a:solidFill>
                  <a:srgbClr val="1B2254"/>
                </a:solidFill>
                <a:latin typeface="Calibri"/>
              </a:rPr>
              <a:t>0.3102</a:t>
            </a:r>
          </a:p>
        </p:txBody>
      </p:sp>
      <p:sp>
        <p:nvSpPr>
          <p:cNvPr id="34" name="Rounded Rectangle 33"/>
          <p:cNvSpPr/>
          <p:nvPr/>
        </p:nvSpPr>
        <p:spPr>
          <a:xfrm>
            <a:off x="6400800" y="3620000"/>
            <a:ext cx="5457432" cy="900000"/>
          </a:xfrm>
          <a:prstGeom prst="roundRect">
            <a:avLst>
              <a:gd name="adj" fmla="val 6000"/>
            </a:avLst>
          </a:prstGeom>
          <a:solidFill>
            <a:srgbClr val="FFF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0800" y="3720000"/>
            <a:ext cx="5100000" cy="700000"/>
          </a:xfrm>
          <a:prstGeom prst="rect">
            <a:avLst/>
          </a:prstGeom>
          <a:noFill/>
        </p:spPr>
        <p:txBody>
          <a:bodyPr wrap="square" lIns="0" tIns="0" rIns="0" bIns="0">
            <a:spAutoFit/>
          </a:bodyPr>
          <a:lstStyle/>
          <a:p>
            <a:pPr algn="l"/>
            <a:r>
              <a:rPr sz="1050" b="0" i="0">
                <a:solidFill>
                  <a:srgbClr val="333333"/>
                </a:solidFill>
                <a:latin typeface="Calibri"/>
              </a:rPr>
              <a:t>K=2 scores highest, but K=4 was chosen for business interpretability: 4 actionable segments (VIP, Loyal, At Risk, New).</a:t>
            </a:r>
          </a:p>
        </p:txBody>
      </p:sp>
      <p:pic>
        <p:nvPicPr>
          <p:cNvPr id="37" name="Picture 36">
            <a:extLst>
              <a:ext uri="{FF2B5EF4-FFF2-40B4-BE49-F238E27FC236}">
                <a16:creationId xmlns:a16="http://schemas.microsoft.com/office/drawing/2014/main" id="{5CE0C157-716B-7DAA-C3EF-054C31163BC4}"/>
              </a:ext>
            </a:extLst>
          </p:cNvPr>
          <p:cNvPicPr>
            <a:picLocks noChangeAspect="1"/>
          </p:cNvPicPr>
          <p:nvPr/>
        </p:nvPicPr>
        <p:blipFill>
          <a:blip r:embed="rId2"/>
          <a:stretch>
            <a:fillRect/>
          </a:stretch>
        </p:blipFill>
        <p:spPr>
          <a:xfrm>
            <a:off x="591200" y="1058630"/>
            <a:ext cx="5566793" cy="36539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Hierarchical Clustering &amp; DBSCAN</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5457432" cy="320000"/>
          </a:xfrm>
          <a:prstGeom prst="rect">
            <a:avLst/>
          </a:prstGeom>
          <a:noFill/>
        </p:spPr>
        <p:txBody>
          <a:bodyPr wrap="square" lIns="0" tIns="0" rIns="0" bIns="0">
            <a:spAutoFit/>
          </a:bodyPr>
          <a:lstStyle/>
          <a:p>
            <a:pPr algn="l"/>
            <a:r>
              <a:rPr sz="1350" b="1" i="0">
                <a:solidFill>
                  <a:srgbClr val="1B2254"/>
                </a:solidFill>
                <a:latin typeface="Calibri"/>
              </a:rPr>
              <a:t>Hierarchical (Agglomerative, Ward linkage)</a:t>
            </a:r>
          </a:p>
        </p:txBody>
      </p:sp>
      <p:sp>
        <p:nvSpPr>
          <p:cNvPr id="9" name="Oval 8"/>
          <p:cNvSpPr/>
          <p:nvPr/>
        </p:nvSpPr>
        <p:spPr>
          <a:xfrm>
            <a:off x="2834476" y="20250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10" name="TextBox 9"/>
          <p:cNvSpPr txBox="1"/>
          <p:nvPr/>
        </p:nvSpPr>
        <p:spPr>
          <a:xfrm>
            <a:off x="515760" y="2665000"/>
            <a:ext cx="5157432" cy="340000"/>
          </a:xfrm>
          <a:prstGeom prst="rect">
            <a:avLst/>
          </a:prstGeom>
          <a:noFill/>
        </p:spPr>
        <p:txBody>
          <a:bodyPr wrap="square" lIns="0" tIns="0" rIns="0" bIns="0">
            <a:spAutoFit/>
          </a:bodyPr>
          <a:lstStyle/>
          <a:p>
            <a:pPr algn="ctr"/>
            <a:r>
              <a:rPr sz="1250" b="1" i="0">
                <a:solidFill>
                  <a:srgbClr val="1B2254"/>
                </a:solidFill>
                <a:latin typeface="Calibri"/>
              </a:rPr>
              <a:t>Dendrogram</a:t>
            </a:r>
          </a:p>
        </p:txBody>
      </p:sp>
      <p:sp>
        <p:nvSpPr>
          <p:cNvPr id="11" name="TextBox 10"/>
          <p:cNvSpPr txBox="1"/>
          <p:nvPr/>
        </p:nvSpPr>
        <p:spPr>
          <a:xfrm>
            <a:off x="515760" y="2965000"/>
            <a:ext cx="5157432" cy="300000"/>
          </a:xfrm>
          <a:prstGeom prst="rect">
            <a:avLst/>
          </a:prstGeom>
          <a:noFill/>
        </p:spPr>
        <p:txBody>
          <a:bodyPr wrap="square" lIns="0" tIns="0" rIns="0" bIns="0">
            <a:spAutoFit/>
          </a:bodyPr>
          <a:lstStyle/>
          <a:p>
            <a:pPr algn="ctr"/>
            <a:r>
              <a:rPr sz="950" b="0" i="1">
                <a:solidFill>
                  <a:srgbClr val="64748B"/>
                </a:solidFill>
                <a:latin typeface="Calibri"/>
              </a:rPr>
              <a:t>Insert dendrogram from CustomerSegmentation_Prediction.ipynb</a:t>
            </a:r>
          </a:p>
        </p:txBody>
      </p:sp>
      <p:sp>
        <p:nvSpPr>
          <p:cNvPr id="12" name="TextBox 11"/>
          <p:cNvSpPr txBox="1"/>
          <p:nvPr/>
        </p:nvSpPr>
        <p:spPr>
          <a:xfrm>
            <a:off x="365760" y="5325208"/>
            <a:ext cx="5457432" cy="700000"/>
          </a:xfrm>
          <a:prstGeom prst="rect">
            <a:avLst/>
          </a:prstGeom>
          <a:noFill/>
        </p:spPr>
        <p:txBody>
          <a:bodyPr wrap="square" lIns="0" tIns="0" rIns="0" bIns="0">
            <a:spAutoFit/>
          </a:bodyPr>
          <a:lstStyle/>
          <a:p>
            <a:pPr algn="l">
              <a:spcAft>
                <a:spcPts val="400"/>
              </a:spcAft>
            </a:pPr>
            <a:r>
              <a:rPr sz="1100" b="1" i="0" dirty="0" err="1">
                <a:solidFill>
                  <a:srgbClr val="1B2254"/>
                </a:solidFill>
                <a:latin typeface="Calibri"/>
              </a:rPr>
              <a:t>n_clusters</a:t>
            </a:r>
            <a:r>
              <a:rPr sz="1100" b="1" i="0" dirty="0">
                <a:solidFill>
                  <a:srgbClr val="1B2254"/>
                </a:solidFill>
                <a:latin typeface="Calibri"/>
              </a:rPr>
              <a:t> = 4</a:t>
            </a:r>
            <a:r>
              <a:rPr sz="1100" b="0" i="0" dirty="0">
                <a:solidFill>
                  <a:srgbClr val="64748B"/>
                </a:solidFill>
                <a:latin typeface="Calibri"/>
              </a:rPr>
              <a:t>   ·   linkage = ward</a:t>
            </a:r>
          </a:p>
          <a:p>
            <a:pPr algn="l"/>
            <a:r>
              <a:rPr sz="1050" b="0" i="0" dirty="0">
                <a:solidFill>
                  <a:srgbClr val="64748B"/>
                </a:solidFill>
                <a:latin typeface="Calibri"/>
              </a:rPr>
              <a:t>Confirms 4 natural groupings — a good alternative to K-Means.</a:t>
            </a:r>
          </a:p>
        </p:txBody>
      </p:sp>
      <p:sp>
        <p:nvSpPr>
          <p:cNvPr id="13" name="TextBox 12"/>
          <p:cNvSpPr txBox="1"/>
          <p:nvPr/>
        </p:nvSpPr>
        <p:spPr>
          <a:xfrm>
            <a:off x="6400800" y="990600"/>
            <a:ext cx="5457432" cy="320000"/>
          </a:xfrm>
          <a:prstGeom prst="rect">
            <a:avLst/>
          </a:prstGeom>
          <a:noFill/>
        </p:spPr>
        <p:txBody>
          <a:bodyPr wrap="square" lIns="0" tIns="0" rIns="0" bIns="0">
            <a:spAutoFit/>
          </a:bodyPr>
          <a:lstStyle/>
          <a:p>
            <a:pPr algn="l"/>
            <a:r>
              <a:rPr sz="1350" b="1" i="0">
                <a:solidFill>
                  <a:srgbClr val="1B2254"/>
                </a:solidFill>
                <a:latin typeface="Calibri"/>
              </a:rPr>
              <a:t>DBSCAN (Density-Based)</a:t>
            </a:r>
          </a:p>
        </p:txBody>
      </p:sp>
      <p:sp>
        <p:nvSpPr>
          <p:cNvPr id="15" name="Oval 14"/>
          <p:cNvSpPr/>
          <p:nvPr/>
        </p:nvSpPr>
        <p:spPr>
          <a:xfrm>
            <a:off x="8869516" y="20250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16" name="TextBox 15"/>
          <p:cNvSpPr txBox="1"/>
          <p:nvPr/>
        </p:nvSpPr>
        <p:spPr>
          <a:xfrm>
            <a:off x="6550800" y="2665000"/>
            <a:ext cx="5157432" cy="340000"/>
          </a:xfrm>
          <a:prstGeom prst="rect">
            <a:avLst/>
          </a:prstGeom>
          <a:noFill/>
        </p:spPr>
        <p:txBody>
          <a:bodyPr wrap="square" lIns="0" tIns="0" rIns="0" bIns="0">
            <a:spAutoFit/>
          </a:bodyPr>
          <a:lstStyle/>
          <a:p>
            <a:pPr algn="ctr"/>
            <a:r>
              <a:rPr sz="1250" b="1" i="0">
                <a:solidFill>
                  <a:srgbClr val="1B2254"/>
                </a:solidFill>
                <a:latin typeface="Calibri"/>
              </a:rPr>
              <a:t>DBSCAN Cluster Plot</a:t>
            </a:r>
          </a:p>
        </p:txBody>
      </p:sp>
      <p:sp>
        <p:nvSpPr>
          <p:cNvPr id="17" name="TextBox 16"/>
          <p:cNvSpPr txBox="1"/>
          <p:nvPr/>
        </p:nvSpPr>
        <p:spPr>
          <a:xfrm>
            <a:off x="6550800" y="2965000"/>
            <a:ext cx="5157432" cy="300000"/>
          </a:xfrm>
          <a:prstGeom prst="rect">
            <a:avLst/>
          </a:prstGeom>
          <a:noFill/>
        </p:spPr>
        <p:txBody>
          <a:bodyPr wrap="square" lIns="0" tIns="0" rIns="0" bIns="0">
            <a:spAutoFit/>
          </a:bodyPr>
          <a:lstStyle/>
          <a:p>
            <a:pPr algn="ctr"/>
            <a:r>
              <a:rPr sz="950" b="0" i="1">
                <a:solidFill>
                  <a:srgbClr val="64748B"/>
                </a:solidFill>
                <a:latin typeface="Calibri"/>
              </a:rPr>
              <a:t>Insert DBSCAN scatter from CustomerSegmentation_Prediction.ipynb</a:t>
            </a:r>
          </a:p>
        </p:txBody>
      </p:sp>
      <p:sp>
        <p:nvSpPr>
          <p:cNvPr id="18" name="TextBox 17"/>
          <p:cNvSpPr txBox="1"/>
          <p:nvPr/>
        </p:nvSpPr>
        <p:spPr>
          <a:xfrm>
            <a:off x="6400800" y="5266014"/>
            <a:ext cx="5457432" cy="700000"/>
          </a:xfrm>
          <a:prstGeom prst="rect">
            <a:avLst/>
          </a:prstGeom>
          <a:noFill/>
        </p:spPr>
        <p:txBody>
          <a:bodyPr wrap="square" lIns="0" tIns="0" rIns="0" bIns="0">
            <a:spAutoFit/>
          </a:bodyPr>
          <a:lstStyle/>
          <a:p>
            <a:pPr algn="l">
              <a:spcAft>
                <a:spcPts val="400"/>
              </a:spcAft>
            </a:pPr>
            <a:r>
              <a:rPr sz="1100" b="1" i="0" dirty="0">
                <a:solidFill>
                  <a:srgbClr val="1B2254"/>
                </a:solidFill>
                <a:latin typeface="Calibri"/>
              </a:rPr>
              <a:t>eps = 0.4</a:t>
            </a:r>
            <a:r>
              <a:rPr sz="1100" b="0" i="0" dirty="0">
                <a:solidFill>
                  <a:srgbClr val="64748B"/>
                </a:solidFill>
                <a:latin typeface="Calibri"/>
              </a:rPr>
              <a:t>   ·   </a:t>
            </a:r>
            <a:r>
              <a:rPr sz="1100" b="0" i="0" dirty="0" err="1">
                <a:solidFill>
                  <a:srgbClr val="64748B"/>
                </a:solidFill>
                <a:latin typeface="Calibri"/>
              </a:rPr>
              <a:t>min_samples</a:t>
            </a:r>
            <a:r>
              <a:rPr sz="1100" b="0" i="0" dirty="0">
                <a:solidFill>
                  <a:srgbClr val="64748B"/>
                </a:solidFill>
                <a:latin typeface="Calibri"/>
              </a:rPr>
              <a:t> = 5</a:t>
            </a:r>
          </a:p>
          <a:p>
            <a:pPr algn="l"/>
            <a:r>
              <a:rPr sz="1050" b="0" i="0" dirty="0">
                <a:solidFill>
                  <a:srgbClr val="64748B"/>
                </a:solidFill>
                <a:latin typeface="Calibri"/>
              </a:rPr>
              <a:t>Found 6 clusters + noise — useful for outlier detection, less for segmentation.</a:t>
            </a:r>
          </a:p>
        </p:txBody>
      </p:sp>
      <p:pic>
        <p:nvPicPr>
          <p:cNvPr id="20" name="Picture 19">
            <a:extLst>
              <a:ext uri="{FF2B5EF4-FFF2-40B4-BE49-F238E27FC236}">
                <a16:creationId xmlns:a16="http://schemas.microsoft.com/office/drawing/2014/main" id="{8864D2C0-9834-BBDD-BD45-2232C68DD374}"/>
              </a:ext>
            </a:extLst>
          </p:cNvPr>
          <p:cNvPicPr>
            <a:picLocks noChangeAspect="1"/>
          </p:cNvPicPr>
          <p:nvPr/>
        </p:nvPicPr>
        <p:blipFill>
          <a:blip r:embed="rId2"/>
          <a:stretch>
            <a:fillRect/>
          </a:stretch>
        </p:blipFill>
        <p:spPr>
          <a:xfrm>
            <a:off x="152400" y="1336001"/>
            <a:ext cx="6098400" cy="3930013"/>
          </a:xfrm>
          <a:prstGeom prst="rect">
            <a:avLst/>
          </a:prstGeom>
        </p:spPr>
      </p:pic>
      <p:pic>
        <p:nvPicPr>
          <p:cNvPr id="22" name="Picture 21">
            <a:extLst>
              <a:ext uri="{FF2B5EF4-FFF2-40B4-BE49-F238E27FC236}">
                <a16:creationId xmlns:a16="http://schemas.microsoft.com/office/drawing/2014/main" id="{E1572838-A915-2530-D65F-006D4E27B6E1}"/>
              </a:ext>
            </a:extLst>
          </p:cNvPr>
          <p:cNvPicPr>
            <a:picLocks noChangeAspect="1"/>
          </p:cNvPicPr>
          <p:nvPr/>
        </p:nvPicPr>
        <p:blipFill>
          <a:blip r:embed="rId3"/>
          <a:stretch>
            <a:fillRect/>
          </a:stretch>
        </p:blipFill>
        <p:spPr>
          <a:xfrm>
            <a:off x="6328562" y="1391834"/>
            <a:ext cx="5421926" cy="37827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Clustering Algorithm Comparison</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11457432" cy="400000"/>
          </a:xfrm>
          <a:prstGeom prst="rect">
            <a:avLst/>
          </a:prstGeom>
          <a:noFill/>
        </p:spPr>
        <p:txBody>
          <a:bodyPr wrap="square" lIns="0" tIns="0" rIns="0" bIns="0">
            <a:spAutoFit/>
          </a:bodyPr>
          <a:lstStyle/>
          <a:p>
            <a:pPr algn="l"/>
            <a:r>
              <a:rPr sz="1250" b="0" i="0">
                <a:solidFill>
                  <a:srgbClr val="64748B"/>
                </a:solidFill>
                <a:latin typeface="Calibri"/>
              </a:rPr>
              <a:t>Three algorithms evaluated — K-Means selected as the final segmentation model.</a:t>
            </a:r>
          </a:p>
        </p:txBody>
      </p:sp>
      <p:graphicFrame>
        <p:nvGraphicFramePr>
          <p:cNvPr id="8" name="Table 7"/>
          <p:cNvGraphicFramePr>
            <a:graphicFrameLocks noGrp="1"/>
          </p:cNvGraphicFramePr>
          <p:nvPr/>
        </p:nvGraphicFramePr>
        <p:xfrm>
          <a:off x="365760" y="1550000"/>
          <a:ext cx="11457432" cy="2100000"/>
        </p:xfrm>
        <a:graphic>
          <a:graphicData uri="http://schemas.openxmlformats.org/drawingml/2006/table">
            <a:tbl>
              <a:tblPr firstRow="1" bandRow="1">
                <a:tableStyleId>{5C22544A-7EE6-4342-B048-85BDC9FD1C3A}</a:tableStyleId>
              </a:tblPr>
              <a:tblGrid>
                <a:gridCol w="220000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gridCol w="1700000">
                  <a:extLst>
                    <a:ext uri="{9D8B030D-6E8A-4147-A177-3AD203B41FA5}">
                      <a16:colId xmlns:a16="http://schemas.microsoft.com/office/drawing/2014/main" val="20002"/>
                    </a:ext>
                  </a:extLst>
                </a:gridCol>
                <a:gridCol w="2200000">
                  <a:extLst>
                    <a:ext uri="{9D8B030D-6E8A-4147-A177-3AD203B41FA5}">
                      <a16:colId xmlns:a16="http://schemas.microsoft.com/office/drawing/2014/main" val="20003"/>
                    </a:ext>
                  </a:extLst>
                </a:gridCol>
                <a:gridCol w="1750000">
                  <a:extLst>
                    <a:ext uri="{9D8B030D-6E8A-4147-A177-3AD203B41FA5}">
                      <a16:colId xmlns:a16="http://schemas.microsoft.com/office/drawing/2014/main" val="20004"/>
                    </a:ext>
                  </a:extLst>
                </a:gridCol>
                <a:gridCol w="2007432">
                  <a:extLst>
                    <a:ext uri="{9D8B030D-6E8A-4147-A177-3AD203B41FA5}">
                      <a16:colId xmlns:a16="http://schemas.microsoft.com/office/drawing/2014/main" val="20005"/>
                    </a:ext>
                  </a:extLst>
                </a:gridCol>
              </a:tblGrid>
              <a:tr h="525000">
                <a:tc>
                  <a:txBody>
                    <a:bodyPr/>
                    <a:lstStyle/>
                    <a:p>
                      <a:pPr algn="l"/>
                      <a:r>
                        <a:rPr sz="1150" b="1">
                          <a:solidFill>
                            <a:srgbClr val="FFFFFF"/>
                          </a:solidFill>
                          <a:latin typeface="Calibri"/>
                        </a:rPr>
                        <a:t>Model</a:t>
                      </a:r>
                    </a:p>
                  </a:txBody>
                  <a:tcPr>
                    <a:solidFill>
                      <a:srgbClr val="1B2254"/>
                    </a:solidFill>
                  </a:tcPr>
                </a:tc>
                <a:tc>
                  <a:txBody>
                    <a:bodyPr/>
                    <a:lstStyle/>
                    <a:p>
                      <a:pPr algn="l"/>
                      <a:r>
                        <a:rPr sz="1150" b="1">
                          <a:solidFill>
                            <a:srgbClr val="FFFFFF"/>
                          </a:solidFill>
                          <a:latin typeface="Calibri"/>
                        </a:rPr>
                        <a:t>Clusters</a:t>
                      </a:r>
                    </a:p>
                  </a:txBody>
                  <a:tcPr>
                    <a:solidFill>
                      <a:srgbClr val="1B2254"/>
                    </a:solidFill>
                  </a:tcPr>
                </a:tc>
                <a:tc>
                  <a:txBody>
                    <a:bodyPr/>
                    <a:lstStyle/>
                    <a:p>
                      <a:pPr algn="l"/>
                      <a:r>
                        <a:rPr sz="1150" b="1">
                          <a:solidFill>
                            <a:srgbClr val="FFFFFF"/>
                          </a:solidFill>
                          <a:latin typeface="Calibri"/>
                        </a:rPr>
                        <a:t>Requires K</a:t>
                      </a:r>
                    </a:p>
                  </a:txBody>
                  <a:tcPr>
                    <a:solidFill>
                      <a:srgbClr val="1B2254"/>
                    </a:solidFill>
                  </a:tcPr>
                </a:tc>
                <a:tc>
                  <a:txBody>
                    <a:bodyPr/>
                    <a:lstStyle/>
                    <a:p>
                      <a:pPr algn="l"/>
                      <a:r>
                        <a:rPr sz="1150" b="1">
                          <a:solidFill>
                            <a:srgbClr val="FFFFFF"/>
                          </a:solidFill>
                          <a:latin typeface="Calibri"/>
                        </a:rPr>
                        <a:t>Detects Outliers</a:t>
                      </a:r>
                    </a:p>
                  </a:txBody>
                  <a:tcPr>
                    <a:solidFill>
                      <a:srgbClr val="1B2254"/>
                    </a:solidFill>
                  </a:tcPr>
                </a:tc>
                <a:tc>
                  <a:txBody>
                    <a:bodyPr/>
                    <a:lstStyle/>
                    <a:p>
                      <a:pPr algn="l"/>
                      <a:r>
                        <a:rPr sz="1150" b="1">
                          <a:solidFill>
                            <a:srgbClr val="FFFFFF"/>
                          </a:solidFill>
                          <a:latin typeface="Calibri"/>
                        </a:rPr>
                        <a:t>Scalability</a:t>
                      </a:r>
                    </a:p>
                  </a:txBody>
                  <a:tcPr>
                    <a:solidFill>
                      <a:srgbClr val="1B2254"/>
                    </a:solidFill>
                  </a:tcPr>
                </a:tc>
                <a:tc>
                  <a:txBody>
                    <a:bodyPr/>
                    <a:lstStyle/>
                    <a:p>
                      <a:pPr algn="l"/>
                      <a:r>
                        <a:rPr sz="1150" b="1">
                          <a:solidFill>
                            <a:srgbClr val="FFFFFF"/>
                          </a:solidFill>
                          <a:latin typeface="Calibri"/>
                        </a:rPr>
                        <a:t>Status</a:t>
                      </a:r>
                    </a:p>
                  </a:txBody>
                  <a:tcPr>
                    <a:solidFill>
                      <a:srgbClr val="1B2254"/>
                    </a:solidFill>
                  </a:tcPr>
                </a:tc>
                <a:extLst>
                  <a:ext uri="{0D108BD9-81ED-4DB2-BD59-A6C34878D82A}">
                    <a16:rowId xmlns:a16="http://schemas.microsoft.com/office/drawing/2014/main" val="10000"/>
                  </a:ext>
                </a:extLst>
              </a:tr>
              <a:tr h="525000">
                <a:tc>
                  <a:txBody>
                    <a:bodyPr/>
                    <a:lstStyle/>
                    <a:p>
                      <a:pPr algn="l"/>
                      <a:r>
                        <a:rPr sz="1150" b="1">
                          <a:solidFill>
                            <a:srgbClr val="333333"/>
                          </a:solidFill>
                          <a:latin typeface="Calibri"/>
                        </a:rPr>
                        <a:t>K-Means</a:t>
                      </a:r>
                    </a:p>
                  </a:txBody>
                  <a:tcPr marT="36576" marB="36576">
                    <a:solidFill>
                      <a:srgbClr val="FFFFFF"/>
                    </a:solidFill>
                  </a:tcPr>
                </a:tc>
                <a:tc>
                  <a:txBody>
                    <a:bodyPr/>
                    <a:lstStyle/>
                    <a:p>
                      <a:pPr algn="l"/>
                      <a:r>
                        <a:rPr sz="1150" b="0">
                          <a:solidFill>
                            <a:srgbClr val="333333"/>
                          </a:solidFill>
                          <a:latin typeface="Calibri"/>
                        </a:rPr>
                        <a:t>4</a:t>
                      </a:r>
                    </a:p>
                  </a:txBody>
                  <a:tcPr marT="36576" marB="36576">
                    <a:solidFill>
                      <a:srgbClr val="FFFFFF"/>
                    </a:solidFill>
                  </a:tcPr>
                </a:tc>
                <a:tc>
                  <a:txBody>
                    <a:bodyPr/>
                    <a:lstStyle/>
                    <a:p>
                      <a:pPr algn="l"/>
                      <a:r>
                        <a:rPr sz="1150" b="0">
                          <a:solidFill>
                            <a:srgbClr val="333333"/>
                          </a:solidFill>
                          <a:latin typeface="Calibri"/>
                        </a:rPr>
                        <a:t>Yes</a:t>
                      </a:r>
                    </a:p>
                  </a:txBody>
                  <a:tcPr marT="36576" marB="36576">
                    <a:solidFill>
                      <a:srgbClr val="FFFFFF"/>
                    </a:solidFill>
                  </a:tcPr>
                </a:tc>
                <a:tc>
                  <a:txBody>
                    <a:bodyPr/>
                    <a:lstStyle/>
                    <a:p>
                      <a:pPr algn="l"/>
                      <a:r>
                        <a:rPr sz="1150" b="0">
                          <a:solidFill>
                            <a:srgbClr val="333333"/>
                          </a:solidFill>
                          <a:latin typeface="Calibri"/>
                        </a:rPr>
                        <a:t>No</a:t>
                      </a:r>
                    </a:p>
                  </a:txBody>
                  <a:tcPr marT="36576" marB="36576">
                    <a:solidFill>
                      <a:srgbClr val="FFFFFF"/>
                    </a:solidFill>
                  </a:tcPr>
                </a:tc>
                <a:tc>
                  <a:txBody>
                    <a:bodyPr/>
                    <a:lstStyle/>
                    <a:p>
                      <a:pPr algn="l"/>
                      <a:r>
                        <a:rPr sz="1150" b="0">
                          <a:solidFill>
                            <a:srgbClr val="333333"/>
                          </a:solidFill>
                          <a:latin typeface="Calibri"/>
                        </a:rPr>
                        <a:t>High</a:t>
                      </a:r>
                    </a:p>
                  </a:txBody>
                  <a:tcPr marT="36576" marB="36576">
                    <a:solidFill>
                      <a:srgbClr val="FFFFFF"/>
                    </a:solidFill>
                  </a:tcPr>
                </a:tc>
                <a:tc>
                  <a:txBody>
                    <a:bodyPr/>
                    <a:lstStyle/>
                    <a:p>
                      <a:pPr algn="l"/>
                      <a:r>
                        <a:rPr sz="1150" b="1">
                          <a:solidFill>
                            <a:srgbClr val="10B981"/>
                          </a:solidFill>
                          <a:latin typeface="Calibri"/>
                        </a:rPr>
                        <a:t>Selected ✓</a:t>
                      </a:r>
                    </a:p>
                  </a:txBody>
                  <a:tcPr marT="36576" marB="36576">
                    <a:solidFill>
                      <a:srgbClr val="F0FDF4"/>
                    </a:solidFill>
                  </a:tcPr>
                </a:tc>
                <a:extLst>
                  <a:ext uri="{0D108BD9-81ED-4DB2-BD59-A6C34878D82A}">
                    <a16:rowId xmlns:a16="http://schemas.microsoft.com/office/drawing/2014/main" val="10001"/>
                  </a:ext>
                </a:extLst>
              </a:tr>
              <a:tr h="525000">
                <a:tc>
                  <a:txBody>
                    <a:bodyPr/>
                    <a:lstStyle/>
                    <a:p>
                      <a:pPr algn="l"/>
                      <a:r>
                        <a:rPr sz="1150" b="1">
                          <a:solidFill>
                            <a:srgbClr val="333333"/>
                          </a:solidFill>
                          <a:latin typeface="Calibri"/>
                        </a:rPr>
                        <a:t>Hierarchical</a:t>
                      </a:r>
                    </a:p>
                  </a:txBody>
                  <a:tcPr marT="36576" marB="36576">
                    <a:solidFill>
                      <a:srgbClr val="F2F2F2"/>
                    </a:solidFill>
                  </a:tcPr>
                </a:tc>
                <a:tc>
                  <a:txBody>
                    <a:bodyPr/>
                    <a:lstStyle/>
                    <a:p>
                      <a:pPr algn="l"/>
                      <a:r>
                        <a:rPr sz="1150" b="0">
                          <a:solidFill>
                            <a:srgbClr val="333333"/>
                          </a:solidFill>
                          <a:latin typeface="Calibri"/>
                        </a:rPr>
                        <a:t>4</a:t>
                      </a:r>
                    </a:p>
                  </a:txBody>
                  <a:tcPr marT="36576" marB="36576">
                    <a:solidFill>
                      <a:srgbClr val="F2F2F2"/>
                    </a:solidFill>
                  </a:tcPr>
                </a:tc>
                <a:tc>
                  <a:txBody>
                    <a:bodyPr/>
                    <a:lstStyle/>
                    <a:p>
                      <a:pPr algn="l"/>
                      <a:r>
                        <a:rPr sz="1150" b="0">
                          <a:solidFill>
                            <a:srgbClr val="333333"/>
                          </a:solidFill>
                          <a:latin typeface="Calibri"/>
                        </a:rPr>
                        <a:t>Yes</a:t>
                      </a:r>
                    </a:p>
                  </a:txBody>
                  <a:tcPr marT="36576" marB="36576">
                    <a:solidFill>
                      <a:srgbClr val="F2F2F2"/>
                    </a:solidFill>
                  </a:tcPr>
                </a:tc>
                <a:tc>
                  <a:txBody>
                    <a:bodyPr/>
                    <a:lstStyle/>
                    <a:p>
                      <a:pPr algn="l"/>
                      <a:r>
                        <a:rPr sz="1150" b="0">
                          <a:solidFill>
                            <a:srgbClr val="333333"/>
                          </a:solidFill>
                          <a:latin typeface="Calibri"/>
                        </a:rPr>
                        <a:t>No</a:t>
                      </a:r>
                    </a:p>
                  </a:txBody>
                  <a:tcPr marT="36576" marB="36576">
                    <a:solidFill>
                      <a:srgbClr val="F2F2F2"/>
                    </a:solidFill>
                  </a:tcPr>
                </a:tc>
                <a:tc>
                  <a:txBody>
                    <a:bodyPr/>
                    <a:lstStyle/>
                    <a:p>
                      <a:pPr algn="l"/>
                      <a:r>
                        <a:rPr sz="1150" b="0">
                          <a:solidFill>
                            <a:srgbClr val="333333"/>
                          </a:solidFill>
                          <a:latin typeface="Calibri"/>
                        </a:rPr>
                        <a:t>Medium</a:t>
                      </a:r>
                    </a:p>
                  </a:txBody>
                  <a:tcPr marT="36576" marB="36576">
                    <a:solidFill>
                      <a:srgbClr val="F2F2F2"/>
                    </a:solidFill>
                  </a:tcPr>
                </a:tc>
                <a:tc>
                  <a:txBody>
                    <a:bodyPr/>
                    <a:lstStyle/>
                    <a:p>
                      <a:pPr algn="l"/>
                      <a:r>
                        <a:rPr sz="1150" b="1">
                          <a:solidFill>
                            <a:srgbClr val="F59E0B"/>
                          </a:solidFill>
                          <a:latin typeface="Calibri"/>
                        </a:rPr>
                        <a:t>Good Alternative</a:t>
                      </a:r>
                    </a:p>
                  </a:txBody>
                  <a:tcPr marT="36576" marB="36576">
                    <a:solidFill>
                      <a:srgbClr val="FFFDEB"/>
                    </a:solidFill>
                  </a:tcPr>
                </a:tc>
                <a:extLst>
                  <a:ext uri="{0D108BD9-81ED-4DB2-BD59-A6C34878D82A}">
                    <a16:rowId xmlns:a16="http://schemas.microsoft.com/office/drawing/2014/main" val="10002"/>
                  </a:ext>
                </a:extLst>
              </a:tr>
              <a:tr h="525000">
                <a:tc>
                  <a:txBody>
                    <a:bodyPr/>
                    <a:lstStyle/>
                    <a:p>
                      <a:pPr algn="l"/>
                      <a:r>
                        <a:rPr sz="1150" b="1">
                          <a:solidFill>
                            <a:srgbClr val="333333"/>
                          </a:solidFill>
                          <a:latin typeface="Calibri"/>
                        </a:rPr>
                        <a:t>DBSCAN</a:t>
                      </a:r>
                    </a:p>
                  </a:txBody>
                  <a:tcPr marT="36576" marB="36576">
                    <a:solidFill>
                      <a:srgbClr val="FFFFFF"/>
                    </a:solidFill>
                  </a:tcPr>
                </a:tc>
                <a:tc>
                  <a:txBody>
                    <a:bodyPr/>
                    <a:lstStyle/>
                    <a:p>
                      <a:pPr algn="l"/>
                      <a:r>
                        <a:rPr sz="1150" b="0">
                          <a:solidFill>
                            <a:srgbClr val="333333"/>
                          </a:solidFill>
                          <a:latin typeface="Calibri"/>
                        </a:rPr>
                        <a:t>6 + Noise</a:t>
                      </a:r>
                    </a:p>
                  </a:txBody>
                  <a:tcPr marT="36576" marB="36576">
                    <a:solidFill>
                      <a:srgbClr val="FFFFFF"/>
                    </a:solidFill>
                  </a:tcPr>
                </a:tc>
                <a:tc>
                  <a:txBody>
                    <a:bodyPr/>
                    <a:lstStyle/>
                    <a:p>
                      <a:pPr algn="l"/>
                      <a:r>
                        <a:rPr sz="1150" b="0">
                          <a:solidFill>
                            <a:srgbClr val="333333"/>
                          </a:solidFill>
                          <a:latin typeface="Calibri"/>
                        </a:rPr>
                        <a:t>No</a:t>
                      </a:r>
                    </a:p>
                  </a:txBody>
                  <a:tcPr marT="36576" marB="36576">
                    <a:solidFill>
                      <a:srgbClr val="FFFFFF"/>
                    </a:solidFill>
                  </a:tcPr>
                </a:tc>
                <a:tc>
                  <a:txBody>
                    <a:bodyPr/>
                    <a:lstStyle/>
                    <a:p>
                      <a:pPr algn="l"/>
                      <a:r>
                        <a:rPr sz="1150" b="0">
                          <a:solidFill>
                            <a:srgbClr val="333333"/>
                          </a:solidFill>
                          <a:latin typeface="Calibri"/>
                        </a:rPr>
                        <a:t>Yes</a:t>
                      </a:r>
                    </a:p>
                  </a:txBody>
                  <a:tcPr marT="36576" marB="36576">
                    <a:solidFill>
                      <a:srgbClr val="FFFFFF"/>
                    </a:solidFill>
                  </a:tcPr>
                </a:tc>
                <a:tc>
                  <a:txBody>
                    <a:bodyPr/>
                    <a:lstStyle/>
                    <a:p>
                      <a:pPr algn="l"/>
                      <a:r>
                        <a:rPr sz="1150" b="0">
                          <a:solidFill>
                            <a:srgbClr val="333333"/>
                          </a:solidFill>
                          <a:latin typeface="Calibri"/>
                        </a:rPr>
                        <a:t>Medium</a:t>
                      </a:r>
                    </a:p>
                  </a:txBody>
                  <a:tcPr marT="36576" marB="36576">
                    <a:solidFill>
                      <a:srgbClr val="FFFFFF"/>
                    </a:solidFill>
                  </a:tcPr>
                </a:tc>
                <a:tc>
                  <a:txBody>
                    <a:bodyPr/>
                    <a:lstStyle/>
                    <a:p>
                      <a:pPr algn="l"/>
                      <a:r>
                        <a:rPr sz="1150" b="1">
                          <a:solidFill>
                            <a:srgbClr val="EF4444"/>
                          </a:solidFill>
                          <a:latin typeface="Calibri"/>
                        </a:rPr>
                        <a:t>Not Preferred</a:t>
                      </a:r>
                    </a:p>
                  </a:txBody>
                  <a:tcPr marT="36576" marB="36576">
                    <a:solidFill>
                      <a:srgbClr val="FFF1F1"/>
                    </a:solidFill>
                  </a:tcPr>
                </a:tc>
                <a:extLst>
                  <a:ext uri="{0D108BD9-81ED-4DB2-BD59-A6C34878D82A}">
                    <a16:rowId xmlns:a16="http://schemas.microsoft.com/office/drawing/2014/main" val="10003"/>
                  </a:ext>
                </a:extLst>
              </a:tr>
            </a:tbl>
          </a:graphicData>
        </a:graphic>
      </p:graphicFrame>
      <p:sp>
        <p:nvSpPr>
          <p:cNvPr id="9" name="Rounded Rectangle 8"/>
          <p:cNvSpPr/>
          <p:nvPr/>
        </p:nvSpPr>
        <p:spPr>
          <a:xfrm>
            <a:off x="365760" y="3950000"/>
            <a:ext cx="11457432" cy="750000"/>
          </a:xfrm>
          <a:prstGeom prst="roundRect">
            <a:avLst>
              <a:gd name="adj" fmla="val 600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5760" y="4100000"/>
            <a:ext cx="11000000" cy="450000"/>
          </a:xfrm>
          <a:prstGeom prst="rect">
            <a:avLst/>
          </a:prstGeom>
          <a:noFill/>
        </p:spPr>
        <p:txBody>
          <a:bodyPr wrap="square" lIns="0" tIns="0" rIns="0" bIns="0" anchor="ctr">
            <a:spAutoFit/>
          </a:bodyPr>
          <a:lstStyle/>
          <a:p>
            <a:pPr algn="l"/>
            <a:r>
              <a:rPr sz="1250" b="1" i="0">
                <a:solidFill>
                  <a:srgbClr val="10B981"/>
                </a:solidFill>
                <a:latin typeface="Calibri"/>
              </a:rPr>
              <a:t>Final selection: K-Means with K=4 — best balance of performance, scalability &amp; interpretability.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Customer Segment Profiles</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11457432" cy="350000"/>
          </a:xfrm>
          <a:prstGeom prst="rect">
            <a:avLst/>
          </a:prstGeom>
          <a:noFill/>
        </p:spPr>
        <p:txBody>
          <a:bodyPr wrap="square" lIns="0" tIns="0" rIns="0" bIns="0">
            <a:spAutoFit/>
          </a:bodyPr>
          <a:lstStyle/>
          <a:p>
            <a:pPr algn="l"/>
            <a:r>
              <a:rPr sz="1200" b="0" i="0">
                <a:solidFill>
                  <a:srgbClr val="64748B"/>
                </a:solidFill>
                <a:latin typeface="Calibri"/>
              </a:rPr>
              <a:t>K-Means mapped 4 clusters to 4 business segments based on RFM profiles.</a:t>
            </a:r>
          </a:p>
        </p:txBody>
      </p:sp>
      <p:sp>
        <p:nvSpPr>
          <p:cNvPr id="8" name="Rounded Rectangle 7"/>
          <p:cNvSpPr/>
          <p:nvPr/>
        </p:nvSpPr>
        <p:spPr>
          <a:xfrm>
            <a:off x="365760" y="1500000"/>
            <a:ext cx="2739144" cy="900000"/>
          </a:xfrm>
          <a:prstGeom prst="roundRect">
            <a:avLst>
              <a:gd name="adj" fmla="val 6000"/>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5760" y="1610000"/>
            <a:ext cx="2439144" cy="700000"/>
          </a:xfrm>
          <a:prstGeom prst="rect">
            <a:avLst/>
          </a:prstGeom>
          <a:noFill/>
        </p:spPr>
        <p:txBody>
          <a:bodyPr wrap="square" lIns="0" tIns="0" rIns="0" bIns="0">
            <a:spAutoFit/>
          </a:bodyPr>
          <a:lstStyle/>
          <a:p>
            <a:pPr algn="l">
              <a:spcAft>
                <a:spcPts val="300"/>
              </a:spcAft>
            </a:pPr>
            <a:r>
              <a:rPr sz="1600" b="1" i="0">
                <a:solidFill>
                  <a:srgbClr val="FFFFFF"/>
                </a:solidFill>
                <a:latin typeface="Calibri"/>
              </a:rPr>
              <a:t>VIP</a:t>
            </a:r>
          </a:p>
          <a:p>
            <a:pPr algn="l"/>
            <a:r>
              <a:rPr sz="1100" b="1" i="0">
                <a:solidFill>
                  <a:srgbClr val="FFFFFF"/>
                </a:solidFill>
                <a:latin typeface="Calibri"/>
              </a:rPr>
              <a:t>713 · 16.4%</a:t>
            </a:r>
          </a:p>
        </p:txBody>
      </p:sp>
      <p:sp>
        <p:nvSpPr>
          <p:cNvPr id="10" name="Rectangle 9"/>
          <p:cNvSpPr/>
          <p:nvPr/>
        </p:nvSpPr>
        <p:spPr>
          <a:xfrm>
            <a:off x="365760" y="2400000"/>
            <a:ext cx="2739144" cy="62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5760" y="2400000"/>
            <a:ext cx="2479144" cy="620000"/>
          </a:xfrm>
          <a:prstGeom prst="rect">
            <a:avLst/>
          </a:prstGeom>
          <a:noFill/>
        </p:spPr>
        <p:txBody>
          <a:bodyPr wrap="square" lIns="0" tIns="0" rIns="0" bIns="0" anchor="ctr">
            <a:spAutoFit/>
          </a:bodyPr>
          <a:lstStyle/>
          <a:p>
            <a:pPr algn="l"/>
            <a:r>
              <a:rPr sz="950" b="0" i="0">
                <a:solidFill>
                  <a:srgbClr val="333333"/>
                </a:solidFill>
                <a:latin typeface="Calibri"/>
              </a:rPr>
              <a:t>R:12d  F:13.8  £8,088 avg</a:t>
            </a:r>
          </a:p>
        </p:txBody>
      </p:sp>
      <p:sp>
        <p:nvSpPr>
          <p:cNvPr id="12" name="Rounded Rectangle 11"/>
          <p:cNvSpPr/>
          <p:nvPr/>
        </p:nvSpPr>
        <p:spPr>
          <a:xfrm>
            <a:off x="365760" y="3060000"/>
            <a:ext cx="2739144" cy="210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5760" y="3180000"/>
            <a:ext cx="2439144" cy="1900000"/>
          </a:xfrm>
          <a:prstGeom prst="rect">
            <a:avLst/>
          </a:prstGeom>
          <a:noFill/>
        </p:spPr>
        <p:txBody>
          <a:bodyPr wrap="square" lIns="0" tIns="0" rIns="0" bIns="0">
            <a:spAutoFit/>
          </a:bodyPr>
          <a:lstStyle/>
          <a:p>
            <a:pPr algn="l">
              <a:lnSpc>
                <a:spcPct val="110000"/>
              </a:lnSpc>
              <a:spcAft>
                <a:spcPts val="800"/>
              </a:spcAft>
            </a:pPr>
            <a:r>
              <a:rPr sz="1050" b="1" i="0">
                <a:solidFill>
                  <a:srgbClr val="1B2254"/>
                </a:solidFill>
                <a:latin typeface="Calibri"/>
              </a:rPr>
              <a:t>Most recent, most frequent, top spenders.</a:t>
            </a:r>
          </a:p>
          <a:p>
            <a:pPr algn="l">
              <a:lnSpc>
                <a:spcPct val="110000"/>
              </a:lnSpc>
            </a:pPr>
            <a:r>
              <a:rPr sz="950" b="0" i="0">
                <a:solidFill>
                  <a:srgbClr val="64748B"/>
                </a:solidFill>
                <a:latin typeface="Calibri"/>
              </a:rPr>
              <a:t>Loyalty rewards &amp; dedicated account managers.</a:t>
            </a:r>
          </a:p>
        </p:txBody>
      </p:sp>
      <p:sp>
        <p:nvSpPr>
          <p:cNvPr id="14" name="Rounded Rectangle 13"/>
          <p:cNvSpPr/>
          <p:nvPr/>
        </p:nvSpPr>
        <p:spPr>
          <a:xfrm>
            <a:off x="3211571" y="1500000"/>
            <a:ext cx="2739144" cy="900000"/>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61571" y="1610000"/>
            <a:ext cx="2439144" cy="700000"/>
          </a:xfrm>
          <a:prstGeom prst="rect">
            <a:avLst/>
          </a:prstGeom>
          <a:noFill/>
        </p:spPr>
        <p:txBody>
          <a:bodyPr wrap="square" lIns="0" tIns="0" rIns="0" bIns="0">
            <a:spAutoFit/>
          </a:bodyPr>
          <a:lstStyle/>
          <a:p>
            <a:pPr algn="l">
              <a:spcAft>
                <a:spcPts val="300"/>
              </a:spcAft>
            </a:pPr>
            <a:r>
              <a:rPr sz="1600" b="1" i="0">
                <a:solidFill>
                  <a:srgbClr val="FFFFFF"/>
                </a:solidFill>
                <a:latin typeface="Calibri"/>
              </a:rPr>
              <a:t>Loyal</a:t>
            </a:r>
          </a:p>
          <a:p>
            <a:pPr algn="l"/>
            <a:r>
              <a:rPr sz="1100" b="1" i="0">
                <a:solidFill>
                  <a:srgbClr val="FFFFFF"/>
                </a:solidFill>
                <a:latin typeface="Calibri"/>
              </a:rPr>
              <a:t>1,166 · 26.9%</a:t>
            </a:r>
          </a:p>
        </p:txBody>
      </p:sp>
      <p:sp>
        <p:nvSpPr>
          <p:cNvPr id="16" name="Rectangle 15"/>
          <p:cNvSpPr/>
          <p:nvPr/>
        </p:nvSpPr>
        <p:spPr>
          <a:xfrm>
            <a:off x="3211571" y="2400000"/>
            <a:ext cx="2739144" cy="62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41571" y="2400000"/>
            <a:ext cx="2479144" cy="620000"/>
          </a:xfrm>
          <a:prstGeom prst="rect">
            <a:avLst/>
          </a:prstGeom>
          <a:noFill/>
        </p:spPr>
        <p:txBody>
          <a:bodyPr wrap="square" lIns="0" tIns="0" rIns="0" bIns="0" anchor="ctr">
            <a:spAutoFit/>
          </a:bodyPr>
          <a:lstStyle/>
          <a:p>
            <a:pPr algn="l"/>
            <a:r>
              <a:rPr sz="950" b="0" i="0">
                <a:solidFill>
                  <a:srgbClr val="333333"/>
                </a:solidFill>
                <a:latin typeface="Calibri"/>
              </a:rPr>
              <a:t>R:72d  F:4.1  £1,802 avg</a:t>
            </a:r>
          </a:p>
        </p:txBody>
      </p:sp>
      <p:sp>
        <p:nvSpPr>
          <p:cNvPr id="18" name="Rounded Rectangle 17"/>
          <p:cNvSpPr/>
          <p:nvPr/>
        </p:nvSpPr>
        <p:spPr>
          <a:xfrm>
            <a:off x="3211571" y="3060000"/>
            <a:ext cx="2739144" cy="210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61571" y="3180000"/>
            <a:ext cx="2439144" cy="1900000"/>
          </a:xfrm>
          <a:prstGeom prst="rect">
            <a:avLst/>
          </a:prstGeom>
          <a:noFill/>
        </p:spPr>
        <p:txBody>
          <a:bodyPr wrap="square" lIns="0" tIns="0" rIns="0" bIns="0">
            <a:spAutoFit/>
          </a:bodyPr>
          <a:lstStyle/>
          <a:p>
            <a:pPr algn="l">
              <a:lnSpc>
                <a:spcPct val="110000"/>
              </a:lnSpc>
              <a:spcAft>
                <a:spcPts val="800"/>
              </a:spcAft>
            </a:pPr>
            <a:r>
              <a:rPr sz="1050" b="1" i="0">
                <a:solidFill>
                  <a:srgbClr val="1B2254"/>
                </a:solidFill>
                <a:latin typeface="Calibri"/>
              </a:rPr>
              <a:t>Regular buyers with solid spend.</a:t>
            </a:r>
          </a:p>
          <a:p>
            <a:pPr algn="l">
              <a:lnSpc>
                <a:spcPct val="110000"/>
              </a:lnSpc>
            </a:pPr>
            <a:r>
              <a:rPr sz="950" b="0" i="0">
                <a:solidFill>
                  <a:srgbClr val="64748B"/>
                </a:solidFill>
                <a:latin typeface="Calibri"/>
              </a:rPr>
              <a:t>Upsell campaigns; tier-up incentives.</a:t>
            </a:r>
          </a:p>
        </p:txBody>
      </p:sp>
      <p:sp>
        <p:nvSpPr>
          <p:cNvPr id="20" name="Rounded Rectangle 19"/>
          <p:cNvSpPr/>
          <p:nvPr/>
        </p:nvSpPr>
        <p:spPr>
          <a:xfrm>
            <a:off x="6057382" y="1500000"/>
            <a:ext cx="2739144" cy="900000"/>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07382" y="1610000"/>
            <a:ext cx="2439144" cy="700000"/>
          </a:xfrm>
          <a:prstGeom prst="rect">
            <a:avLst/>
          </a:prstGeom>
          <a:noFill/>
        </p:spPr>
        <p:txBody>
          <a:bodyPr wrap="square" lIns="0" tIns="0" rIns="0" bIns="0">
            <a:spAutoFit/>
          </a:bodyPr>
          <a:lstStyle/>
          <a:p>
            <a:pPr algn="l">
              <a:spcAft>
                <a:spcPts val="300"/>
              </a:spcAft>
            </a:pPr>
            <a:r>
              <a:rPr sz="1600" b="1" i="0">
                <a:solidFill>
                  <a:srgbClr val="FFFFFF"/>
                </a:solidFill>
                <a:latin typeface="Calibri"/>
              </a:rPr>
              <a:t>At Risk</a:t>
            </a:r>
          </a:p>
          <a:p>
            <a:pPr algn="l"/>
            <a:r>
              <a:rPr sz="1100" b="1" i="0">
                <a:solidFill>
                  <a:srgbClr val="FFFFFF"/>
                </a:solidFill>
                <a:latin typeface="Calibri"/>
              </a:rPr>
              <a:t>1,622 · 37.4%</a:t>
            </a:r>
          </a:p>
        </p:txBody>
      </p:sp>
      <p:sp>
        <p:nvSpPr>
          <p:cNvPr id="22" name="Rectangle 21"/>
          <p:cNvSpPr/>
          <p:nvPr/>
        </p:nvSpPr>
        <p:spPr>
          <a:xfrm>
            <a:off x="6057382" y="2400000"/>
            <a:ext cx="2739144" cy="62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87382" y="2400000"/>
            <a:ext cx="2479144" cy="620000"/>
          </a:xfrm>
          <a:prstGeom prst="rect">
            <a:avLst/>
          </a:prstGeom>
          <a:noFill/>
        </p:spPr>
        <p:txBody>
          <a:bodyPr wrap="square" lIns="0" tIns="0" rIns="0" bIns="0" anchor="ctr">
            <a:spAutoFit/>
          </a:bodyPr>
          <a:lstStyle/>
          <a:p>
            <a:pPr algn="l"/>
            <a:r>
              <a:rPr sz="950" b="0" i="0">
                <a:solidFill>
                  <a:srgbClr val="333333"/>
                </a:solidFill>
                <a:latin typeface="Calibri"/>
              </a:rPr>
              <a:t>R:182d  F:1.3  £341 avg</a:t>
            </a:r>
          </a:p>
        </p:txBody>
      </p:sp>
      <p:sp>
        <p:nvSpPr>
          <p:cNvPr id="24" name="Rounded Rectangle 23"/>
          <p:cNvSpPr/>
          <p:nvPr/>
        </p:nvSpPr>
        <p:spPr>
          <a:xfrm>
            <a:off x="6057382" y="3060000"/>
            <a:ext cx="2739144" cy="210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07382" y="3180000"/>
            <a:ext cx="2439144" cy="1900000"/>
          </a:xfrm>
          <a:prstGeom prst="rect">
            <a:avLst/>
          </a:prstGeom>
          <a:noFill/>
        </p:spPr>
        <p:txBody>
          <a:bodyPr wrap="square" lIns="0" tIns="0" rIns="0" bIns="0">
            <a:spAutoFit/>
          </a:bodyPr>
          <a:lstStyle/>
          <a:p>
            <a:pPr algn="l">
              <a:lnSpc>
                <a:spcPct val="110000"/>
              </a:lnSpc>
              <a:spcAft>
                <a:spcPts val="800"/>
              </a:spcAft>
            </a:pPr>
            <a:r>
              <a:rPr sz="1050" b="1" i="0">
                <a:solidFill>
                  <a:srgbClr val="1B2254"/>
                </a:solidFill>
                <a:latin typeface="Calibri"/>
              </a:rPr>
              <a:t>Formerly active, now lapsing — largest segment.</a:t>
            </a:r>
          </a:p>
          <a:p>
            <a:pPr algn="l">
              <a:lnSpc>
                <a:spcPct val="110000"/>
              </a:lnSpc>
            </a:pPr>
            <a:r>
              <a:rPr sz="950" b="0" i="0">
                <a:solidFill>
                  <a:srgbClr val="64748B"/>
                </a:solidFill>
                <a:latin typeface="Calibri"/>
              </a:rPr>
              <a:t>Win-back emails; limited-time discounts.</a:t>
            </a:r>
          </a:p>
        </p:txBody>
      </p:sp>
      <p:sp>
        <p:nvSpPr>
          <p:cNvPr id="26" name="Rounded Rectangle 25"/>
          <p:cNvSpPr/>
          <p:nvPr/>
        </p:nvSpPr>
        <p:spPr>
          <a:xfrm>
            <a:off x="8903193" y="1500000"/>
            <a:ext cx="2739144" cy="900000"/>
          </a:xfrm>
          <a:prstGeom prst="roundRect">
            <a:avLst>
              <a:gd name="adj" fmla="val 6000"/>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53193" y="1610000"/>
            <a:ext cx="2439144" cy="700000"/>
          </a:xfrm>
          <a:prstGeom prst="rect">
            <a:avLst/>
          </a:prstGeom>
          <a:noFill/>
        </p:spPr>
        <p:txBody>
          <a:bodyPr wrap="square" lIns="0" tIns="0" rIns="0" bIns="0">
            <a:spAutoFit/>
          </a:bodyPr>
          <a:lstStyle/>
          <a:p>
            <a:pPr algn="l">
              <a:spcAft>
                <a:spcPts val="300"/>
              </a:spcAft>
            </a:pPr>
            <a:r>
              <a:rPr sz="1600" b="1" i="0">
                <a:solidFill>
                  <a:srgbClr val="FFFFFF"/>
                </a:solidFill>
                <a:latin typeface="Calibri"/>
              </a:rPr>
              <a:t>New</a:t>
            </a:r>
          </a:p>
          <a:p>
            <a:pPr algn="l"/>
            <a:r>
              <a:rPr sz="1100" b="1" i="0">
                <a:solidFill>
                  <a:srgbClr val="FFFFFF"/>
                </a:solidFill>
                <a:latin typeface="Calibri"/>
              </a:rPr>
              <a:t>837 · 19.3%</a:t>
            </a:r>
          </a:p>
        </p:txBody>
      </p:sp>
      <p:sp>
        <p:nvSpPr>
          <p:cNvPr id="28" name="Rectangle 27"/>
          <p:cNvSpPr/>
          <p:nvPr/>
        </p:nvSpPr>
        <p:spPr>
          <a:xfrm>
            <a:off x="8903193" y="2400000"/>
            <a:ext cx="2739144" cy="62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33193" y="2400000"/>
            <a:ext cx="2479144" cy="620000"/>
          </a:xfrm>
          <a:prstGeom prst="rect">
            <a:avLst/>
          </a:prstGeom>
          <a:noFill/>
        </p:spPr>
        <p:txBody>
          <a:bodyPr wrap="square" lIns="0" tIns="0" rIns="0" bIns="0" anchor="ctr">
            <a:spAutoFit/>
          </a:bodyPr>
          <a:lstStyle/>
          <a:p>
            <a:pPr algn="l"/>
            <a:r>
              <a:rPr sz="950" b="0" i="0">
                <a:solidFill>
                  <a:srgbClr val="333333"/>
                </a:solidFill>
                <a:latin typeface="Calibri"/>
              </a:rPr>
              <a:t>R:18d  F:2.2  £557 avg</a:t>
            </a:r>
          </a:p>
        </p:txBody>
      </p:sp>
      <p:sp>
        <p:nvSpPr>
          <p:cNvPr id="30" name="Rounded Rectangle 29"/>
          <p:cNvSpPr/>
          <p:nvPr/>
        </p:nvSpPr>
        <p:spPr>
          <a:xfrm>
            <a:off x="8903193" y="3060000"/>
            <a:ext cx="2739144" cy="210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53193" y="3180000"/>
            <a:ext cx="2439144" cy="1900000"/>
          </a:xfrm>
          <a:prstGeom prst="rect">
            <a:avLst/>
          </a:prstGeom>
          <a:noFill/>
        </p:spPr>
        <p:txBody>
          <a:bodyPr wrap="square" lIns="0" tIns="0" rIns="0" bIns="0">
            <a:spAutoFit/>
          </a:bodyPr>
          <a:lstStyle/>
          <a:p>
            <a:pPr algn="l">
              <a:lnSpc>
                <a:spcPct val="110000"/>
              </a:lnSpc>
              <a:spcAft>
                <a:spcPts val="800"/>
              </a:spcAft>
            </a:pPr>
            <a:r>
              <a:rPr sz="1050" b="1" i="0">
                <a:solidFill>
                  <a:srgbClr val="1B2254"/>
                </a:solidFill>
                <a:latin typeface="Calibri"/>
              </a:rPr>
              <a:t>Recent first-time or early-stage buyers.</a:t>
            </a:r>
          </a:p>
          <a:p>
            <a:pPr algn="l">
              <a:lnSpc>
                <a:spcPct val="110000"/>
              </a:lnSpc>
            </a:pPr>
            <a:r>
              <a:rPr sz="950" b="0" i="0">
                <a:solidFill>
                  <a:srgbClr val="64748B"/>
                </a:solidFill>
                <a:latin typeface="Calibri"/>
              </a:rPr>
              <a:t>Onboarding journeys; first-purchase offers.</a:t>
            </a:r>
          </a:p>
        </p:txBody>
      </p:sp>
      <p:sp>
        <p:nvSpPr>
          <p:cNvPr id="32" name="Rounded Rectangle 31"/>
          <p:cNvSpPr/>
          <p:nvPr/>
        </p:nvSpPr>
        <p:spPr>
          <a:xfrm>
            <a:off x="365760" y="5300000"/>
            <a:ext cx="11457432" cy="700000"/>
          </a:xfrm>
          <a:prstGeom prst="roundRect">
            <a:avLst>
              <a:gd name="adj" fmla="val 600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5760" y="5420000"/>
            <a:ext cx="11000000" cy="450000"/>
          </a:xfrm>
          <a:prstGeom prst="rect">
            <a:avLst/>
          </a:prstGeom>
          <a:noFill/>
        </p:spPr>
        <p:txBody>
          <a:bodyPr wrap="square" lIns="0" tIns="0" rIns="0" bIns="0" anchor="ctr">
            <a:spAutoFit/>
          </a:bodyPr>
          <a:lstStyle/>
          <a:p>
            <a:pPr algn="l"/>
            <a:r>
              <a:rPr sz="1250" b="1" i="0">
                <a:solidFill>
                  <a:srgbClr val="10B981"/>
                </a:solidFill>
                <a:latin typeface="Calibri"/>
              </a:rPr>
              <a:t>High-Value Customers (VIP + Loyal): 1,879  —  43.3% of total customer base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0" y="0"/>
            <a:ext cx="71628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2011680"/>
            <a:ext cx="3200400" cy="914400"/>
          </a:xfrm>
          <a:prstGeom prst="rect">
            <a:avLst/>
          </a:prstGeom>
          <a:noFill/>
        </p:spPr>
        <p:txBody>
          <a:bodyPr wrap="square" lIns="0" tIns="0" rIns="0" bIns="0">
            <a:spAutoFit/>
          </a:bodyPr>
          <a:lstStyle/>
          <a:p>
            <a:pPr algn="ctr"/>
            <a:r>
              <a:rPr sz="6400" b="1" i="0">
                <a:solidFill>
                  <a:srgbClr val="CADCFC"/>
                </a:solidFill>
                <a:latin typeface="Calibri"/>
              </a:rPr>
              <a:t>04</a:t>
            </a:r>
          </a:p>
        </p:txBody>
      </p:sp>
      <p:sp>
        <p:nvSpPr>
          <p:cNvPr id="5" name="TextBox 4"/>
          <p:cNvSpPr txBox="1"/>
          <p:nvPr/>
        </p:nvSpPr>
        <p:spPr>
          <a:xfrm>
            <a:off x="457200" y="3017520"/>
            <a:ext cx="4114800" cy="1828800"/>
          </a:xfrm>
          <a:prstGeom prst="rect">
            <a:avLst/>
          </a:prstGeom>
          <a:noFill/>
        </p:spPr>
        <p:txBody>
          <a:bodyPr wrap="square" lIns="0" tIns="0" rIns="0" bIns="0">
            <a:spAutoFit/>
          </a:bodyPr>
          <a:lstStyle/>
          <a:p>
            <a:pPr algn="l">
              <a:spcAft>
                <a:spcPts val="200"/>
              </a:spcAft>
            </a:pPr>
            <a:r>
              <a:rPr sz="3000" b="1" i="0">
                <a:solidFill>
                  <a:srgbClr val="FFFFFF"/>
                </a:solidFill>
                <a:latin typeface="Calibri"/>
              </a:rPr>
              <a:t>Predictive</a:t>
            </a:r>
          </a:p>
          <a:p>
            <a:pPr algn="l">
              <a:spcAft>
                <a:spcPts val="200"/>
              </a:spcAft>
            </a:pPr>
            <a:r>
              <a:rPr sz="3000" b="1" i="0">
                <a:solidFill>
                  <a:srgbClr val="FFFFFF"/>
                </a:solidFill>
                <a:latin typeface="Calibri"/>
              </a:rPr>
              <a:t>Classification</a:t>
            </a:r>
          </a:p>
        </p:txBody>
      </p:sp>
      <p:sp>
        <p:nvSpPr>
          <p:cNvPr id="6" name="TextBox 5"/>
          <p:cNvSpPr txBox="1"/>
          <p:nvPr/>
        </p:nvSpPr>
        <p:spPr>
          <a:xfrm>
            <a:off x="5486400" y="2560320"/>
            <a:ext cx="6400800" cy="1450000"/>
          </a:xfrm>
          <a:prstGeom prst="rect">
            <a:avLst/>
          </a:prstGeom>
          <a:noFill/>
        </p:spPr>
        <p:txBody>
          <a:bodyPr wrap="square" lIns="0" tIns="0" rIns="0" bIns="0">
            <a:spAutoFit/>
          </a:bodyPr>
          <a:lstStyle/>
          <a:p>
            <a:pPr algn="l">
              <a:spcAft>
                <a:spcPts val="1000"/>
              </a:spcAft>
            </a:pPr>
            <a:r>
              <a:rPr sz="1800" b="1" i="0">
                <a:solidFill>
                  <a:srgbClr val="1B2254"/>
                </a:solidFill>
                <a:latin typeface="Calibri"/>
              </a:rPr>
              <a:t>High-Value Customer Prediction</a:t>
            </a:r>
          </a:p>
          <a:p>
            <a:pPr algn="l">
              <a:lnSpc>
                <a:spcPct val="115000"/>
              </a:lnSpc>
            </a:pPr>
            <a:r>
              <a:rPr sz="1300" b="0" i="0">
                <a:solidFill>
                  <a:srgbClr val="333333"/>
                </a:solidFill>
                <a:latin typeface="Calibri"/>
              </a:rPr>
              <a:t>Target: High_Value_Customer (VIP/Loyal vs At Risk/New). Features: RFM. Models: Logistic Regression, Random Forest, XGBoost.</a:t>
            </a:r>
          </a:p>
        </p:txBody>
      </p:sp>
      <p:sp>
        <p:nvSpPr>
          <p:cNvPr id="7" name="TextBox 6"/>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Classification Model Results</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11457432" cy="350000"/>
          </a:xfrm>
          <a:prstGeom prst="rect">
            <a:avLst/>
          </a:prstGeom>
          <a:noFill/>
        </p:spPr>
        <p:txBody>
          <a:bodyPr wrap="square" lIns="0" tIns="0" rIns="0" bIns="0">
            <a:spAutoFit/>
          </a:bodyPr>
          <a:lstStyle/>
          <a:p>
            <a:pPr algn="l"/>
            <a:r>
              <a:rPr sz="1150" b="0" i="0">
                <a:solidFill>
                  <a:srgbClr val="64748B"/>
                </a:solidFill>
                <a:latin typeface="Calibri"/>
              </a:rPr>
              <a:t>43.3% High-Value vs 56.7% Non High-Value — no SMOTE required. 80/20 stratified split.</a:t>
            </a:r>
          </a:p>
        </p:txBody>
      </p:sp>
      <p:sp>
        <p:nvSpPr>
          <p:cNvPr id="8" name="Rounded Rectangle 7"/>
          <p:cNvSpPr/>
          <p:nvPr/>
        </p:nvSpPr>
        <p:spPr>
          <a:xfrm>
            <a:off x="365760" y="1500000"/>
            <a:ext cx="2739144" cy="265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5760" y="1650000"/>
            <a:ext cx="2439144" cy="340000"/>
          </a:xfrm>
          <a:prstGeom prst="rect">
            <a:avLst/>
          </a:prstGeom>
          <a:noFill/>
        </p:spPr>
        <p:txBody>
          <a:bodyPr wrap="square" lIns="0" tIns="0" rIns="0" bIns="0">
            <a:spAutoFit/>
          </a:bodyPr>
          <a:lstStyle/>
          <a:p>
            <a:pPr algn="l"/>
            <a:r>
              <a:rPr sz="1300" b="1" i="0">
                <a:solidFill>
                  <a:srgbClr val="1B2254"/>
                </a:solidFill>
                <a:latin typeface="Calibri"/>
              </a:rPr>
              <a:t>Logistic Regression</a:t>
            </a:r>
          </a:p>
        </p:txBody>
      </p:sp>
      <p:sp>
        <p:nvSpPr>
          <p:cNvPr id="10" name="TextBox 9"/>
          <p:cNvSpPr txBox="1"/>
          <p:nvPr/>
        </p:nvSpPr>
        <p:spPr>
          <a:xfrm>
            <a:off x="515760" y="2070000"/>
            <a:ext cx="2439144" cy="240000"/>
          </a:xfrm>
          <a:prstGeom prst="rect">
            <a:avLst/>
          </a:prstGeom>
          <a:noFill/>
        </p:spPr>
        <p:txBody>
          <a:bodyPr wrap="square" lIns="0" tIns="0" rIns="0" bIns="0">
            <a:spAutoFit/>
          </a:bodyPr>
          <a:lstStyle/>
          <a:p>
            <a:pPr algn="l"/>
            <a:r>
              <a:rPr sz="950" b="0" i="0">
                <a:solidFill>
                  <a:srgbClr val="64748B"/>
                </a:solidFill>
                <a:latin typeface="Calibri"/>
              </a:rPr>
              <a:t>Accuracy</a:t>
            </a:r>
          </a:p>
        </p:txBody>
      </p:sp>
      <p:sp>
        <p:nvSpPr>
          <p:cNvPr id="11" name="TextBox 10"/>
          <p:cNvSpPr txBox="1"/>
          <p:nvPr/>
        </p:nvSpPr>
        <p:spPr>
          <a:xfrm>
            <a:off x="515760" y="2290000"/>
            <a:ext cx="2439144" cy="420000"/>
          </a:xfrm>
          <a:prstGeom prst="rect">
            <a:avLst/>
          </a:prstGeom>
          <a:noFill/>
        </p:spPr>
        <p:txBody>
          <a:bodyPr wrap="square" lIns="0" tIns="0" rIns="0" bIns="0">
            <a:spAutoFit/>
          </a:bodyPr>
          <a:lstStyle/>
          <a:p>
            <a:pPr algn="l"/>
            <a:r>
              <a:rPr sz="2000" b="1" i="0">
                <a:solidFill>
                  <a:srgbClr val="1B2254"/>
                </a:solidFill>
                <a:latin typeface="Calibri"/>
              </a:rPr>
              <a:t>90.55%</a:t>
            </a:r>
          </a:p>
        </p:txBody>
      </p:sp>
      <p:sp>
        <p:nvSpPr>
          <p:cNvPr id="12" name="TextBox 11"/>
          <p:cNvSpPr txBox="1"/>
          <p:nvPr/>
        </p:nvSpPr>
        <p:spPr>
          <a:xfrm>
            <a:off x="515760" y="2710000"/>
            <a:ext cx="2439144" cy="240000"/>
          </a:xfrm>
          <a:prstGeom prst="rect">
            <a:avLst/>
          </a:prstGeom>
          <a:noFill/>
        </p:spPr>
        <p:txBody>
          <a:bodyPr wrap="square" lIns="0" tIns="0" rIns="0" bIns="0">
            <a:spAutoFit/>
          </a:bodyPr>
          <a:lstStyle/>
          <a:p>
            <a:pPr algn="l"/>
            <a:r>
              <a:rPr sz="950" b="0" i="0">
                <a:solidFill>
                  <a:srgbClr val="64748B"/>
                </a:solidFill>
                <a:latin typeface="Calibri"/>
              </a:rPr>
              <a:t>ROC-AUC</a:t>
            </a:r>
          </a:p>
        </p:txBody>
      </p:sp>
      <p:sp>
        <p:nvSpPr>
          <p:cNvPr id="13" name="TextBox 12"/>
          <p:cNvSpPr txBox="1"/>
          <p:nvPr/>
        </p:nvSpPr>
        <p:spPr>
          <a:xfrm>
            <a:off x="515760" y="2930000"/>
            <a:ext cx="2439144" cy="420000"/>
          </a:xfrm>
          <a:prstGeom prst="rect">
            <a:avLst/>
          </a:prstGeom>
          <a:noFill/>
        </p:spPr>
        <p:txBody>
          <a:bodyPr wrap="square" lIns="0" tIns="0" rIns="0" bIns="0">
            <a:spAutoFit/>
          </a:bodyPr>
          <a:lstStyle/>
          <a:p>
            <a:pPr algn="l"/>
            <a:r>
              <a:rPr sz="2000" b="1" i="0">
                <a:solidFill>
                  <a:srgbClr val="1B2254"/>
                </a:solidFill>
                <a:latin typeface="Calibri"/>
              </a:rPr>
              <a:t>97.86%</a:t>
            </a:r>
          </a:p>
        </p:txBody>
      </p:sp>
      <p:sp>
        <p:nvSpPr>
          <p:cNvPr id="14" name="TextBox 13"/>
          <p:cNvSpPr txBox="1"/>
          <p:nvPr/>
        </p:nvSpPr>
        <p:spPr>
          <a:xfrm>
            <a:off x="515760" y="3350000"/>
            <a:ext cx="2439144" cy="240000"/>
          </a:xfrm>
          <a:prstGeom prst="rect">
            <a:avLst/>
          </a:prstGeom>
          <a:noFill/>
        </p:spPr>
        <p:txBody>
          <a:bodyPr wrap="square" lIns="0" tIns="0" rIns="0" bIns="0">
            <a:spAutoFit/>
          </a:bodyPr>
          <a:lstStyle/>
          <a:p>
            <a:pPr algn="l"/>
            <a:r>
              <a:rPr sz="950" b="0" i="0">
                <a:solidFill>
                  <a:srgbClr val="64748B"/>
                </a:solidFill>
                <a:latin typeface="Calibri"/>
              </a:rPr>
              <a:t>F1 Score</a:t>
            </a:r>
          </a:p>
        </p:txBody>
      </p:sp>
      <p:sp>
        <p:nvSpPr>
          <p:cNvPr id="15" name="TextBox 14"/>
          <p:cNvSpPr txBox="1"/>
          <p:nvPr/>
        </p:nvSpPr>
        <p:spPr>
          <a:xfrm>
            <a:off x="515760" y="3570000"/>
            <a:ext cx="2439144" cy="420000"/>
          </a:xfrm>
          <a:prstGeom prst="rect">
            <a:avLst/>
          </a:prstGeom>
          <a:noFill/>
        </p:spPr>
        <p:txBody>
          <a:bodyPr wrap="square" lIns="0" tIns="0" rIns="0" bIns="0">
            <a:spAutoFit/>
          </a:bodyPr>
          <a:lstStyle/>
          <a:p>
            <a:pPr algn="l"/>
            <a:r>
              <a:rPr sz="2000" b="1" i="0">
                <a:solidFill>
                  <a:srgbClr val="1B2254"/>
                </a:solidFill>
                <a:latin typeface="Calibri"/>
              </a:rPr>
              <a:t>88.71%</a:t>
            </a:r>
          </a:p>
        </p:txBody>
      </p:sp>
      <p:sp>
        <p:nvSpPr>
          <p:cNvPr id="16" name="Rounded Rectangle 15"/>
          <p:cNvSpPr/>
          <p:nvPr/>
        </p:nvSpPr>
        <p:spPr>
          <a:xfrm>
            <a:off x="3211571" y="1500000"/>
            <a:ext cx="2739144" cy="2650000"/>
          </a:xfrm>
          <a:prstGeom prst="roundRect">
            <a:avLst>
              <a:gd name="adj" fmla="val 6000"/>
            </a:avLst>
          </a:prstGeom>
          <a:solidFill>
            <a:srgbClr val="F0FDF4"/>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11571" y="1500000"/>
            <a:ext cx="2739144" cy="400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11571" y="1590000"/>
            <a:ext cx="2739144" cy="260000"/>
          </a:xfrm>
          <a:prstGeom prst="rect">
            <a:avLst/>
          </a:prstGeom>
          <a:noFill/>
        </p:spPr>
        <p:txBody>
          <a:bodyPr wrap="square" lIns="0" tIns="0" rIns="0" bIns="0">
            <a:spAutoFit/>
          </a:bodyPr>
          <a:lstStyle/>
          <a:p>
            <a:pPr algn="ctr"/>
            <a:r>
              <a:rPr sz="1050" b="1" i="0">
                <a:solidFill>
                  <a:srgbClr val="FFFFFF"/>
                </a:solidFill>
                <a:latin typeface="Calibri"/>
              </a:rPr>
              <a:t>🏆  BEST MODEL</a:t>
            </a:r>
          </a:p>
        </p:txBody>
      </p:sp>
      <p:sp>
        <p:nvSpPr>
          <p:cNvPr id="19" name="TextBox 18"/>
          <p:cNvSpPr txBox="1"/>
          <p:nvPr/>
        </p:nvSpPr>
        <p:spPr>
          <a:xfrm>
            <a:off x="3361571" y="2050000"/>
            <a:ext cx="2439144" cy="340000"/>
          </a:xfrm>
          <a:prstGeom prst="rect">
            <a:avLst/>
          </a:prstGeom>
          <a:noFill/>
        </p:spPr>
        <p:txBody>
          <a:bodyPr wrap="square" lIns="0" tIns="0" rIns="0" bIns="0">
            <a:spAutoFit/>
          </a:bodyPr>
          <a:lstStyle/>
          <a:p>
            <a:pPr algn="l"/>
            <a:r>
              <a:rPr sz="1300" b="1" i="0">
                <a:solidFill>
                  <a:srgbClr val="1B2254"/>
                </a:solidFill>
                <a:latin typeface="Calibri"/>
              </a:rPr>
              <a:t>Random Forest</a:t>
            </a:r>
          </a:p>
        </p:txBody>
      </p:sp>
      <p:sp>
        <p:nvSpPr>
          <p:cNvPr id="20" name="TextBox 19"/>
          <p:cNvSpPr txBox="1"/>
          <p:nvPr/>
        </p:nvSpPr>
        <p:spPr>
          <a:xfrm>
            <a:off x="3327158" y="2313477"/>
            <a:ext cx="2439144" cy="240000"/>
          </a:xfrm>
          <a:prstGeom prst="rect">
            <a:avLst/>
          </a:prstGeom>
          <a:noFill/>
        </p:spPr>
        <p:txBody>
          <a:bodyPr wrap="square" lIns="0" tIns="0" rIns="0" bIns="0">
            <a:spAutoFit/>
          </a:bodyPr>
          <a:lstStyle/>
          <a:p>
            <a:pPr algn="l"/>
            <a:r>
              <a:rPr sz="950" b="0" i="0" dirty="0">
                <a:solidFill>
                  <a:srgbClr val="64748B"/>
                </a:solidFill>
                <a:latin typeface="Calibri"/>
              </a:rPr>
              <a:t>Accuracy</a:t>
            </a:r>
          </a:p>
        </p:txBody>
      </p:sp>
      <p:sp>
        <p:nvSpPr>
          <p:cNvPr id="21" name="TextBox 20"/>
          <p:cNvSpPr txBox="1"/>
          <p:nvPr/>
        </p:nvSpPr>
        <p:spPr>
          <a:xfrm>
            <a:off x="3327158" y="2503202"/>
            <a:ext cx="2439144" cy="420000"/>
          </a:xfrm>
          <a:prstGeom prst="rect">
            <a:avLst/>
          </a:prstGeom>
          <a:noFill/>
        </p:spPr>
        <p:txBody>
          <a:bodyPr wrap="square" lIns="0" tIns="0" rIns="0" bIns="0">
            <a:spAutoFit/>
          </a:bodyPr>
          <a:lstStyle/>
          <a:p>
            <a:pPr algn="l"/>
            <a:r>
              <a:rPr sz="2000" b="1" i="0" dirty="0">
                <a:solidFill>
                  <a:srgbClr val="10B981"/>
                </a:solidFill>
                <a:latin typeface="Calibri"/>
              </a:rPr>
              <a:t>98.73%</a:t>
            </a:r>
          </a:p>
        </p:txBody>
      </p:sp>
      <p:sp>
        <p:nvSpPr>
          <p:cNvPr id="22" name="TextBox 21"/>
          <p:cNvSpPr txBox="1"/>
          <p:nvPr/>
        </p:nvSpPr>
        <p:spPr>
          <a:xfrm>
            <a:off x="3327158" y="2835163"/>
            <a:ext cx="2439144" cy="240000"/>
          </a:xfrm>
          <a:prstGeom prst="rect">
            <a:avLst/>
          </a:prstGeom>
          <a:noFill/>
        </p:spPr>
        <p:txBody>
          <a:bodyPr wrap="square" lIns="0" tIns="0" rIns="0" bIns="0">
            <a:spAutoFit/>
          </a:bodyPr>
          <a:lstStyle/>
          <a:p>
            <a:pPr algn="l"/>
            <a:r>
              <a:rPr sz="950" b="0" i="0" dirty="0">
                <a:solidFill>
                  <a:srgbClr val="64748B"/>
                </a:solidFill>
                <a:latin typeface="Calibri"/>
              </a:rPr>
              <a:t>ROC-AUC</a:t>
            </a:r>
          </a:p>
        </p:txBody>
      </p:sp>
      <p:sp>
        <p:nvSpPr>
          <p:cNvPr id="23" name="TextBox 22"/>
          <p:cNvSpPr txBox="1"/>
          <p:nvPr/>
        </p:nvSpPr>
        <p:spPr>
          <a:xfrm>
            <a:off x="3327158" y="2984531"/>
            <a:ext cx="2439144" cy="420000"/>
          </a:xfrm>
          <a:prstGeom prst="rect">
            <a:avLst/>
          </a:prstGeom>
          <a:noFill/>
        </p:spPr>
        <p:txBody>
          <a:bodyPr wrap="square" lIns="0" tIns="0" rIns="0" bIns="0">
            <a:spAutoFit/>
          </a:bodyPr>
          <a:lstStyle/>
          <a:p>
            <a:pPr algn="l"/>
            <a:r>
              <a:rPr sz="2000" b="1" i="0" dirty="0">
                <a:solidFill>
                  <a:srgbClr val="10B981"/>
                </a:solidFill>
                <a:latin typeface="Calibri"/>
              </a:rPr>
              <a:t>99.94%</a:t>
            </a:r>
          </a:p>
        </p:txBody>
      </p:sp>
      <p:sp>
        <p:nvSpPr>
          <p:cNvPr id="24" name="TextBox 23"/>
          <p:cNvSpPr txBox="1"/>
          <p:nvPr/>
        </p:nvSpPr>
        <p:spPr>
          <a:xfrm>
            <a:off x="3361571" y="3345860"/>
            <a:ext cx="2439144" cy="240000"/>
          </a:xfrm>
          <a:prstGeom prst="rect">
            <a:avLst/>
          </a:prstGeom>
          <a:noFill/>
        </p:spPr>
        <p:txBody>
          <a:bodyPr wrap="square" lIns="0" tIns="0" rIns="0" bIns="0">
            <a:spAutoFit/>
          </a:bodyPr>
          <a:lstStyle/>
          <a:p>
            <a:pPr algn="l"/>
            <a:r>
              <a:rPr sz="950" b="0" i="0" dirty="0">
                <a:solidFill>
                  <a:srgbClr val="64748B"/>
                </a:solidFill>
                <a:latin typeface="Calibri"/>
              </a:rPr>
              <a:t>F1 Score</a:t>
            </a:r>
          </a:p>
        </p:txBody>
      </p:sp>
      <p:sp>
        <p:nvSpPr>
          <p:cNvPr id="25" name="TextBox 24"/>
          <p:cNvSpPr txBox="1"/>
          <p:nvPr/>
        </p:nvSpPr>
        <p:spPr>
          <a:xfrm>
            <a:off x="3327158" y="3535260"/>
            <a:ext cx="2439144" cy="420000"/>
          </a:xfrm>
          <a:prstGeom prst="rect">
            <a:avLst/>
          </a:prstGeom>
          <a:noFill/>
        </p:spPr>
        <p:txBody>
          <a:bodyPr wrap="square" lIns="0" tIns="0" rIns="0" bIns="0">
            <a:spAutoFit/>
          </a:bodyPr>
          <a:lstStyle/>
          <a:p>
            <a:pPr algn="l"/>
            <a:r>
              <a:rPr sz="2000" b="1" i="0" dirty="0">
                <a:solidFill>
                  <a:srgbClr val="10B981"/>
                </a:solidFill>
                <a:latin typeface="Calibri"/>
              </a:rPr>
              <a:t>98.54%</a:t>
            </a:r>
          </a:p>
        </p:txBody>
      </p:sp>
      <p:sp>
        <p:nvSpPr>
          <p:cNvPr id="26" name="Rounded Rectangle 25"/>
          <p:cNvSpPr/>
          <p:nvPr/>
        </p:nvSpPr>
        <p:spPr>
          <a:xfrm>
            <a:off x="6057382" y="1500000"/>
            <a:ext cx="2739144" cy="265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7382" y="1650000"/>
            <a:ext cx="2439144" cy="340000"/>
          </a:xfrm>
          <a:prstGeom prst="rect">
            <a:avLst/>
          </a:prstGeom>
          <a:noFill/>
        </p:spPr>
        <p:txBody>
          <a:bodyPr wrap="square" lIns="0" tIns="0" rIns="0" bIns="0">
            <a:spAutoFit/>
          </a:bodyPr>
          <a:lstStyle/>
          <a:p>
            <a:pPr algn="l"/>
            <a:r>
              <a:rPr sz="1300" b="1" i="0">
                <a:solidFill>
                  <a:srgbClr val="1B2254"/>
                </a:solidFill>
                <a:latin typeface="Calibri"/>
              </a:rPr>
              <a:t>XGBoost (GBM)</a:t>
            </a:r>
          </a:p>
        </p:txBody>
      </p:sp>
      <p:sp>
        <p:nvSpPr>
          <p:cNvPr id="28" name="TextBox 27"/>
          <p:cNvSpPr txBox="1"/>
          <p:nvPr/>
        </p:nvSpPr>
        <p:spPr>
          <a:xfrm>
            <a:off x="6207382" y="2070000"/>
            <a:ext cx="2439144" cy="240000"/>
          </a:xfrm>
          <a:prstGeom prst="rect">
            <a:avLst/>
          </a:prstGeom>
          <a:noFill/>
        </p:spPr>
        <p:txBody>
          <a:bodyPr wrap="square" lIns="0" tIns="0" rIns="0" bIns="0">
            <a:spAutoFit/>
          </a:bodyPr>
          <a:lstStyle/>
          <a:p>
            <a:pPr algn="l"/>
            <a:r>
              <a:rPr sz="950" b="0" i="0">
                <a:solidFill>
                  <a:srgbClr val="64748B"/>
                </a:solidFill>
                <a:latin typeface="Calibri"/>
              </a:rPr>
              <a:t>Accuracy</a:t>
            </a:r>
          </a:p>
        </p:txBody>
      </p:sp>
      <p:sp>
        <p:nvSpPr>
          <p:cNvPr id="29" name="TextBox 28"/>
          <p:cNvSpPr txBox="1"/>
          <p:nvPr/>
        </p:nvSpPr>
        <p:spPr>
          <a:xfrm>
            <a:off x="6207382" y="2290000"/>
            <a:ext cx="2439144" cy="420000"/>
          </a:xfrm>
          <a:prstGeom prst="rect">
            <a:avLst/>
          </a:prstGeom>
          <a:noFill/>
        </p:spPr>
        <p:txBody>
          <a:bodyPr wrap="square" lIns="0" tIns="0" rIns="0" bIns="0">
            <a:spAutoFit/>
          </a:bodyPr>
          <a:lstStyle/>
          <a:p>
            <a:pPr algn="l"/>
            <a:r>
              <a:rPr sz="2000" b="1" i="0">
                <a:solidFill>
                  <a:srgbClr val="1B2254"/>
                </a:solidFill>
                <a:latin typeface="Calibri"/>
              </a:rPr>
              <a:t>97.70%</a:t>
            </a:r>
          </a:p>
        </p:txBody>
      </p:sp>
      <p:sp>
        <p:nvSpPr>
          <p:cNvPr id="30" name="TextBox 29"/>
          <p:cNvSpPr txBox="1"/>
          <p:nvPr/>
        </p:nvSpPr>
        <p:spPr>
          <a:xfrm>
            <a:off x="6207382" y="2710000"/>
            <a:ext cx="2439144" cy="240000"/>
          </a:xfrm>
          <a:prstGeom prst="rect">
            <a:avLst/>
          </a:prstGeom>
          <a:noFill/>
        </p:spPr>
        <p:txBody>
          <a:bodyPr wrap="square" lIns="0" tIns="0" rIns="0" bIns="0">
            <a:spAutoFit/>
          </a:bodyPr>
          <a:lstStyle/>
          <a:p>
            <a:pPr algn="l"/>
            <a:r>
              <a:rPr sz="950" b="0" i="0">
                <a:solidFill>
                  <a:srgbClr val="64748B"/>
                </a:solidFill>
                <a:latin typeface="Calibri"/>
              </a:rPr>
              <a:t>ROC-AUC</a:t>
            </a:r>
          </a:p>
        </p:txBody>
      </p:sp>
      <p:sp>
        <p:nvSpPr>
          <p:cNvPr id="31" name="TextBox 30"/>
          <p:cNvSpPr txBox="1"/>
          <p:nvPr/>
        </p:nvSpPr>
        <p:spPr>
          <a:xfrm>
            <a:off x="6207382" y="2930000"/>
            <a:ext cx="2439144" cy="420000"/>
          </a:xfrm>
          <a:prstGeom prst="rect">
            <a:avLst/>
          </a:prstGeom>
          <a:noFill/>
        </p:spPr>
        <p:txBody>
          <a:bodyPr wrap="square" lIns="0" tIns="0" rIns="0" bIns="0">
            <a:spAutoFit/>
          </a:bodyPr>
          <a:lstStyle/>
          <a:p>
            <a:pPr algn="l"/>
            <a:r>
              <a:rPr sz="2000" b="1" i="0">
                <a:solidFill>
                  <a:srgbClr val="1B2254"/>
                </a:solidFill>
                <a:latin typeface="Calibri"/>
              </a:rPr>
              <a:t>99.90%</a:t>
            </a:r>
          </a:p>
        </p:txBody>
      </p:sp>
      <p:sp>
        <p:nvSpPr>
          <p:cNvPr id="32" name="TextBox 31"/>
          <p:cNvSpPr txBox="1"/>
          <p:nvPr/>
        </p:nvSpPr>
        <p:spPr>
          <a:xfrm>
            <a:off x="6207382" y="3350000"/>
            <a:ext cx="2439144" cy="240000"/>
          </a:xfrm>
          <a:prstGeom prst="rect">
            <a:avLst/>
          </a:prstGeom>
          <a:noFill/>
        </p:spPr>
        <p:txBody>
          <a:bodyPr wrap="square" lIns="0" tIns="0" rIns="0" bIns="0">
            <a:spAutoFit/>
          </a:bodyPr>
          <a:lstStyle/>
          <a:p>
            <a:pPr algn="l"/>
            <a:r>
              <a:rPr sz="950" b="0" i="0">
                <a:solidFill>
                  <a:srgbClr val="64748B"/>
                </a:solidFill>
                <a:latin typeface="Calibri"/>
              </a:rPr>
              <a:t>F1 Score</a:t>
            </a:r>
          </a:p>
        </p:txBody>
      </p:sp>
      <p:sp>
        <p:nvSpPr>
          <p:cNvPr id="33" name="TextBox 32"/>
          <p:cNvSpPr txBox="1"/>
          <p:nvPr/>
        </p:nvSpPr>
        <p:spPr>
          <a:xfrm>
            <a:off x="6207382" y="3570000"/>
            <a:ext cx="2439144" cy="420000"/>
          </a:xfrm>
          <a:prstGeom prst="rect">
            <a:avLst/>
          </a:prstGeom>
          <a:noFill/>
        </p:spPr>
        <p:txBody>
          <a:bodyPr wrap="square" lIns="0" tIns="0" rIns="0" bIns="0">
            <a:spAutoFit/>
          </a:bodyPr>
          <a:lstStyle/>
          <a:p>
            <a:pPr algn="l"/>
            <a:r>
              <a:rPr sz="2000" b="1" i="0">
                <a:solidFill>
                  <a:srgbClr val="1B2254"/>
                </a:solidFill>
                <a:latin typeface="Calibri"/>
              </a:rPr>
              <a:t>97.38%</a:t>
            </a:r>
          </a:p>
        </p:txBody>
      </p:sp>
      <p:sp>
        <p:nvSpPr>
          <p:cNvPr id="35" name="Oval 34"/>
          <p:cNvSpPr/>
          <p:nvPr/>
        </p:nvSpPr>
        <p:spPr>
          <a:xfrm>
            <a:off x="5834476" y="47050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36" name="TextBox 35"/>
          <p:cNvSpPr txBox="1"/>
          <p:nvPr/>
        </p:nvSpPr>
        <p:spPr>
          <a:xfrm>
            <a:off x="515760" y="5345000"/>
            <a:ext cx="11157432" cy="340000"/>
          </a:xfrm>
          <a:prstGeom prst="rect">
            <a:avLst/>
          </a:prstGeom>
          <a:noFill/>
        </p:spPr>
        <p:txBody>
          <a:bodyPr wrap="square" lIns="0" tIns="0" rIns="0" bIns="0">
            <a:spAutoFit/>
          </a:bodyPr>
          <a:lstStyle/>
          <a:p>
            <a:pPr algn="ctr"/>
            <a:r>
              <a:rPr sz="1250" b="1" i="0">
                <a:solidFill>
                  <a:srgbClr val="1B2254"/>
                </a:solidFill>
                <a:latin typeface="Calibri"/>
              </a:rPr>
              <a:t>Confusion Matrix — Random Forest (Best Model)</a:t>
            </a:r>
          </a:p>
        </p:txBody>
      </p:sp>
      <p:sp>
        <p:nvSpPr>
          <p:cNvPr id="37" name="TextBox 36"/>
          <p:cNvSpPr txBox="1"/>
          <p:nvPr/>
        </p:nvSpPr>
        <p:spPr>
          <a:xfrm>
            <a:off x="515760" y="5645000"/>
            <a:ext cx="11157432" cy="300000"/>
          </a:xfrm>
          <a:prstGeom prst="rect">
            <a:avLst/>
          </a:prstGeom>
          <a:noFill/>
        </p:spPr>
        <p:txBody>
          <a:bodyPr wrap="square" lIns="0" tIns="0" rIns="0" bIns="0">
            <a:spAutoFit/>
          </a:bodyPr>
          <a:lstStyle/>
          <a:p>
            <a:pPr algn="ctr"/>
            <a:r>
              <a:rPr sz="950" b="0" i="1">
                <a:solidFill>
                  <a:srgbClr val="64748B"/>
                </a:solidFill>
                <a:latin typeface="Calibri"/>
              </a:rPr>
              <a:t>Insert confusion matrix from Classification_HighValueCustomer.ipynb</a:t>
            </a:r>
          </a:p>
        </p:txBody>
      </p:sp>
      <p:pic>
        <p:nvPicPr>
          <p:cNvPr id="39" name="Picture 38">
            <a:extLst>
              <a:ext uri="{FF2B5EF4-FFF2-40B4-BE49-F238E27FC236}">
                <a16:creationId xmlns:a16="http://schemas.microsoft.com/office/drawing/2014/main" id="{D747FC42-34E3-FC2C-D29E-06708A5C540F}"/>
              </a:ext>
            </a:extLst>
          </p:cNvPr>
          <p:cNvPicPr>
            <a:picLocks noChangeAspect="1"/>
          </p:cNvPicPr>
          <p:nvPr/>
        </p:nvPicPr>
        <p:blipFill>
          <a:blip r:embed="rId2"/>
          <a:stretch>
            <a:fillRect/>
          </a:stretch>
        </p:blipFill>
        <p:spPr>
          <a:xfrm>
            <a:off x="365760" y="4226663"/>
            <a:ext cx="10073640" cy="212841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Feature Importance &amp; Cross-Validation</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8" name="Oval 7"/>
          <p:cNvSpPr/>
          <p:nvPr/>
        </p:nvSpPr>
        <p:spPr>
          <a:xfrm>
            <a:off x="2834476" y="20706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9" name="TextBox 8"/>
          <p:cNvSpPr txBox="1"/>
          <p:nvPr/>
        </p:nvSpPr>
        <p:spPr>
          <a:xfrm>
            <a:off x="515760" y="2710600"/>
            <a:ext cx="5157432" cy="340000"/>
          </a:xfrm>
          <a:prstGeom prst="rect">
            <a:avLst/>
          </a:prstGeom>
          <a:noFill/>
        </p:spPr>
        <p:txBody>
          <a:bodyPr wrap="square" lIns="0" tIns="0" rIns="0" bIns="0">
            <a:spAutoFit/>
          </a:bodyPr>
          <a:lstStyle/>
          <a:p>
            <a:pPr algn="ctr"/>
            <a:r>
              <a:rPr sz="1250" b="1" i="0">
                <a:solidFill>
                  <a:srgbClr val="1B2254"/>
                </a:solidFill>
                <a:latin typeface="Calibri"/>
              </a:rPr>
              <a:t>Feature Importance (Random Forest)</a:t>
            </a:r>
          </a:p>
        </p:txBody>
      </p:sp>
      <p:sp>
        <p:nvSpPr>
          <p:cNvPr id="10" name="TextBox 9"/>
          <p:cNvSpPr txBox="1"/>
          <p:nvPr/>
        </p:nvSpPr>
        <p:spPr>
          <a:xfrm>
            <a:off x="515760" y="3010600"/>
            <a:ext cx="5157432" cy="300000"/>
          </a:xfrm>
          <a:prstGeom prst="rect">
            <a:avLst/>
          </a:prstGeom>
          <a:noFill/>
        </p:spPr>
        <p:txBody>
          <a:bodyPr wrap="square" lIns="0" tIns="0" rIns="0" bIns="0">
            <a:spAutoFit/>
          </a:bodyPr>
          <a:lstStyle/>
          <a:p>
            <a:pPr algn="ctr"/>
            <a:r>
              <a:rPr sz="950" b="0" i="1">
                <a:solidFill>
                  <a:srgbClr val="64748B"/>
                </a:solidFill>
                <a:latin typeface="Calibri"/>
              </a:rPr>
              <a:t>Insert bar chart from Classification_HighValueCustomer.ipynb</a:t>
            </a:r>
          </a:p>
        </p:txBody>
      </p:sp>
      <p:sp>
        <p:nvSpPr>
          <p:cNvPr id="11" name="TextBox 10"/>
          <p:cNvSpPr txBox="1"/>
          <p:nvPr/>
        </p:nvSpPr>
        <p:spPr>
          <a:xfrm>
            <a:off x="511200" y="4320000"/>
            <a:ext cx="5457432" cy="400000"/>
          </a:xfrm>
          <a:prstGeom prst="rect">
            <a:avLst/>
          </a:prstGeom>
          <a:noFill/>
        </p:spPr>
        <p:txBody>
          <a:bodyPr wrap="square" lIns="0" tIns="0" rIns="0" bIns="0">
            <a:spAutoFit/>
          </a:bodyPr>
          <a:lstStyle/>
          <a:p>
            <a:pPr algn="l"/>
            <a:r>
              <a:rPr sz="1150" b="1" i="0" dirty="0">
                <a:solidFill>
                  <a:srgbClr val="1B2254"/>
                </a:solidFill>
                <a:latin typeface="Calibri"/>
              </a:rPr>
              <a:t>Monetary 45.4%  ·  Frequency 37.4%  ·  Recency 17.2%</a:t>
            </a:r>
          </a:p>
        </p:txBody>
      </p:sp>
      <p:sp>
        <p:nvSpPr>
          <p:cNvPr id="12" name="TextBox 11"/>
          <p:cNvSpPr txBox="1"/>
          <p:nvPr/>
        </p:nvSpPr>
        <p:spPr>
          <a:xfrm>
            <a:off x="6400800" y="990600"/>
            <a:ext cx="5457432" cy="320000"/>
          </a:xfrm>
          <a:prstGeom prst="rect">
            <a:avLst/>
          </a:prstGeom>
          <a:noFill/>
        </p:spPr>
        <p:txBody>
          <a:bodyPr wrap="square" lIns="0" tIns="0" rIns="0" bIns="0">
            <a:spAutoFit/>
          </a:bodyPr>
          <a:lstStyle/>
          <a:p>
            <a:pPr algn="l"/>
            <a:r>
              <a:rPr sz="1500" b="1" i="0">
                <a:solidFill>
                  <a:srgbClr val="1B2254"/>
                </a:solidFill>
                <a:latin typeface="Calibri"/>
              </a:rPr>
              <a:t>5-Fold Cross-Validation</a:t>
            </a:r>
          </a:p>
        </p:txBody>
      </p:sp>
      <p:sp>
        <p:nvSpPr>
          <p:cNvPr id="13" name="Rounded Rectangle 12"/>
          <p:cNvSpPr/>
          <p:nvPr/>
        </p:nvSpPr>
        <p:spPr>
          <a:xfrm>
            <a:off x="6400800" y="1420000"/>
            <a:ext cx="5457432" cy="65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0800" y="1480000"/>
            <a:ext cx="3200000" cy="530000"/>
          </a:xfrm>
          <a:prstGeom prst="rect">
            <a:avLst/>
          </a:prstGeom>
          <a:noFill/>
        </p:spPr>
        <p:txBody>
          <a:bodyPr wrap="square" lIns="0" tIns="0" rIns="0" bIns="0" anchor="ctr">
            <a:spAutoFit/>
          </a:bodyPr>
          <a:lstStyle/>
          <a:p>
            <a:pPr algn="l"/>
            <a:r>
              <a:rPr sz="1200" b="1" i="0">
                <a:solidFill>
                  <a:srgbClr val="1B2254"/>
                </a:solidFill>
                <a:latin typeface="Calibri"/>
              </a:rPr>
              <a:t>Random Forest</a:t>
            </a:r>
          </a:p>
        </p:txBody>
      </p:sp>
      <p:sp>
        <p:nvSpPr>
          <p:cNvPr id="15" name="TextBox 14"/>
          <p:cNvSpPr txBox="1"/>
          <p:nvPr/>
        </p:nvSpPr>
        <p:spPr>
          <a:xfrm>
            <a:off x="9800000" y="1480000"/>
            <a:ext cx="1900000" cy="530000"/>
          </a:xfrm>
          <a:prstGeom prst="rect">
            <a:avLst/>
          </a:prstGeom>
          <a:noFill/>
        </p:spPr>
        <p:txBody>
          <a:bodyPr wrap="square" lIns="0" tIns="0" rIns="0" bIns="0" anchor="ctr">
            <a:spAutoFit/>
          </a:bodyPr>
          <a:lstStyle/>
          <a:p>
            <a:pPr algn="r"/>
            <a:r>
              <a:rPr sz="1300" b="1" i="0">
                <a:solidFill>
                  <a:srgbClr val="10B981"/>
                </a:solidFill>
                <a:latin typeface="Calibri"/>
              </a:rPr>
              <a:t>98.6% ± 0.4%</a:t>
            </a:r>
          </a:p>
        </p:txBody>
      </p:sp>
      <p:sp>
        <p:nvSpPr>
          <p:cNvPr id="16" name="Rounded Rectangle 15"/>
          <p:cNvSpPr/>
          <p:nvPr/>
        </p:nvSpPr>
        <p:spPr>
          <a:xfrm>
            <a:off x="6400800" y="2170000"/>
            <a:ext cx="5457432" cy="65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0800" y="2230000"/>
            <a:ext cx="3200000" cy="530000"/>
          </a:xfrm>
          <a:prstGeom prst="rect">
            <a:avLst/>
          </a:prstGeom>
          <a:noFill/>
        </p:spPr>
        <p:txBody>
          <a:bodyPr wrap="square" lIns="0" tIns="0" rIns="0" bIns="0" anchor="ctr">
            <a:spAutoFit/>
          </a:bodyPr>
          <a:lstStyle/>
          <a:p>
            <a:pPr algn="l"/>
            <a:r>
              <a:rPr sz="1200" b="1" i="0">
                <a:solidFill>
                  <a:srgbClr val="1B2254"/>
                </a:solidFill>
                <a:latin typeface="Calibri"/>
              </a:rPr>
              <a:t>XGBoost</a:t>
            </a:r>
          </a:p>
        </p:txBody>
      </p:sp>
      <p:sp>
        <p:nvSpPr>
          <p:cNvPr id="18" name="TextBox 17"/>
          <p:cNvSpPr txBox="1"/>
          <p:nvPr/>
        </p:nvSpPr>
        <p:spPr>
          <a:xfrm>
            <a:off x="9800000" y="2230000"/>
            <a:ext cx="1900000" cy="530000"/>
          </a:xfrm>
          <a:prstGeom prst="rect">
            <a:avLst/>
          </a:prstGeom>
          <a:noFill/>
        </p:spPr>
        <p:txBody>
          <a:bodyPr wrap="square" lIns="0" tIns="0" rIns="0" bIns="0" anchor="ctr">
            <a:spAutoFit/>
          </a:bodyPr>
          <a:lstStyle/>
          <a:p>
            <a:pPr algn="r"/>
            <a:r>
              <a:rPr sz="1300" b="1" i="0">
                <a:solidFill>
                  <a:srgbClr val="0296C7"/>
                </a:solidFill>
                <a:latin typeface="Calibri"/>
              </a:rPr>
              <a:t>97.5% ± 0.5%</a:t>
            </a:r>
          </a:p>
        </p:txBody>
      </p:sp>
      <p:sp>
        <p:nvSpPr>
          <p:cNvPr id="19" name="Rounded Rectangle 18"/>
          <p:cNvSpPr/>
          <p:nvPr/>
        </p:nvSpPr>
        <p:spPr>
          <a:xfrm>
            <a:off x="6400800" y="2920000"/>
            <a:ext cx="5457432" cy="65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0800" y="2980000"/>
            <a:ext cx="3200000" cy="530000"/>
          </a:xfrm>
          <a:prstGeom prst="rect">
            <a:avLst/>
          </a:prstGeom>
          <a:noFill/>
        </p:spPr>
        <p:txBody>
          <a:bodyPr wrap="square" lIns="0" tIns="0" rIns="0" bIns="0" anchor="ctr">
            <a:spAutoFit/>
          </a:bodyPr>
          <a:lstStyle/>
          <a:p>
            <a:pPr algn="l"/>
            <a:r>
              <a:rPr sz="1200" b="1" i="0">
                <a:solidFill>
                  <a:srgbClr val="1B2254"/>
                </a:solidFill>
                <a:latin typeface="Calibri"/>
              </a:rPr>
              <a:t>Logistic Regression</a:t>
            </a:r>
          </a:p>
        </p:txBody>
      </p:sp>
      <p:sp>
        <p:nvSpPr>
          <p:cNvPr id="21" name="TextBox 20"/>
          <p:cNvSpPr txBox="1"/>
          <p:nvPr/>
        </p:nvSpPr>
        <p:spPr>
          <a:xfrm>
            <a:off x="9800000" y="2980000"/>
            <a:ext cx="1900000" cy="530000"/>
          </a:xfrm>
          <a:prstGeom prst="rect">
            <a:avLst/>
          </a:prstGeom>
          <a:noFill/>
        </p:spPr>
        <p:txBody>
          <a:bodyPr wrap="square" lIns="0" tIns="0" rIns="0" bIns="0" anchor="ctr">
            <a:spAutoFit/>
          </a:bodyPr>
          <a:lstStyle/>
          <a:p>
            <a:pPr algn="r"/>
            <a:r>
              <a:rPr sz="1300" b="1" i="0">
                <a:solidFill>
                  <a:srgbClr val="64748B"/>
                </a:solidFill>
                <a:latin typeface="Calibri"/>
              </a:rPr>
              <a:t>90.3% ± 0.9%</a:t>
            </a:r>
          </a:p>
        </p:txBody>
      </p:sp>
      <p:sp>
        <p:nvSpPr>
          <p:cNvPr id="22" name="Rounded Rectangle 21"/>
          <p:cNvSpPr/>
          <p:nvPr/>
        </p:nvSpPr>
        <p:spPr>
          <a:xfrm>
            <a:off x="6400800" y="3770000"/>
            <a:ext cx="5457432" cy="950000"/>
          </a:xfrm>
          <a:prstGeom prst="roundRect">
            <a:avLst>
              <a:gd name="adj" fmla="val 600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0800" y="3890000"/>
            <a:ext cx="5100000" cy="700000"/>
          </a:xfrm>
          <a:prstGeom prst="rect">
            <a:avLst/>
          </a:prstGeom>
          <a:noFill/>
        </p:spPr>
        <p:txBody>
          <a:bodyPr wrap="square" lIns="0" tIns="0" rIns="0" bIns="0" anchor="ctr">
            <a:spAutoFit/>
          </a:bodyPr>
          <a:lstStyle/>
          <a:p>
            <a:pPr algn="l"/>
            <a:r>
              <a:rPr sz="1100" b="0" i="0">
                <a:solidFill>
                  <a:srgbClr val="333333"/>
                </a:solidFill>
                <a:latin typeface="Calibri"/>
              </a:rPr>
              <a:t>Cross-validation confirms model stability across all folds — no overfitting detected.</a:t>
            </a:r>
          </a:p>
        </p:txBody>
      </p:sp>
      <p:pic>
        <p:nvPicPr>
          <p:cNvPr id="25" name="Picture 24">
            <a:extLst>
              <a:ext uri="{FF2B5EF4-FFF2-40B4-BE49-F238E27FC236}">
                <a16:creationId xmlns:a16="http://schemas.microsoft.com/office/drawing/2014/main" id="{009B6A34-620B-AF92-6AB1-2304FAB23651}"/>
              </a:ext>
            </a:extLst>
          </p:cNvPr>
          <p:cNvPicPr>
            <a:picLocks noChangeAspect="1"/>
          </p:cNvPicPr>
          <p:nvPr/>
        </p:nvPicPr>
        <p:blipFill>
          <a:blip r:embed="rId2"/>
          <a:stretch>
            <a:fillRect/>
          </a:stretch>
        </p:blipFill>
        <p:spPr>
          <a:xfrm>
            <a:off x="355108" y="918298"/>
            <a:ext cx="5711923" cy="309738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Cancellation &amp; Returns Analysis</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Rectangle 6"/>
          <p:cNvSpPr/>
          <p:nvPr/>
        </p:nvSpPr>
        <p:spPr>
          <a:xfrm>
            <a:off x="365760" y="990600"/>
            <a:ext cx="2739144" cy="1100000"/>
          </a:xfrm>
          <a:prstGeom prst="rect">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082040"/>
            <a:ext cx="2464824" cy="274320"/>
          </a:xfrm>
          <a:prstGeom prst="rect">
            <a:avLst/>
          </a:prstGeom>
          <a:noFill/>
        </p:spPr>
        <p:txBody>
          <a:bodyPr wrap="square" lIns="0" tIns="0" rIns="0" bIns="0">
            <a:spAutoFit/>
          </a:bodyPr>
          <a:lstStyle/>
          <a:p>
            <a:pPr algn="l"/>
            <a:r>
              <a:rPr sz="1050" b="0" i="0">
                <a:solidFill>
                  <a:srgbClr val="64748B"/>
                </a:solidFill>
                <a:latin typeface="Calibri"/>
              </a:rPr>
              <a:t>Return Rows</a:t>
            </a:r>
          </a:p>
        </p:txBody>
      </p:sp>
      <p:sp>
        <p:nvSpPr>
          <p:cNvPr id="9" name="TextBox 8"/>
          <p:cNvSpPr txBox="1"/>
          <p:nvPr/>
        </p:nvSpPr>
        <p:spPr>
          <a:xfrm>
            <a:off x="502920" y="1356360"/>
            <a:ext cx="2464824" cy="457200"/>
          </a:xfrm>
          <a:prstGeom prst="rect">
            <a:avLst/>
          </a:prstGeom>
          <a:noFill/>
        </p:spPr>
        <p:txBody>
          <a:bodyPr wrap="square" lIns="0" tIns="0" rIns="0" bIns="0">
            <a:spAutoFit/>
          </a:bodyPr>
          <a:lstStyle/>
          <a:p>
            <a:pPr algn="l"/>
            <a:r>
              <a:rPr sz="2400" b="1" i="0">
                <a:solidFill>
                  <a:srgbClr val="EF4444"/>
                </a:solidFill>
                <a:latin typeface="Calibri"/>
              </a:rPr>
              <a:t>8,872</a:t>
            </a:r>
          </a:p>
        </p:txBody>
      </p:sp>
      <p:sp>
        <p:nvSpPr>
          <p:cNvPr id="10" name="Rectangle 9"/>
          <p:cNvSpPr/>
          <p:nvPr/>
        </p:nvSpPr>
        <p:spPr>
          <a:xfrm>
            <a:off x="3211571" y="990600"/>
            <a:ext cx="2739144" cy="1100000"/>
          </a:xfrm>
          <a:prstGeom prst="rect">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48731" y="1082040"/>
            <a:ext cx="2464824" cy="274320"/>
          </a:xfrm>
          <a:prstGeom prst="rect">
            <a:avLst/>
          </a:prstGeom>
          <a:noFill/>
        </p:spPr>
        <p:txBody>
          <a:bodyPr wrap="square" lIns="0" tIns="0" rIns="0" bIns="0">
            <a:spAutoFit/>
          </a:bodyPr>
          <a:lstStyle/>
          <a:p>
            <a:pPr algn="l"/>
            <a:r>
              <a:rPr sz="1050" b="0" i="0">
                <a:solidFill>
                  <a:srgbClr val="64748B"/>
                </a:solidFill>
                <a:latin typeface="Calibri"/>
              </a:rPr>
              <a:t>Unique Return Orders</a:t>
            </a:r>
          </a:p>
        </p:txBody>
      </p:sp>
      <p:sp>
        <p:nvSpPr>
          <p:cNvPr id="12" name="TextBox 11"/>
          <p:cNvSpPr txBox="1"/>
          <p:nvPr/>
        </p:nvSpPr>
        <p:spPr>
          <a:xfrm>
            <a:off x="3348731" y="1356360"/>
            <a:ext cx="2464824" cy="457200"/>
          </a:xfrm>
          <a:prstGeom prst="rect">
            <a:avLst/>
          </a:prstGeom>
          <a:noFill/>
        </p:spPr>
        <p:txBody>
          <a:bodyPr wrap="square" lIns="0" tIns="0" rIns="0" bIns="0">
            <a:spAutoFit/>
          </a:bodyPr>
          <a:lstStyle/>
          <a:p>
            <a:pPr algn="l"/>
            <a:r>
              <a:rPr sz="2400" b="1" i="0">
                <a:solidFill>
                  <a:srgbClr val="F59E0B"/>
                </a:solidFill>
                <a:latin typeface="Calibri"/>
              </a:rPr>
              <a:t>3,654</a:t>
            </a:r>
          </a:p>
        </p:txBody>
      </p:sp>
      <p:sp>
        <p:nvSpPr>
          <p:cNvPr id="13" name="Rectangle 12"/>
          <p:cNvSpPr/>
          <p:nvPr/>
        </p:nvSpPr>
        <p:spPr>
          <a:xfrm>
            <a:off x="6057382" y="990600"/>
            <a:ext cx="2739144" cy="1100000"/>
          </a:xfrm>
          <a:prstGeom prst="rect">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94542" y="1082040"/>
            <a:ext cx="2464824" cy="274320"/>
          </a:xfrm>
          <a:prstGeom prst="rect">
            <a:avLst/>
          </a:prstGeom>
          <a:noFill/>
        </p:spPr>
        <p:txBody>
          <a:bodyPr wrap="square" lIns="0" tIns="0" rIns="0" bIns="0">
            <a:spAutoFit/>
          </a:bodyPr>
          <a:lstStyle/>
          <a:p>
            <a:pPr algn="l"/>
            <a:r>
              <a:rPr sz="1050" b="0" i="0">
                <a:solidFill>
                  <a:srgbClr val="64748B"/>
                </a:solidFill>
                <a:latin typeface="Calibri"/>
              </a:rPr>
              <a:t>Returning Customers</a:t>
            </a:r>
          </a:p>
        </p:txBody>
      </p:sp>
      <p:sp>
        <p:nvSpPr>
          <p:cNvPr id="15" name="TextBox 14"/>
          <p:cNvSpPr txBox="1"/>
          <p:nvPr/>
        </p:nvSpPr>
        <p:spPr>
          <a:xfrm>
            <a:off x="6194542" y="1356360"/>
            <a:ext cx="2464824" cy="457200"/>
          </a:xfrm>
          <a:prstGeom prst="rect">
            <a:avLst/>
          </a:prstGeom>
          <a:noFill/>
        </p:spPr>
        <p:txBody>
          <a:bodyPr wrap="square" lIns="0" tIns="0" rIns="0" bIns="0">
            <a:spAutoFit/>
          </a:bodyPr>
          <a:lstStyle/>
          <a:p>
            <a:pPr algn="l"/>
            <a:r>
              <a:rPr sz="2400" b="1" i="0">
                <a:solidFill>
                  <a:srgbClr val="0296C7"/>
                </a:solidFill>
                <a:latin typeface="Calibri"/>
              </a:rPr>
              <a:t>1,589</a:t>
            </a:r>
          </a:p>
        </p:txBody>
      </p:sp>
      <p:sp>
        <p:nvSpPr>
          <p:cNvPr id="16" name="Rectangle 15"/>
          <p:cNvSpPr/>
          <p:nvPr/>
        </p:nvSpPr>
        <p:spPr>
          <a:xfrm>
            <a:off x="8903193" y="990600"/>
            <a:ext cx="2739144" cy="1100000"/>
          </a:xfrm>
          <a:prstGeom prst="rect">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40353" y="1082040"/>
            <a:ext cx="2464824" cy="274320"/>
          </a:xfrm>
          <a:prstGeom prst="rect">
            <a:avLst/>
          </a:prstGeom>
          <a:noFill/>
        </p:spPr>
        <p:txBody>
          <a:bodyPr wrap="square" lIns="0" tIns="0" rIns="0" bIns="0">
            <a:spAutoFit/>
          </a:bodyPr>
          <a:lstStyle/>
          <a:p>
            <a:pPr algn="l"/>
            <a:r>
              <a:rPr sz="1050" b="0" i="0">
                <a:solidFill>
                  <a:srgbClr val="64748B"/>
                </a:solidFill>
                <a:latin typeface="Calibri"/>
              </a:rPr>
              <a:t>Revenue Lost</a:t>
            </a:r>
          </a:p>
        </p:txBody>
      </p:sp>
      <p:sp>
        <p:nvSpPr>
          <p:cNvPr id="18" name="TextBox 17"/>
          <p:cNvSpPr txBox="1"/>
          <p:nvPr/>
        </p:nvSpPr>
        <p:spPr>
          <a:xfrm>
            <a:off x="9040353" y="1356360"/>
            <a:ext cx="2464824" cy="457200"/>
          </a:xfrm>
          <a:prstGeom prst="rect">
            <a:avLst/>
          </a:prstGeom>
          <a:noFill/>
        </p:spPr>
        <p:txBody>
          <a:bodyPr wrap="square" lIns="0" tIns="0" rIns="0" bIns="0">
            <a:spAutoFit/>
          </a:bodyPr>
          <a:lstStyle/>
          <a:p>
            <a:pPr algn="l"/>
            <a:r>
              <a:rPr sz="2400" b="1" i="0">
                <a:solidFill>
                  <a:srgbClr val="EF4444"/>
                </a:solidFill>
                <a:latin typeface="Calibri"/>
              </a:rPr>
              <a:t>£608,689</a:t>
            </a:r>
          </a:p>
        </p:txBody>
      </p:sp>
      <p:sp>
        <p:nvSpPr>
          <p:cNvPr id="19" name="TextBox 18"/>
          <p:cNvSpPr txBox="1"/>
          <p:nvPr/>
        </p:nvSpPr>
        <p:spPr>
          <a:xfrm>
            <a:off x="365760" y="2300000"/>
            <a:ext cx="5600000" cy="320000"/>
          </a:xfrm>
          <a:prstGeom prst="rect">
            <a:avLst/>
          </a:prstGeom>
          <a:noFill/>
        </p:spPr>
        <p:txBody>
          <a:bodyPr wrap="square" lIns="0" tIns="0" rIns="0" bIns="0">
            <a:spAutoFit/>
          </a:bodyPr>
          <a:lstStyle/>
          <a:p>
            <a:pPr algn="l"/>
            <a:r>
              <a:rPr sz="1350" b="1" i="0">
                <a:solidFill>
                  <a:srgbClr val="1B2254"/>
                </a:solidFill>
                <a:latin typeface="Calibri"/>
              </a:rPr>
              <a:t>Top Customers by Return Volume</a:t>
            </a:r>
          </a:p>
        </p:txBody>
      </p:sp>
      <p:sp>
        <p:nvSpPr>
          <p:cNvPr id="20" name="Rectangle 19"/>
          <p:cNvSpPr/>
          <p:nvPr/>
        </p:nvSpPr>
        <p:spPr>
          <a:xfrm>
            <a:off x="365760" y="2680000"/>
            <a:ext cx="5600000" cy="560000"/>
          </a:xfrm>
          <a:prstGeom prst="rect">
            <a:avLst/>
          </a:prstGeom>
          <a:solidFill>
            <a:srgbClr val="F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5760" y="2720000"/>
            <a:ext cx="1100000" cy="480000"/>
          </a:xfrm>
          <a:prstGeom prst="rect">
            <a:avLst/>
          </a:prstGeom>
          <a:noFill/>
        </p:spPr>
        <p:txBody>
          <a:bodyPr wrap="square" lIns="0" tIns="0" rIns="0" bIns="0" anchor="ctr">
            <a:spAutoFit/>
          </a:bodyPr>
          <a:lstStyle/>
          <a:p>
            <a:pPr algn="l"/>
            <a:r>
              <a:rPr sz="1100" b="1" i="0">
                <a:solidFill>
                  <a:srgbClr val="1B2254"/>
                </a:solidFill>
                <a:latin typeface="Calibri"/>
              </a:rPr>
              <a:t>ID 16446</a:t>
            </a:r>
          </a:p>
        </p:txBody>
      </p:sp>
      <p:sp>
        <p:nvSpPr>
          <p:cNvPr id="22" name="TextBox 21"/>
          <p:cNvSpPr txBox="1"/>
          <p:nvPr/>
        </p:nvSpPr>
        <p:spPr>
          <a:xfrm>
            <a:off x="1665760" y="2720000"/>
            <a:ext cx="1500000" cy="480000"/>
          </a:xfrm>
          <a:prstGeom prst="rect">
            <a:avLst/>
          </a:prstGeom>
          <a:noFill/>
        </p:spPr>
        <p:txBody>
          <a:bodyPr wrap="square" lIns="0" tIns="0" rIns="0" bIns="0" anchor="ctr">
            <a:spAutoFit/>
          </a:bodyPr>
          <a:lstStyle/>
          <a:p>
            <a:pPr algn="l"/>
            <a:r>
              <a:rPr sz="1100" b="1" i="0">
                <a:solidFill>
                  <a:srgbClr val="EF4444"/>
                </a:solidFill>
                <a:latin typeface="Calibri"/>
              </a:rPr>
              <a:t>80,995 units</a:t>
            </a:r>
          </a:p>
        </p:txBody>
      </p:sp>
      <p:sp>
        <p:nvSpPr>
          <p:cNvPr id="23" name="TextBox 22"/>
          <p:cNvSpPr txBox="1"/>
          <p:nvPr/>
        </p:nvSpPr>
        <p:spPr>
          <a:xfrm>
            <a:off x="3265760" y="2720000"/>
            <a:ext cx="2600000" cy="480000"/>
          </a:xfrm>
          <a:prstGeom prst="rect">
            <a:avLst/>
          </a:prstGeom>
          <a:noFill/>
        </p:spPr>
        <p:txBody>
          <a:bodyPr wrap="square" lIns="0" tIns="0" rIns="0" bIns="0" anchor="ctr">
            <a:spAutoFit/>
          </a:bodyPr>
          <a:lstStyle/>
          <a:p>
            <a:pPr algn="l"/>
            <a:r>
              <a:rPr sz="950" b="0" i="0">
                <a:solidFill>
                  <a:srgbClr val="EF4444"/>
                </a:solidFill>
                <a:latin typeface="Calibri"/>
              </a:rPr>
              <a:t>Investigate for fraud</a:t>
            </a:r>
          </a:p>
        </p:txBody>
      </p:sp>
      <p:sp>
        <p:nvSpPr>
          <p:cNvPr id="24" name="Rectangle 23"/>
          <p:cNvSpPr/>
          <p:nvPr/>
        </p:nvSpPr>
        <p:spPr>
          <a:xfrm>
            <a:off x="365760" y="3300000"/>
            <a:ext cx="5600000" cy="560000"/>
          </a:xfrm>
          <a:prstGeom prst="rect">
            <a:avLst/>
          </a:prstGeom>
          <a:solidFill>
            <a:srgbClr val="F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5760" y="3340000"/>
            <a:ext cx="1100000" cy="480000"/>
          </a:xfrm>
          <a:prstGeom prst="rect">
            <a:avLst/>
          </a:prstGeom>
          <a:noFill/>
        </p:spPr>
        <p:txBody>
          <a:bodyPr wrap="square" lIns="0" tIns="0" rIns="0" bIns="0" anchor="ctr">
            <a:spAutoFit/>
          </a:bodyPr>
          <a:lstStyle/>
          <a:p>
            <a:pPr algn="l"/>
            <a:r>
              <a:rPr sz="1100" b="1" i="0">
                <a:solidFill>
                  <a:srgbClr val="1B2254"/>
                </a:solidFill>
                <a:latin typeface="Calibri"/>
              </a:rPr>
              <a:t>ID 12346</a:t>
            </a:r>
          </a:p>
        </p:txBody>
      </p:sp>
      <p:sp>
        <p:nvSpPr>
          <p:cNvPr id="26" name="TextBox 25"/>
          <p:cNvSpPr txBox="1"/>
          <p:nvPr/>
        </p:nvSpPr>
        <p:spPr>
          <a:xfrm>
            <a:off x="1665760" y="3340000"/>
            <a:ext cx="1500000" cy="480000"/>
          </a:xfrm>
          <a:prstGeom prst="rect">
            <a:avLst/>
          </a:prstGeom>
          <a:noFill/>
        </p:spPr>
        <p:txBody>
          <a:bodyPr wrap="square" lIns="0" tIns="0" rIns="0" bIns="0" anchor="ctr">
            <a:spAutoFit/>
          </a:bodyPr>
          <a:lstStyle/>
          <a:p>
            <a:pPr algn="l"/>
            <a:r>
              <a:rPr sz="1100" b="1" i="0">
                <a:solidFill>
                  <a:srgbClr val="EF4444"/>
                </a:solidFill>
                <a:latin typeface="Calibri"/>
              </a:rPr>
              <a:t>74,215 units</a:t>
            </a:r>
          </a:p>
        </p:txBody>
      </p:sp>
      <p:sp>
        <p:nvSpPr>
          <p:cNvPr id="27" name="TextBox 26"/>
          <p:cNvSpPr txBox="1"/>
          <p:nvPr/>
        </p:nvSpPr>
        <p:spPr>
          <a:xfrm>
            <a:off x="3265760" y="3340000"/>
            <a:ext cx="2600000" cy="480000"/>
          </a:xfrm>
          <a:prstGeom prst="rect">
            <a:avLst/>
          </a:prstGeom>
          <a:noFill/>
        </p:spPr>
        <p:txBody>
          <a:bodyPr wrap="square" lIns="0" tIns="0" rIns="0" bIns="0" anchor="ctr">
            <a:spAutoFit/>
          </a:bodyPr>
          <a:lstStyle/>
          <a:p>
            <a:pPr algn="l"/>
            <a:r>
              <a:rPr sz="950" b="0" i="0">
                <a:solidFill>
                  <a:srgbClr val="EF4444"/>
                </a:solidFill>
                <a:latin typeface="Calibri"/>
              </a:rPr>
              <a:t>Likely wholesale cancellation</a:t>
            </a:r>
          </a:p>
        </p:txBody>
      </p:sp>
      <p:sp>
        <p:nvSpPr>
          <p:cNvPr id="28" name="Rectangle 27"/>
          <p:cNvSpPr/>
          <p:nvPr/>
        </p:nvSpPr>
        <p:spPr>
          <a:xfrm>
            <a:off x="365760" y="3920000"/>
            <a:ext cx="5600000" cy="56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5760" y="3960000"/>
            <a:ext cx="1100000" cy="480000"/>
          </a:xfrm>
          <a:prstGeom prst="rect">
            <a:avLst/>
          </a:prstGeom>
          <a:noFill/>
        </p:spPr>
        <p:txBody>
          <a:bodyPr wrap="square" lIns="0" tIns="0" rIns="0" bIns="0" anchor="ctr">
            <a:spAutoFit/>
          </a:bodyPr>
          <a:lstStyle/>
          <a:p>
            <a:pPr algn="l"/>
            <a:r>
              <a:rPr sz="1100" b="1" i="0">
                <a:solidFill>
                  <a:srgbClr val="1B2254"/>
                </a:solidFill>
                <a:latin typeface="Calibri"/>
              </a:rPr>
              <a:t>ID 15838</a:t>
            </a:r>
          </a:p>
        </p:txBody>
      </p:sp>
      <p:sp>
        <p:nvSpPr>
          <p:cNvPr id="30" name="TextBox 29"/>
          <p:cNvSpPr txBox="1"/>
          <p:nvPr/>
        </p:nvSpPr>
        <p:spPr>
          <a:xfrm>
            <a:off x="1665760" y="3960000"/>
            <a:ext cx="1500000" cy="480000"/>
          </a:xfrm>
          <a:prstGeom prst="rect">
            <a:avLst/>
          </a:prstGeom>
          <a:noFill/>
        </p:spPr>
        <p:txBody>
          <a:bodyPr wrap="square" lIns="0" tIns="0" rIns="0" bIns="0" anchor="ctr">
            <a:spAutoFit/>
          </a:bodyPr>
          <a:lstStyle/>
          <a:p>
            <a:pPr algn="l"/>
            <a:r>
              <a:rPr sz="1100" b="1" i="0">
                <a:solidFill>
                  <a:srgbClr val="64748B"/>
                </a:solidFill>
                <a:latin typeface="Calibri"/>
              </a:rPr>
              <a:t>9,361 units</a:t>
            </a:r>
          </a:p>
        </p:txBody>
      </p:sp>
      <p:sp>
        <p:nvSpPr>
          <p:cNvPr id="31" name="TextBox 30"/>
          <p:cNvSpPr txBox="1"/>
          <p:nvPr/>
        </p:nvSpPr>
        <p:spPr>
          <a:xfrm>
            <a:off x="3265760" y="3960000"/>
            <a:ext cx="2600000" cy="480000"/>
          </a:xfrm>
          <a:prstGeom prst="rect">
            <a:avLst/>
          </a:prstGeom>
          <a:noFill/>
        </p:spPr>
        <p:txBody>
          <a:bodyPr wrap="square" lIns="0" tIns="0" rIns="0" bIns="0" anchor="ctr">
            <a:spAutoFit/>
          </a:bodyPr>
          <a:lstStyle/>
          <a:p>
            <a:pPr algn="l"/>
            <a:r>
              <a:rPr sz="950" b="0" i="0">
                <a:solidFill>
                  <a:srgbClr val="64748B"/>
                </a:solidFill>
                <a:latin typeface="Calibri"/>
              </a:rPr>
              <a:t>Monitor</a:t>
            </a:r>
          </a:p>
        </p:txBody>
      </p:sp>
      <p:sp>
        <p:nvSpPr>
          <p:cNvPr id="32" name="Rectangle 31"/>
          <p:cNvSpPr/>
          <p:nvPr/>
        </p:nvSpPr>
        <p:spPr>
          <a:xfrm>
            <a:off x="365760" y="4540000"/>
            <a:ext cx="5600000" cy="56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95760" y="4580000"/>
            <a:ext cx="1100000" cy="480000"/>
          </a:xfrm>
          <a:prstGeom prst="rect">
            <a:avLst/>
          </a:prstGeom>
          <a:noFill/>
        </p:spPr>
        <p:txBody>
          <a:bodyPr wrap="square" lIns="0" tIns="0" rIns="0" bIns="0" anchor="ctr">
            <a:spAutoFit/>
          </a:bodyPr>
          <a:lstStyle/>
          <a:p>
            <a:pPr algn="l"/>
            <a:r>
              <a:rPr sz="1100" b="1" i="0">
                <a:solidFill>
                  <a:srgbClr val="1B2254"/>
                </a:solidFill>
                <a:latin typeface="Calibri"/>
              </a:rPr>
              <a:t>ID 15749</a:t>
            </a:r>
          </a:p>
        </p:txBody>
      </p:sp>
      <p:sp>
        <p:nvSpPr>
          <p:cNvPr id="34" name="TextBox 33"/>
          <p:cNvSpPr txBox="1"/>
          <p:nvPr/>
        </p:nvSpPr>
        <p:spPr>
          <a:xfrm>
            <a:off x="1665760" y="4580000"/>
            <a:ext cx="1500000" cy="480000"/>
          </a:xfrm>
          <a:prstGeom prst="rect">
            <a:avLst/>
          </a:prstGeom>
          <a:noFill/>
        </p:spPr>
        <p:txBody>
          <a:bodyPr wrap="square" lIns="0" tIns="0" rIns="0" bIns="0" anchor="ctr">
            <a:spAutoFit/>
          </a:bodyPr>
          <a:lstStyle/>
          <a:p>
            <a:pPr algn="l"/>
            <a:r>
              <a:rPr sz="1100" b="1" i="0">
                <a:solidFill>
                  <a:srgbClr val="64748B"/>
                </a:solidFill>
                <a:latin typeface="Calibri"/>
              </a:rPr>
              <a:t>9,014 units</a:t>
            </a:r>
          </a:p>
        </p:txBody>
      </p:sp>
      <p:sp>
        <p:nvSpPr>
          <p:cNvPr id="35" name="TextBox 34"/>
          <p:cNvSpPr txBox="1"/>
          <p:nvPr/>
        </p:nvSpPr>
        <p:spPr>
          <a:xfrm>
            <a:off x="3265760" y="4580000"/>
            <a:ext cx="2600000" cy="480000"/>
          </a:xfrm>
          <a:prstGeom prst="rect">
            <a:avLst/>
          </a:prstGeom>
          <a:noFill/>
        </p:spPr>
        <p:txBody>
          <a:bodyPr wrap="square" lIns="0" tIns="0" rIns="0" bIns="0" anchor="ctr">
            <a:spAutoFit/>
          </a:bodyPr>
          <a:lstStyle/>
          <a:p>
            <a:pPr algn="l"/>
            <a:r>
              <a:rPr sz="950" b="0" i="0">
                <a:solidFill>
                  <a:srgbClr val="64748B"/>
                </a:solidFill>
                <a:latin typeface="Calibri"/>
              </a:rPr>
              <a:t>Monitor</a:t>
            </a:r>
          </a:p>
        </p:txBody>
      </p:sp>
      <p:sp>
        <p:nvSpPr>
          <p:cNvPr id="36" name="TextBox 35"/>
          <p:cNvSpPr txBox="1"/>
          <p:nvPr/>
        </p:nvSpPr>
        <p:spPr>
          <a:xfrm>
            <a:off x="6400800" y="2300000"/>
            <a:ext cx="5457432" cy="320000"/>
          </a:xfrm>
          <a:prstGeom prst="rect">
            <a:avLst/>
          </a:prstGeom>
          <a:noFill/>
        </p:spPr>
        <p:txBody>
          <a:bodyPr wrap="square" lIns="0" tIns="0" rIns="0" bIns="0">
            <a:spAutoFit/>
          </a:bodyPr>
          <a:lstStyle/>
          <a:p>
            <a:pPr algn="l"/>
            <a:r>
              <a:rPr sz="1350" b="1" i="0">
                <a:solidFill>
                  <a:srgbClr val="1B2254"/>
                </a:solidFill>
                <a:latin typeface="Calibri"/>
              </a:rPr>
              <a:t>Key Insights</a:t>
            </a:r>
          </a:p>
        </p:txBody>
      </p:sp>
      <p:sp>
        <p:nvSpPr>
          <p:cNvPr id="37" name="Rectangle 36"/>
          <p:cNvSpPr/>
          <p:nvPr/>
        </p:nvSpPr>
        <p:spPr>
          <a:xfrm>
            <a:off x="6400800" y="2695000"/>
            <a:ext cx="55000" cy="40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20800" y="2680000"/>
            <a:ext cx="5237432" cy="500000"/>
          </a:xfrm>
          <a:prstGeom prst="rect">
            <a:avLst/>
          </a:prstGeom>
          <a:noFill/>
        </p:spPr>
        <p:txBody>
          <a:bodyPr wrap="square" lIns="0" tIns="0" rIns="0" bIns="0">
            <a:spAutoFit/>
          </a:bodyPr>
          <a:lstStyle/>
          <a:p>
            <a:pPr algn="l"/>
            <a:r>
              <a:rPr sz="1100" b="0" i="0">
                <a:solidFill>
                  <a:srgbClr val="333333"/>
                </a:solidFill>
                <a:latin typeface="Calibri"/>
              </a:rPr>
              <a:t>UK accounts for 98%+ of return volume — proportionate to sales.</a:t>
            </a:r>
          </a:p>
        </p:txBody>
      </p:sp>
      <p:sp>
        <p:nvSpPr>
          <p:cNvPr id="39" name="Rectangle 38"/>
          <p:cNvSpPr/>
          <p:nvPr/>
        </p:nvSpPr>
        <p:spPr>
          <a:xfrm>
            <a:off x="6400800" y="3255000"/>
            <a:ext cx="55000" cy="40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20800" y="3240000"/>
            <a:ext cx="5237432" cy="500000"/>
          </a:xfrm>
          <a:prstGeom prst="rect">
            <a:avLst/>
          </a:prstGeom>
          <a:noFill/>
        </p:spPr>
        <p:txBody>
          <a:bodyPr wrap="square" lIns="0" tIns="0" rIns="0" bIns="0">
            <a:spAutoFit/>
          </a:bodyPr>
          <a:lstStyle/>
          <a:p>
            <a:pPr algn="l"/>
            <a:r>
              <a:rPr sz="1100" b="0" i="0">
                <a:solidFill>
                  <a:srgbClr val="333333"/>
                </a:solidFill>
                <a:latin typeface="Calibri"/>
              </a:rPr>
              <a:t>Jan 2011 peak: 79,767 units — likely post-holiday cancellations.</a:t>
            </a:r>
          </a:p>
        </p:txBody>
      </p:sp>
      <p:sp>
        <p:nvSpPr>
          <p:cNvPr id="41" name="Rectangle 40"/>
          <p:cNvSpPr/>
          <p:nvPr/>
        </p:nvSpPr>
        <p:spPr>
          <a:xfrm>
            <a:off x="6400800" y="3815000"/>
            <a:ext cx="55000" cy="40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20800" y="3800000"/>
            <a:ext cx="5237432" cy="500000"/>
          </a:xfrm>
          <a:prstGeom prst="rect">
            <a:avLst/>
          </a:prstGeom>
          <a:noFill/>
        </p:spPr>
        <p:txBody>
          <a:bodyPr wrap="square" lIns="0" tIns="0" rIns="0" bIns="0">
            <a:spAutoFit/>
          </a:bodyPr>
          <a:lstStyle/>
          <a:p>
            <a:pPr algn="l"/>
            <a:r>
              <a:rPr sz="1100" b="0" i="0">
                <a:solidFill>
                  <a:srgbClr val="333333"/>
                </a:solidFill>
                <a:latin typeface="Calibri"/>
              </a:rPr>
              <a:t>Dec 2011 spike: 83,565 units — year-end bulk order reversals.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Power BI Dashboard</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3360" y="6524821"/>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982200" y="6424398"/>
            <a:ext cx="2103120" cy="502920"/>
          </a:xfrm>
          <a:prstGeom prst="rect">
            <a:avLst/>
          </a:prstGeom>
          <a:noFill/>
        </p:spPr>
        <p:txBody>
          <a:bodyPr wrap="none" lIns="0" tIns="0" rIns="0" bIns="0">
            <a:spAutoFit/>
          </a:bodyPr>
          <a:lstStyle/>
          <a:p>
            <a:pPr algn="r"/>
            <a:r>
              <a:rPr sz="2000" b="1" i="0" dirty="0">
                <a:solidFill>
                  <a:srgbClr val="1B2254"/>
                </a:solidFill>
                <a:latin typeface="Calibri"/>
              </a:rPr>
              <a:t>BIA  </a:t>
            </a:r>
          </a:p>
          <a:p>
            <a:pPr algn="r"/>
            <a:r>
              <a:rPr sz="700" b="1" i="0" dirty="0">
                <a:solidFill>
                  <a:srgbClr val="1B2254"/>
                </a:solidFill>
                <a:latin typeface="Calibri"/>
              </a:rPr>
              <a:t>BOSTON INSTITUTE OF ANALYTICS</a:t>
            </a:r>
          </a:p>
        </p:txBody>
      </p:sp>
      <p:sp>
        <p:nvSpPr>
          <p:cNvPr id="7" name="TextBox 6"/>
          <p:cNvSpPr txBox="1"/>
          <p:nvPr/>
        </p:nvSpPr>
        <p:spPr>
          <a:xfrm>
            <a:off x="365760" y="990600"/>
            <a:ext cx="11457432" cy="350000"/>
          </a:xfrm>
          <a:prstGeom prst="rect">
            <a:avLst/>
          </a:prstGeom>
          <a:noFill/>
        </p:spPr>
        <p:txBody>
          <a:bodyPr wrap="square" lIns="0" tIns="0" rIns="0" bIns="0">
            <a:spAutoFit/>
          </a:bodyPr>
          <a:lstStyle/>
          <a:p>
            <a:pPr algn="l"/>
            <a:r>
              <a:rPr sz="1200" b="0" i="0">
                <a:solidFill>
                  <a:srgbClr val="64748B"/>
                </a:solidFill>
                <a:latin typeface="Calibri"/>
              </a:rPr>
              <a:t>Built on rfm_with_predictions.csv + order_returns.csv across four report pages.</a:t>
            </a:r>
          </a:p>
        </p:txBody>
      </p:sp>
      <p:sp>
        <p:nvSpPr>
          <p:cNvPr id="9" name="Oval 8"/>
          <p:cNvSpPr/>
          <p:nvPr/>
        </p:nvSpPr>
        <p:spPr>
          <a:xfrm>
            <a:off x="2905760" y="21300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10" name="TextBox 9"/>
          <p:cNvSpPr txBox="1"/>
          <p:nvPr/>
        </p:nvSpPr>
        <p:spPr>
          <a:xfrm>
            <a:off x="515760" y="2770000"/>
            <a:ext cx="5300000" cy="340000"/>
          </a:xfrm>
          <a:prstGeom prst="rect">
            <a:avLst/>
          </a:prstGeom>
          <a:noFill/>
        </p:spPr>
        <p:txBody>
          <a:bodyPr wrap="square" lIns="0" tIns="0" rIns="0" bIns="0">
            <a:spAutoFit/>
          </a:bodyPr>
          <a:lstStyle/>
          <a:p>
            <a:pPr algn="ctr"/>
            <a:r>
              <a:rPr sz="1250" b="1" i="0">
                <a:solidFill>
                  <a:srgbClr val="1B2254"/>
                </a:solidFill>
                <a:latin typeface="Calibri"/>
              </a:rPr>
              <a:t>Executive Overview</a:t>
            </a:r>
          </a:p>
        </p:txBody>
      </p:sp>
      <p:sp>
        <p:nvSpPr>
          <p:cNvPr id="11" name="TextBox 10"/>
          <p:cNvSpPr txBox="1"/>
          <p:nvPr/>
        </p:nvSpPr>
        <p:spPr>
          <a:xfrm>
            <a:off x="515760" y="3070000"/>
            <a:ext cx="5300000" cy="300000"/>
          </a:xfrm>
          <a:prstGeom prst="rect">
            <a:avLst/>
          </a:prstGeom>
          <a:noFill/>
        </p:spPr>
        <p:txBody>
          <a:bodyPr wrap="square" lIns="0" tIns="0" rIns="0" bIns="0">
            <a:spAutoFit/>
          </a:bodyPr>
          <a:lstStyle/>
          <a:p>
            <a:pPr algn="ctr"/>
            <a:r>
              <a:rPr sz="950" b="0" i="1">
                <a:solidFill>
                  <a:srgbClr val="64748B"/>
                </a:solidFill>
                <a:latin typeface="Calibri"/>
              </a:rPr>
              <a:t>KPIs · revenue trend · segment mix</a:t>
            </a:r>
          </a:p>
        </p:txBody>
      </p:sp>
      <p:sp>
        <p:nvSpPr>
          <p:cNvPr id="13" name="Oval 12"/>
          <p:cNvSpPr/>
          <p:nvPr/>
        </p:nvSpPr>
        <p:spPr>
          <a:xfrm>
            <a:off x="8763192" y="21300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14" name="TextBox 13"/>
          <p:cNvSpPr txBox="1"/>
          <p:nvPr/>
        </p:nvSpPr>
        <p:spPr>
          <a:xfrm>
            <a:off x="6373192" y="2770000"/>
            <a:ext cx="5300000" cy="340000"/>
          </a:xfrm>
          <a:prstGeom prst="rect">
            <a:avLst/>
          </a:prstGeom>
          <a:noFill/>
        </p:spPr>
        <p:txBody>
          <a:bodyPr wrap="square" lIns="0" tIns="0" rIns="0" bIns="0">
            <a:spAutoFit/>
          </a:bodyPr>
          <a:lstStyle/>
          <a:p>
            <a:pPr algn="ctr"/>
            <a:r>
              <a:rPr sz="1250" b="1" i="0">
                <a:solidFill>
                  <a:srgbClr val="1B2254"/>
                </a:solidFill>
                <a:latin typeface="Calibri"/>
              </a:rPr>
              <a:t>Customer Segmentation</a:t>
            </a:r>
          </a:p>
        </p:txBody>
      </p:sp>
      <p:sp>
        <p:nvSpPr>
          <p:cNvPr id="15" name="TextBox 14"/>
          <p:cNvSpPr txBox="1"/>
          <p:nvPr/>
        </p:nvSpPr>
        <p:spPr>
          <a:xfrm>
            <a:off x="6373192" y="3070000"/>
            <a:ext cx="5300000" cy="300000"/>
          </a:xfrm>
          <a:prstGeom prst="rect">
            <a:avLst/>
          </a:prstGeom>
          <a:noFill/>
        </p:spPr>
        <p:txBody>
          <a:bodyPr wrap="square" lIns="0" tIns="0" rIns="0" bIns="0">
            <a:spAutoFit/>
          </a:bodyPr>
          <a:lstStyle/>
          <a:p>
            <a:pPr algn="ctr"/>
            <a:r>
              <a:rPr sz="950" b="0" i="1">
                <a:solidFill>
                  <a:srgbClr val="64748B"/>
                </a:solidFill>
                <a:latin typeface="Calibri"/>
              </a:rPr>
              <a:t>Frequency vs Monetary · segment breakdown</a:t>
            </a:r>
          </a:p>
        </p:txBody>
      </p:sp>
      <p:sp>
        <p:nvSpPr>
          <p:cNvPr id="17" name="Oval 16"/>
          <p:cNvSpPr/>
          <p:nvPr/>
        </p:nvSpPr>
        <p:spPr>
          <a:xfrm>
            <a:off x="2905760" y="46800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18" name="TextBox 17"/>
          <p:cNvSpPr txBox="1"/>
          <p:nvPr/>
        </p:nvSpPr>
        <p:spPr>
          <a:xfrm>
            <a:off x="515760" y="5320000"/>
            <a:ext cx="5300000" cy="340000"/>
          </a:xfrm>
          <a:prstGeom prst="rect">
            <a:avLst/>
          </a:prstGeom>
          <a:noFill/>
        </p:spPr>
        <p:txBody>
          <a:bodyPr wrap="square" lIns="0" tIns="0" rIns="0" bIns="0">
            <a:spAutoFit/>
          </a:bodyPr>
          <a:lstStyle/>
          <a:p>
            <a:pPr algn="ctr"/>
            <a:r>
              <a:rPr sz="1250" b="1" i="0">
                <a:solidFill>
                  <a:srgbClr val="1B2254"/>
                </a:solidFill>
                <a:latin typeface="Calibri"/>
              </a:rPr>
              <a:t>Geographic Analysis</a:t>
            </a:r>
          </a:p>
        </p:txBody>
      </p:sp>
      <p:sp>
        <p:nvSpPr>
          <p:cNvPr id="19" name="TextBox 18"/>
          <p:cNvSpPr txBox="1"/>
          <p:nvPr/>
        </p:nvSpPr>
        <p:spPr>
          <a:xfrm>
            <a:off x="515760" y="5620000"/>
            <a:ext cx="5300000" cy="300000"/>
          </a:xfrm>
          <a:prstGeom prst="rect">
            <a:avLst/>
          </a:prstGeom>
          <a:noFill/>
        </p:spPr>
        <p:txBody>
          <a:bodyPr wrap="square" lIns="0" tIns="0" rIns="0" bIns="0">
            <a:spAutoFit/>
          </a:bodyPr>
          <a:lstStyle/>
          <a:p>
            <a:pPr algn="ctr"/>
            <a:r>
              <a:rPr sz="950" b="0" i="1">
                <a:solidFill>
                  <a:srgbClr val="64748B"/>
                </a:solidFill>
                <a:latin typeface="Calibri"/>
              </a:rPr>
              <a:t>Revenue &amp; customers by country</a:t>
            </a:r>
          </a:p>
        </p:txBody>
      </p:sp>
      <p:sp>
        <p:nvSpPr>
          <p:cNvPr id="21" name="Oval 20"/>
          <p:cNvSpPr/>
          <p:nvPr/>
        </p:nvSpPr>
        <p:spPr>
          <a:xfrm>
            <a:off x="8763192" y="4680000"/>
            <a:ext cx="520000" cy="52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296C7"/>
                </a:solidFill>
                <a:latin typeface="Calibri"/>
              </a:rPr>
              <a:t>📊</a:t>
            </a:r>
          </a:p>
        </p:txBody>
      </p:sp>
      <p:sp>
        <p:nvSpPr>
          <p:cNvPr id="22" name="TextBox 21"/>
          <p:cNvSpPr txBox="1"/>
          <p:nvPr/>
        </p:nvSpPr>
        <p:spPr>
          <a:xfrm>
            <a:off x="6373192" y="5320000"/>
            <a:ext cx="5300000" cy="340000"/>
          </a:xfrm>
          <a:prstGeom prst="rect">
            <a:avLst/>
          </a:prstGeom>
          <a:noFill/>
        </p:spPr>
        <p:txBody>
          <a:bodyPr wrap="square" lIns="0" tIns="0" rIns="0" bIns="0">
            <a:spAutoFit/>
          </a:bodyPr>
          <a:lstStyle/>
          <a:p>
            <a:pPr algn="ctr"/>
            <a:r>
              <a:rPr sz="1250" b="1" i="0">
                <a:solidFill>
                  <a:srgbClr val="1B2254"/>
                </a:solidFill>
                <a:latin typeface="Calibri"/>
              </a:rPr>
              <a:t>Returns Dashboard</a:t>
            </a:r>
          </a:p>
        </p:txBody>
      </p:sp>
      <p:sp>
        <p:nvSpPr>
          <p:cNvPr id="23" name="TextBox 22"/>
          <p:cNvSpPr txBox="1"/>
          <p:nvPr/>
        </p:nvSpPr>
        <p:spPr>
          <a:xfrm>
            <a:off x="6373192" y="5620000"/>
            <a:ext cx="5300000" cy="300000"/>
          </a:xfrm>
          <a:prstGeom prst="rect">
            <a:avLst/>
          </a:prstGeom>
          <a:noFill/>
        </p:spPr>
        <p:txBody>
          <a:bodyPr wrap="square" lIns="0" tIns="0" rIns="0" bIns="0">
            <a:spAutoFit/>
          </a:bodyPr>
          <a:lstStyle/>
          <a:p>
            <a:pPr algn="ctr"/>
            <a:r>
              <a:rPr sz="950" b="0" i="1">
                <a:solidFill>
                  <a:srgbClr val="64748B"/>
                </a:solidFill>
                <a:latin typeface="Calibri"/>
              </a:rPr>
              <a:t>Return volume, rate &amp; top return customers</a:t>
            </a:r>
          </a:p>
        </p:txBody>
      </p:sp>
      <p:pic>
        <p:nvPicPr>
          <p:cNvPr id="25" name="Picture 24">
            <a:extLst>
              <a:ext uri="{FF2B5EF4-FFF2-40B4-BE49-F238E27FC236}">
                <a16:creationId xmlns:a16="http://schemas.microsoft.com/office/drawing/2014/main" id="{D9E00C32-82F9-7DC5-E51F-1D653D695AEB}"/>
              </a:ext>
            </a:extLst>
          </p:cNvPr>
          <p:cNvPicPr>
            <a:picLocks noChangeAspect="1"/>
          </p:cNvPicPr>
          <p:nvPr/>
        </p:nvPicPr>
        <p:blipFill>
          <a:blip r:embed="rId2"/>
          <a:stretch>
            <a:fillRect/>
          </a:stretch>
        </p:blipFill>
        <p:spPr>
          <a:xfrm>
            <a:off x="365760" y="891752"/>
            <a:ext cx="5582081" cy="2781842"/>
          </a:xfrm>
          <a:prstGeom prst="rect">
            <a:avLst/>
          </a:prstGeom>
        </p:spPr>
      </p:pic>
      <p:pic>
        <p:nvPicPr>
          <p:cNvPr id="27" name="Picture 26">
            <a:extLst>
              <a:ext uri="{FF2B5EF4-FFF2-40B4-BE49-F238E27FC236}">
                <a16:creationId xmlns:a16="http://schemas.microsoft.com/office/drawing/2014/main" id="{C7864002-41F4-3DF9-A611-4B644CE8E9D9}"/>
              </a:ext>
            </a:extLst>
          </p:cNvPr>
          <p:cNvPicPr>
            <a:picLocks noChangeAspect="1"/>
          </p:cNvPicPr>
          <p:nvPr/>
        </p:nvPicPr>
        <p:blipFill>
          <a:blip r:embed="rId3"/>
          <a:stretch>
            <a:fillRect/>
          </a:stretch>
        </p:blipFill>
        <p:spPr>
          <a:xfrm>
            <a:off x="6096001" y="835661"/>
            <a:ext cx="5656160" cy="2837932"/>
          </a:xfrm>
          <a:prstGeom prst="rect">
            <a:avLst/>
          </a:prstGeom>
        </p:spPr>
      </p:pic>
      <p:pic>
        <p:nvPicPr>
          <p:cNvPr id="29" name="Picture 28">
            <a:extLst>
              <a:ext uri="{FF2B5EF4-FFF2-40B4-BE49-F238E27FC236}">
                <a16:creationId xmlns:a16="http://schemas.microsoft.com/office/drawing/2014/main" id="{10FC3F49-0386-3A67-0191-2BD5022AC164}"/>
              </a:ext>
            </a:extLst>
          </p:cNvPr>
          <p:cNvPicPr>
            <a:picLocks noChangeAspect="1"/>
          </p:cNvPicPr>
          <p:nvPr/>
        </p:nvPicPr>
        <p:blipFill>
          <a:blip r:embed="rId4"/>
          <a:stretch>
            <a:fillRect/>
          </a:stretch>
        </p:blipFill>
        <p:spPr>
          <a:xfrm>
            <a:off x="365759" y="3896520"/>
            <a:ext cx="5582081" cy="2489643"/>
          </a:xfrm>
          <a:prstGeom prst="rect">
            <a:avLst/>
          </a:prstGeom>
        </p:spPr>
      </p:pic>
      <p:pic>
        <p:nvPicPr>
          <p:cNvPr id="31" name="Picture 30">
            <a:extLst>
              <a:ext uri="{FF2B5EF4-FFF2-40B4-BE49-F238E27FC236}">
                <a16:creationId xmlns:a16="http://schemas.microsoft.com/office/drawing/2014/main" id="{210DE5B7-E028-4303-9996-262CED990251}"/>
              </a:ext>
            </a:extLst>
          </p:cNvPr>
          <p:cNvPicPr>
            <a:picLocks noChangeAspect="1"/>
          </p:cNvPicPr>
          <p:nvPr/>
        </p:nvPicPr>
        <p:blipFill>
          <a:blip r:embed="rId5"/>
          <a:stretch>
            <a:fillRect/>
          </a:stretch>
        </p:blipFill>
        <p:spPr>
          <a:xfrm>
            <a:off x="6244162" y="3815833"/>
            <a:ext cx="5429030" cy="26306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Business Recommendations</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11457432" cy="350000"/>
          </a:xfrm>
          <a:prstGeom prst="rect">
            <a:avLst/>
          </a:prstGeom>
          <a:noFill/>
        </p:spPr>
        <p:txBody>
          <a:bodyPr wrap="square" lIns="0" tIns="0" rIns="0" bIns="0">
            <a:spAutoFit/>
          </a:bodyPr>
          <a:lstStyle/>
          <a:p>
            <a:pPr algn="l"/>
            <a:r>
              <a:rPr sz="1200" b="0" i="0">
                <a:solidFill>
                  <a:srgbClr val="64748B"/>
                </a:solidFill>
                <a:latin typeface="Calibri"/>
              </a:rPr>
              <a:t>Actionable strategies per segment, derived from RFM profiles and model insights.</a:t>
            </a:r>
          </a:p>
        </p:txBody>
      </p:sp>
      <p:sp>
        <p:nvSpPr>
          <p:cNvPr id="8" name="Rounded Rectangle 7"/>
          <p:cNvSpPr/>
          <p:nvPr/>
        </p:nvSpPr>
        <p:spPr>
          <a:xfrm>
            <a:off x="365760" y="1500000"/>
            <a:ext cx="2739144" cy="900000"/>
          </a:xfrm>
          <a:prstGeom prst="roundRect">
            <a:avLst>
              <a:gd name="adj" fmla="val 6000"/>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5760" y="1630000"/>
            <a:ext cx="2439144" cy="700000"/>
          </a:xfrm>
          <a:prstGeom prst="rect">
            <a:avLst/>
          </a:prstGeom>
          <a:noFill/>
        </p:spPr>
        <p:txBody>
          <a:bodyPr wrap="square" lIns="0" tIns="0" rIns="0" bIns="0">
            <a:spAutoFit/>
          </a:bodyPr>
          <a:lstStyle/>
          <a:p>
            <a:pPr algn="l">
              <a:spcAft>
                <a:spcPts val="400"/>
              </a:spcAft>
            </a:pPr>
            <a:r>
              <a:rPr sz="1500" b="1" i="0">
                <a:solidFill>
                  <a:srgbClr val="FFFFFF"/>
                </a:solidFill>
                <a:latin typeface="Calibri"/>
              </a:rPr>
              <a:t>VIP</a:t>
            </a:r>
          </a:p>
          <a:p>
            <a:pPr algn="l"/>
            <a:r>
              <a:rPr sz="1050" b="0" i="0">
                <a:solidFill>
                  <a:srgbClr val="FFFFFF"/>
                </a:solidFill>
                <a:latin typeface="Calibri"/>
              </a:rPr>
              <a:t>713 · 16.4%</a:t>
            </a:r>
          </a:p>
        </p:txBody>
      </p:sp>
      <p:sp>
        <p:nvSpPr>
          <p:cNvPr id="10" name="Rounded Rectangle 9"/>
          <p:cNvSpPr/>
          <p:nvPr/>
        </p:nvSpPr>
        <p:spPr>
          <a:xfrm>
            <a:off x="365760" y="2500000"/>
            <a:ext cx="2739144" cy="190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15760" y="2690000"/>
            <a:ext cx="90000" cy="90000"/>
          </a:xfrm>
          <a:prstGeom prst="ellipse">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5760" y="2650000"/>
            <a:ext cx="2259144" cy="700000"/>
          </a:xfrm>
          <a:prstGeom prst="rect">
            <a:avLst/>
          </a:prstGeom>
          <a:noFill/>
        </p:spPr>
        <p:txBody>
          <a:bodyPr wrap="square" lIns="0" tIns="0" rIns="0" bIns="0">
            <a:spAutoFit/>
          </a:bodyPr>
          <a:lstStyle/>
          <a:p>
            <a:pPr algn="l">
              <a:lnSpc>
                <a:spcPct val="105000"/>
              </a:lnSpc>
            </a:pPr>
            <a:r>
              <a:rPr sz="1000" b="0" i="0">
                <a:solidFill>
                  <a:srgbClr val="333333"/>
                </a:solidFill>
                <a:latin typeface="Calibri"/>
              </a:rPr>
              <a:t>Exclusive loyalty tier + early access</a:t>
            </a:r>
          </a:p>
        </p:txBody>
      </p:sp>
      <p:sp>
        <p:nvSpPr>
          <p:cNvPr id="13" name="Oval 12"/>
          <p:cNvSpPr/>
          <p:nvPr/>
        </p:nvSpPr>
        <p:spPr>
          <a:xfrm>
            <a:off x="515760" y="3540000"/>
            <a:ext cx="90000" cy="90000"/>
          </a:xfrm>
          <a:prstGeom prst="ellipse">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5760" y="3500000"/>
            <a:ext cx="2259144" cy="700000"/>
          </a:xfrm>
          <a:prstGeom prst="rect">
            <a:avLst/>
          </a:prstGeom>
          <a:noFill/>
        </p:spPr>
        <p:txBody>
          <a:bodyPr wrap="square" lIns="0" tIns="0" rIns="0" bIns="0">
            <a:spAutoFit/>
          </a:bodyPr>
          <a:lstStyle/>
          <a:p>
            <a:pPr algn="l">
              <a:lnSpc>
                <a:spcPct val="105000"/>
              </a:lnSpc>
            </a:pPr>
            <a:r>
              <a:rPr sz="1000" b="0" i="0">
                <a:solidFill>
                  <a:srgbClr val="333333"/>
                </a:solidFill>
                <a:latin typeface="Calibri"/>
              </a:rPr>
              <a:t>Retention alerts if Recency &gt; 30 days</a:t>
            </a:r>
          </a:p>
        </p:txBody>
      </p:sp>
      <p:sp>
        <p:nvSpPr>
          <p:cNvPr id="15" name="Rounded Rectangle 14"/>
          <p:cNvSpPr/>
          <p:nvPr/>
        </p:nvSpPr>
        <p:spPr>
          <a:xfrm>
            <a:off x="3211571" y="1500000"/>
            <a:ext cx="2739144" cy="900000"/>
          </a:xfrm>
          <a:prstGeom prst="roundRect">
            <a:avLst>
              <a:gd name="adj" fmla="val 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61571" y="1630000"/>
            <a:ext cx="2439144" cy="700000"/>
          </a:xfrm>
          <a:prstGeom prst="rect">
            <a:avLst/>
          </a:prstGeom>
          <a:noFill/>
        </p:spPr>
        <p:txBody>
          <a:bodyPr wrap="square" lIns="0" tIns="0" rIns="0" bIns="0">
            <a:spAutoFit/>
          </a:bodyPr>
          <a:lstStyle/>
          <a:p>
            <a:pPr algn="l">
              <a:spcAft>
                <a:spcPts val="400"/>
              </a:spcAft>
            </a:pPr>
            <a:r>
              <a:rPr sz="1500" b="1" i="0">
                <a:solidFill>
                  <a:srgbClr val="FFFFFF"/>
                </a:solidFill>
                <a:latin typeface="Calibri"/>
              </a:rPr>
              <a:t>Loyal</a:t>
            </a:r>
          </a:p>
          <a:p>
            <a:pPr algn="l"/>
            <a:r>
              <a:rPr sz="1050" b="0" i="0">
                <a:solidFill>
                  <a:srgbClr val="FFFFFF"/>
                </a:solidFill>
                <a:latin typeface="Calibri"/>
              </a:rPr>
              <a:t>1,166 · 26.9%</a:t>
            </a:r>
          </a:p>
        </p:txBody>
      </p:sp>
      <p:sp>
        <p:nvSpPr>
          <p:cNvPr id="17" name="Rounded Rectangle 16"/>
          <p:cNvSpPr/>
          <p:nvPr/>
        </p:nvSpPr>
        <p:spPr>
          <a:xfrm>
            <a:off x="3211571" y="2500000"/>
            <a:ext cx="2739144" cy="190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361571" y="2690000"/>
            <a:ext cx="90000" cy="90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41571" y="2650000"/>
            <a:ext cx="2259144" cy="700000"/>
          </a:xfrm>
          <a:prstGeom prst="rect">
            <a:avLst/>
          </a:prstGeom>
          <a:noFill/>
        </p:spPr>
        <p:txBody>
          <a:bodyPr wrap="square" lIns="0" tIns="0" rIns="0" bIns="0">
            <a:spAutoFit/>
          </a:bodyPr>
          <a:lstStyle/>
          <a:p>
            <a:pPr algn="l">
              <a:lnSpc>
                <a:spcPct val="105000"/>
              </a:lnSpc>
            </a:pPr>
            <a:r>
              <a:rPr sz="1000" b="0" i="0">
                <a:solidFill>
                  <a:srgbClr val="333333"/>
                </a:solidFill>
                <a:latin typeface="Calibri"/>
              </a:rPr>
              <a:t>Tier-upgrade campaigns to VIP</a:t>
            </a:r>
          </a:p>
        </p:txBody>
      </p:sp>
      <p:sp>
        <p:nvSpPr>
          <p:cNvPr id="20" name="Oval 19"/>
          <p:cNvSpPr/>
          <p:nvPr/>
        </p:nvSpPr>
        <p:spPr>
          <a:xfrm>
            <a:off x="3361571" y="3540000"/>
            <a:ext cx="90000" cy="90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541571" y="3500000"/>
            <a:ext cx="2259144" cy="700000"/>
          </a:xfrm>
          <a:prstGeom prst="rect">
            <a:avLst/>
          </a:prstGeom>
          <a:noFill/>
        </p:spPr>
        <p:txBody>
          <a:bodyPr wrap="square" lIns="0" tIns="0" rIns="0" bIns="0">
            <a:spAutoFit/>
          </a:bodyPr>
          <a:lstStyle/>
          <a:p>
            <a:pPr algn="l">
              <a:lnSpc>
                <a:spcPct val="105000"/>
              </a:lnSpc>
            </a:pPr>
            <a:r>
              <a:rPr sz="1000" b="0" i="0">
                <a:solidFill>
                  <a:srgbClr val="333333"/>
                </a:solidFill>
                <a:latin typeface="Calibri"/>
              </a:rPr>
              <a:t>Cross-sell via purchase history</a:t>
            </a:r>
          </a:p>
        </p:txBody>
      </p:sp>
      <p:sp>
        <p:nvSpPr>
          <p:cNvPr id="22" name="Rounded Rectangle 21"/>
          <p:cNvSpPr/>
          <p:nvPr/>
        </p:nvSpPr>
        <p:spPr>
          <a:xfrm>
            <a:off x="6057382" y="1500000"/>
            <a:ext cx="2739144" cy="900000"/>
          </a:xfrm>
          <a:prstGeom prst="roundRect">
            <a:avLst>
              <a:gd name="adj" fmla="val 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07382" y="1630000"/>
            <a:ext cx="2439144" cy="700000"/>
          </a:xfrm>
          <a:prstGeom prst="rect">
            <a:avLst/>
          </a:prstGeom>
          <a:noFill/>
        </p:spPr>
        <p:txBody>
          <a:bodyPr wrap="square" lIns="0" tIns="0" rIns="0" bIns="0">
            <a:spAutoFit/>
          </a:bodyPr>
          <a:lstStyle/>
          <a:p>
            <a:pPr algn="l">
              <a:spcAft>
                <a:spcPts val="400"/>
              </a:spcAft>
            </a:pPr>
            <a:r>
              <a:rPr sz="1500" b="1" i="0">
                <a:solidFill>
                  <a:srgbClr val="FFFFFF"/>
                </a:solidFill>
                <a:latin typeface="Calibri"/>
              </a:rPr>
              <a:t>At Risk</a:t>
            </a:r>
          </a:p>
          <a:p>
            <a:pPr algn="l"/>
            <a:r>
              <a:rPr sz="1050" b="0" i="0">
                <a:solidFill>
                  <a:srgbClr val="FFFFFF"/>
                </a:solidFill>
                <a:latin typeface="Calibri"/>
              </a:rPr>
              <a:t>1,622 · 37.4%</a:t>
            </a:r>
          </a:p>
        </p:txBody>
      </p:sp>
      <p:sp>
        <p:nvSpPr>
          <p:cNvPr id="24" name="Rounded Rectangle 23"/>
          <p:cNvSpPr/>
          <p:nvPr/>
        </p:nvSpPr>
        <p:spPr>
          <a:xfrm>
            <a:off x="6057382" y="2500000"/>
            <a:ext cx="2739144" cy="190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207382" y="2690000"/>
            <a:ext cx="90000" cy="900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7382" y="2650000"/>
            <a:ext cx="2259144" cy="700000"/>
          </a:xfrm>
          <a:prstGeom prst="rect">
            <a:avLst/>
          </a:prstGeom>
          <a:noFill/>
        </p:spPr>
        <p:txBody>
          <a:bodyPr wrap="square" lIns="0" tIns="0" rIns="0" bIns="0">
            <a:spAutoFit/>
          </a:bodyPr>
          <a:lstStyle/>
          <a:p>
            <a:pPr algn="l">
              <a:lnSpc>
                <a:spcPct val="105000"/>
              </a:lnSpc>
            </a:pPr>
            <a:r>
              <a:rPr sz="1000" b="0" i="0">
                <a:solidFill>
                  <a:srgbClr val="333333"/>
                </a:solidFill>
                <a:latin typeface="Calibri"/>
              </a:rPr>
              <a:t>Win-back emails within 90 days</a:t>
            </a:r>
          </a:p>
        </p:txBody>
      </p:sp>
      <p:sp>
        <p:nvSpPr>
          <p:cNvPr id="27" name="Oval 26"/>
          <p:cNvSpPr/>
          <p:nvPr/>
        </p:nvSpPr>
        <p:spPr>
          <a:xfrm>
            <a:off x="6207382" y="3540000"/>
            <a:ext cx="90000" cy="900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7382" y="3500000"/>
            <a:ext cx="2259144" cy="700000"/>
          </a:xfrm>
          <a:prstGeom prst="rect">
            <a:avLst/>
          </a:prstGeom>
          <a:noFill/>
        </p:spPr>
        <p:txBody>
          <a:bodyPr wrap="square" lIns="0" tIns="0" rIns="0" bIns="0">
            <a:spAutoFit/>
          </a:bodyPr>
          <a:lstStyle/>
          <a:p>
            <a:pPr algn="l">
              <a:lnSpc>
                <a:spcPct val="105000"/>
              </a:lnSpc>
            </a:pPr>
            <a:r>
              <a:rPr sz="1000" b="0" i="0">
                <a:solidFill>
                  <a:srgbClr val="333333"/>
                </a:solidFill>
                <a:latin typeface="Calibri"/>
              </a:rPr>
              <a:t>Time-limited 15–20% discounts</a:t>
            </a:r>
          </a:p>
        </p:txBody>
      </p:sp>
      <p:sp>
        <p:nvSpPr>
          <p:cNvPr id="29" name="Rounded Rectangle 28"/>
          <p:cNvSpPr/>
          <p:nvPr/>
        </p:nvSpPr>
        <p:spPr>
          <a:xfrm>
            <a:off x="8903193" y="1500000"/>
            <a:ext cx="2739144" cy="900000"/>
          </a:xfrm>
          <a:prstGeom prst="roundRect">
            <a:avLst>
              <a:gd name="adj" fmla="val 6000"/>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53193" y="1630000"/>
            <a:ext cx="2439144" cy="700000"/>
          </a:xfrm>
          <a:prstGeom prst="rect">
            <a:avLst/>
          </a:prstGeom>
          <a:noFill/>
        </p:spPr>
        <p:txBody>
          <a:bodyPr wrap="square" lIns="0" tIns="0" rIns="0" bIns="0">
            <a:spAutoFit/>
          </a:bodyPr>
          <a:lstStyle/>
          <a:p>
            <a:pPr algn="l">
              <a:spcAft>
                <a:spcPts val="400"/>
              </a:spcAft>
            </a:pPr>
            <a:r>
              <a:rPr sz="1500" b="1" i="0">
                <a:solidFill>
                  <a:srgbClr val="FFFFFF"/>
                </a:solidFill>
                <a:latin typeface="Calibri"/>
              </a:rPr>
              <a:t>New</a:t>
            </a:r>
          </a:p>
          <a:p>
            <a:pPr algn="l"/>
            <a:r>
              <a:rPr sz="1050" b="0" i="0">
                <a:solidFill>
                  <a:srgbClr val="FFFFFF"/>
                </a:solidFill>
                <a:latin typeface="Calibri"/>
              </a:rPr>
              <a:t>837 · 19.3%</a:t>
            </a:r>
          </a:p>
        </p:txBody>
      </p:sp>
      <p:sp>
        <p:nvSpPr>
          <p:cNvPr id="31" name="Rounded Rectangle 30"/>
          <p:cNvSpPr/>
          <p:nvPr/>
        </p:nvSpPr>
        <p:spPr>
          <a:xfrm>
            <a:off x="8903193" y="2500000"/>
            <a:ext cx="2739144" cy="1900000"/>
          </a:xfrm>
          <a:prstGeom prst="roundRect">
            <a:avLst>
              <a:gd name="adj" fmla="val 6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053193" y="2690000"/>
            <a:ext cx="90000" cy="9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233193" y="2650000"/>
            <a:ext cx="2259144" cy="700000"/>
          </a:xfrm>
          <a:prstGeom prst="rect">
            <a:avLst/>
          </a:prstGeom>
          <a:noFill/>
        </p:spPr>
        <p:txBody>
          <a:bodyPr wrap="square" lIns="0" tIns="0" rIns="0" bIns="0">
            <a:spAutoFit/>
          </a:bodyPr>
          <a:lstStyle/>
          <a:p>
            <a:pPr algn="l">
              <a:lnSpc>
                <a:spcPct val="105000"/>
              </a:lnSpc>
            </a:pPr>
            <a:r>
              <a:rPr sz="1000" b="0" i="0">
                <a:solidFill>
                  <a:srgbClr val="333333"/>
                </a:solidFill>
                <a:latin typeface="Calibri"/>
              </a:rPr>
              <a:t>Onboarding email series</a:t>
            </a:r>
          </a:p>
        </p:txBody>
      </p:sp>
      <p:sp>
        <p:nvSpPr>
          <p:cNvPr id="34" name="Oval 33"/>
          <p:cNvSpPr/>
          <p:nvPr/>
        </p:nvSpPr>
        <p:spPr>
          <a:xfrm>
            <a:off x="9053193" y="3540000"/>
            <a:ext cx="90000" cy="9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33193" y="3500000"/>
            <a:ext cx="2259144" cy="700000"/>
          </a:xfrm>
          <a:prstGeom prst="rect">
            <a:avLst/>
          </a:prstGeom>
          <a:noFill/>
        </p:spPr>
        <p:txBody>
          <a:bodyPr wrap="square" lIns="0" tIns="0" rIns="0" bIns="0">
            <a:spAutoFit/>
          </a:bodyPr>
          <a:lstStyle/>
          <a:p>
            <a:pPr algn="l">
              <a:lnSpc>
                <a:spcPct val="105000"/>
              </a:lnSpc>
            </a:pPr>
            <a:r>
              <a:rPr sz="1000" b="0" i="0">
                <a:solidFill>
                  <a:srgbClr val="333333"/>
                </a:solidFill>
                <a:latin typeface="Calibri"/>
              </a:rPr>
              <a:t>First-repeat-purchase discount</a:t>
            </a:r>
          </a:p>
        </p:txBody>
      </p:sp>
      <p:sp>
        <p:nvSpPr>
          <p:cNvPr id="36" name="Rounded Rectangle 35"/>
          <p:cNvSpPr/>
          <p:nvPr/>
        </p:nvSpPr>
        <p:spPr>
          <a:xfrm>
            <a:off x="365760" y="4650000"/>
            <a:ext cx="11457432" cy="95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5760" y="4780000"/>
            <a:ext cx="11000000" cy="700000"/>
          </a:xfrm>
          <a:prstGeom prst="rect">
            <a:avLst/>
          </a:prstGeom>
          <a:noFill/>
        </p:spPr>
        <p:txBody>
          <a:bodyPr wrap="square" lIns="0" tIns="0" rIns="0" bIns="0">
            <a:spAutoFit/>
          </a:bodyPr>
          <a:lstStyle/>
          <a:p>
            <a:pPr algn="l">
              <a:spcAft>
                <a:spcPts val="600"/>
              </a:spcAft>
            </a:pPr>
            <a:r>
              <a:rPr sz="1100" b="1" i="0">
                <a:solidFill>
                  <a:srgbClr val="1B2254"/>
                </a:solidFill>
                <a:latin typeface="Calibri"/>
              </a:rPr>
              <a:t>Inventory: </a:t>
            </a:r>
            <a:r>
              <a:rPr sz="1100" b="0" i="0">
                <a:solidFill>
                  <a:srgbClr val="333333"/>
                </a:solidFill>
                <a:latin typeface="Calibri"/>
              </a:rPr>
              <a:t>Stock seasonal items Aug–Oct to meet the Sep–Nov demand peak (+72% vs summer).</a:t>
            </a:r>
          </a:p>
          <a:p>
            <a:pPr algn="l"/>
            <a:r>
              <a:rPr sz="1100" b="1" i="0">
                <a:solidFill>
                  <a:srgbClr val="1B2254"/>
                </a:solidFill>
                <a:latin typeface="Calibri"/>
              </a:rPr>
              <a:t>Returns: </a:t>
            </a:r>
            <a:r>
              <a:rPr sz="1100" b="0" i="0">
                <a:solidFill>
                  <a:srgbClr val="333333"/>
                </a:solidFill>
                <a:latin typeface="Calibri"/>
              </a:rPr>
              <a:t>Flag customers 16446 &amp; 12346 for account review; tighten bulk-order return policy.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11430000" cy="594360"/>
          </a:xfrm>
          <a:prstGeom prst="rect">
            <a:avLst/>
          </a:prstGeom>
          <a:noFill/>
        </p:spPr>
        <p:txBody>
          <a:bodyPr wrap="square" lIns="0" tIns="0" rIns="0" bIns="0">
            <a:spAutoFit/>
          </a:bodyPr>
          <a:lstStyle/>
          <a:p>
            <a:pPr algn="l"/>
            <a:r>
              <a:rPr sz="2800" b="1" i="0">
                <a:solidFill>
                  <a:srgbClr val="1B2254"/>
                </a:solidFill>
                <a:latin typeface="Calibri"/>
              </a:rPr>
              <a:t>Conclusion, Key Takeaways &amp; Deliverables</a:t>
            </a:r>
          </a:p>
        </p:txBody>
      </p:sp>
      <p:sp>
        <p:nvSpPr>
          <p:cNvPr id="4" name="Rectangle 3"/>
          <p:cNvSpPr/>
          <p:nvPr/>
        </p:nvSpPr>
        <p:spPr>
          <a:xfrm>
            <a:off x="365760" y="822960"/>
            <a:ext cx="11457432" cy="25400"/>
          </a:xfrm>
          <a:prstGeom prst="rect">
            <a:avLst/>
          </a:prstGeom>
          <a:solidFill>
            <a:srgbClr val="1B2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
        <p:nvSpPr>
          <p:cNvPr id="7" name="TextBox 6"/>
          <p:cNvSpPr txBox="1"/>
          <p:nvPr/>
        </p:nvSpPr>
        <p:spPr>
          <a:xfrm>
            <a:off x="365760" y="990600"/>
            <a:ext cx="5000000" cy="320000"/>
          </a:xfrm>
          <a:prstGeom prst="rect">
            <a:avLst/>
          </a:prstGeom>
          <a:noFill/>
        </p:spPr>
        <p:txBody>
          <a:bodyPr wrap="square" lIns="0" tIns="0" rIns="0" bIns="0">
            <a:spAutoFit/>
          </a:bodyPr>
          <a:lstStyle/>
          <a:p>
            <a:pPr algn="l"/>
            <a:r>
              <a:rPr sz="1400" b="1" i="0">
                <a:solidFill>
                  <a:srgbClr val="1B2254"/>
                </a:solidFill>
                <a:latin typeface="Calibri"/>
              </a:rPr>
              <a:t>Key Takeaways</a:t>
            </a:r>
          </a:p>
        </p:txBody>
      </p:sp>
      <p:sp>
        <p:nvSpPr>
          <p:cNvPr id="8" name="Oval 7"/>
          <p:cNvSpPr/>
          <p:nvPr/>
        </p:nvSpPr>
        <p:spPr>
          <a:xfrm>
            <a:off x="365760" y="1420000"/>
            <a:ext cx="340000" cy="34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1</a:t>
            </a:r>
          </a:p>
        </p:txBody>
      </p:sp>
      <p:sp>
        <p:nvSpPr>
          <p:cNvPr id="9" name="TextBox 8"/>
          <p:cNvSpPr txBox="1"/>
          <p:nvPr/>
        </p:nvSpPr>
        <p:spPr>
          <a:xfrm>
            <a:off x="825760" y="1420000"/>
            <a:ext cx="4900000" cy="186077"/>
          </a:xfrm>
          <a:prstGeom prst="rect">
            <a:avLst/>
          </a:prstGeom>
          <a:noFill/>
        </p:spPr>
        <p:txBody>
          <a:bodyPr wrap="square" lIns="0" tIns="0" rIns="0" bIns="0">
            <a:spAutoFit/>
          </a:bodyPr>
          <a:lstStyle/>
          <a:p>
            <a:pPr algn="l">
              <a:lnSpc>
                <a:spcPct val="105000"/>
              </a:lnSpc>
            </a:pPr>
            <a:r>
              <a:rPr sz="1200" b="0" i="0" dirty="0">
                <a:solidFill>
                  <a:srgbClr val="333333"/>
                </a:solidFill>
                <a:latin typeface="Calibri"/>
              </a:rPr>
              <a:t>4 segments identified: VIP (713), Loyal (1,166), At Risk (1,622), New (837)</a:t>
            </a:r>
          </a:p>
        </p:txBody>
      </p:sp>
      <p:sp>
        <p:nvSpPr>
          <p:cNvPr id="10" name="Oval 9"/>
          <p:cNvSpPr/>
          <p:nvPr/>
        </p:nvSpPr>
        <p:spPr>
          <a:xfrm>
            <a:off x="365760" y="2060000"/>
            <a:ext cx="340000" cy="34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2</a:t>
            </a:r>
          </a:p>
        </p:txBody>
      </p:sp>
      <p:sp>
        <p:nvSpPr>
          <p:cNvPr id="11" name="TextBox 10"/>
          <p:cNvSpPr txBox="1"/>
          <p:nvPr/>
        </p:nvSpPr>
        <p:spPr>
          <a:xfrm>
            <a:off x="825760" y="2060000"/>
            <a:ext cx="4900000" cy="186077"/>
          </a:xfrm>
          <a:prstGeom prst="rect">
            <a:avLst/>
          </a:prstGeom>
          <a:noFill/>
        </p:spPr>
        <p:txBody>
          <a:bodyPr wrap="square" lIns="0" tIns="0" rIns="0" bIns="0">
            <a:spAutoFit/>
          </a:bodyPr>
          <a:lstStyle/>
          <a:p>
            <a:pPr algn="l">
              <a:lnSpc>
                <a:spcPct val="105000"/>
              </a:lnSpc>
            </a:pPr>
            <a:r>
              <a:rPr sz="1200" b="0" i="0" dirty="0">
                <a:solidFill>
                  <a:srgbClr val="333333"/>
                </a:solidFill>
                <a:latin typeface="Calibri"/>
              </a:rPr>
              <a:t>Random Forest is the best classifier: 98.73% accuracy, 99.94% AUC</a:t>
            </a:r>
          </a:p>
        </p:txBody>
      </p:sp>
      <p:sp>
        <p:nvSpPr>
          <p:cNvPr id="12" name="Oval 11"/>
          <p:cNvSpPr/>
          <p:nvPr/>
        </p:nvSpPr>
        <p:spPr>
          <a:xfrm>
            <a:off x="365760" y="2700000"/>
            <a:ext cx="340000" cy="34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3</a:t>
            </a:r>
          </a:p>
        </p:txBody>
      </p:sp>
      <p:sp>
        <p:nvSpPr>
          <p:cNvPr id="13" name="TextBox 12"/>
          <p:cNvSpPr txBox="1"/>
          <p:nvPr/>
        </p:nvSpPr>
        <p:spPr>
          <a:xfrm>
            <a:off x="825760" y="2700000"/>
            <a:ext cx="4900000" cy="186077"/>
          </a:xfrm>
          <a:prstGeom prst="rect">
            <a:avLst/>
          </a:prstGeom>
          <a:noFill/>
        </p:spPr>
        <p:txBody>
          <a:bodyPr wrap="square" lIns="0" tIns="0" rIns="0" bIns="0">
            <a:spAutoFit/>
          </a:bodyPr>
          <a:lstStyle/>
          <a:p>
            <a:pPr algn="l">
              <a:lnSpc>
                <a:spcPct val="105000"/>
              </a:lnSpc>
            </a:pPr>
            <a:r>
              <a:rPr sz="1200" b="0" i="0" dirty="0">
                <a:solidFill>
                  <a:srgbClr val="333333"/>
                </a:solidFill>
                <a:latin typeface="Calibri"/>
              </a:rPr>
              <a:t>Monetary is the strongest predictive signal (45% importance)</a:t>
            </a:r>
          </a:p>
        </p:txBody>
      </p:sp>
      <p:sp>
        <p:nvSpPr>
          <p:cNvPr id="14" name="Oval 13"/>
          <p:cNvSpPr/>
          <p:nvPr/>
        </p:nvSpPr>
        <p:spPr>
          <a:xfrm>
            <a:off x="365760" y="3340000"/>
            <a:ext cx="340000" cy="34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4</a:t>
            </a:r>
          </a:p>
        </p:txBody>
      </p:sp>
      <p:sp>
        <p:nvSpPr>
          <p:cNvPr id="15" name="TextBox 14"/>
          <p:cNvSpPr txBox="1"/>
          <p:nvPr/>
        </p:nvSpPr>
        <p:spPr>
          <a:xfrm>
            <a:off x="825760" y="3340000"/>
            <a:ext cx="4900000" cy="186077"/>
          </a:xfrm>
          <a:prstGeom prst="rect">
            <a:avLst/>
          </a:prstGeom>
          <a:noFill/>
        </p:spPr>
        <p:txBody>
          <a:bodyPr wrap="square" lIns="0" tIns="0" rIns="0" bIns="0">
            <a:spAutoFit/>
          </a:bodyPr>
          <a:lstStyle/>
          <a:p>
            <a:pPr algn="l">
              <a:lnSpc>
                <a:spcPct val="105000"/>
              </a:lnSpc>
            </a:pPr>
            <a:r>
              <a:rPr sz="1200" b="0" i="0" dirty="0">
                <a:solidFill>
                  <a:srgbClr val="333333"/>
                </a:solidFill>
                <a:latin typeface="Calibri"/>
              </a:rPr>
              <a:t>UK drives 82% of revenue — international expansion is a lever</a:t>
            </a:r>
          </a:p>
        </p:txBody>
      </p:sp>
      <p:sp>
        <p:nvSpPr>
          <p:cNvPr id="16" name="Oval 15"/>
          <p:cNvSpPr/>
          <p:nvPr/>
        </p:nvSpPr>
        <p:spPr>
          <a:xfrm>
            <a:off x="365760" y="3980000"/>
            <a:ext cx="340000" cy="34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5</a:t>
            </a:r>
          </a:p>
        </p:txBody>
      </p:sp>
      <p:sp>
        <p:nvSpPr>
          <p:cNvPr id="17" name="TextBox 16"/>
          <p:cNvSpPr txBox="1"/>
          <p:nvPr/>
        </p:nvSpPr>
        <p:spPr>
          <a:xfrm>
            <a:off x="825760" y="3980000"/>
            <a:ext cx="4900000" cy="186077"/>
          </a:xfrm>
          <a:prstGeom prst="rect">
            <a:avLst/>
          </a:prstGeom>
          <a:noFill/>
        </p:spPr>
        <p:txBody>
          <a:bodyPr wrap="square" lIns="0" tIns="0" rIns="0" bIns="0">
            <a:spAutoFit/>
          </a:bodyPr>
          <a:lstStyle/>
          <a:p>
            <a:pPr algn="l">
              <a:lnSpc>
                <a:spcPct val="105000"/>
              </a:lnSpc>
            </a:pPr>
            <a:r>
              <a:rPr sz="1200" b="0" i="0" dirty="0">
                <a:solidFill>
                  <a:srgbClr val="333333"/>
                </a:solidFill>
                <a:latin typeface="Calibri"/>
              </a:rPr>
              <a:t>Returns are manageable at 1.6%; two outliers warrant review</a:t>
            </a:r>
          </a:p>
        </p:txBody>
      </p:sp>
      <p:sp>
        <p:nvSpPr>
          <p:cNvPr id="18" name="Oval 17"/>
          <p:cNvSpPr/>
          <p:nvPr/>
        </p:nvSpPr>
        <p:spPr>
          <a:xfrm>
            <a:off x="365760" y="4620000"/>
            <a:ext cx="340000" cy="340000"/>
          </a:xfrm>
          <a:prstGeom prst="ellipse">
            <a:avLst/>
          </a:prstGeom>
          <a:solidFill>
            <a:srgbClr val="02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6</a:t>
            </a:r>
          </a:p>
        </p:txBody>
      </p:sp>
      <p:sp>
        <p:nvSpPr>
          <p:cNvPr id="19" name="TextBox 18"/>
          <p:cNvSpPr txBox="1"/>
          <p:nvPr/>
        </p:nvSpPr>
        <p:spPr>
          <a:xfrm>
            <a:off x="825760" y="4620000"/>
            <a:ext cx="4900000" cy="186077"/>
          </a:xfrm>
          <a:prstGeom prst="rect">
            <a:avLst/>
          </a:prstGeom>
          <a:noFill/>
        </p:spPr>
        <p:txBody>
          <a:bodyPr wrap="square" lIns="0" tIns="0" rIns="0" bIns="0">
            <a:spAutoFit/>
          </a:bodyPr>
          <a:lstStyle/>
          <a:p>
            <a:pPr algn="l">
              <a:lnSpc>
                <a:spcPct val="105000"/>
              </a:lnSpc>
            </a:pPr>
            <a:r>
              <a:rPr sz="1200" b="0" i="0" dirty="0">
                <a:solidFill>
                  <a:srgbClr val="333333"/>
                </a:solidFill>
                <a:latin typeface="Calibri"/>
              </a:rPr>
              <a:t>Seasonal peaks in Sep–Nov guide inventory planning</a:t>
            </a:r>
          </a:p>
        </p:txBody>
      </p:sp>
      <p:sp>
        <p:nvSpPr>
          <p:cNvPr id="20" name="TextBox 19"/>
          <p:cNvSpPr txBox="1"/>
          <p:nvPr/>
        </p:nvSpPr>
        <p:spPr>
          <a:xfrm>
            <a:off x="6400800" y="990600"/>
            <a:ext cx="5457432" cy="320000"/>
          </a:xfrm>
          <a:prstGeom prst="rect">
            <a:avLst/>
          </a:prstGeom>
          <a:noFill/>
        </p:spPr>
        <p:txBody>
          <a:bodyPr wrap="square" lIns="0" tIns="0" rIns="0" bIns="0">
            <a:spAutoFit/>
          </a:bodyPr>
          <a:lstStyle/>
          <a:p>
            <a:pPr algn="l"/>
            <a:r>
              <a:rPr sz="1400" b="1" i="0">
                <a:solidFill>
                  <a:srgbClr val="1B2254"/>
                </a:solidFill>
                <a:latin typeface="Calibri"/>
              </a:rPr>
              <a:t>Submission Deliverables</a:t>
            </a:r>
          </a:p>
        </p:txBody>
      </p:sp>
      <p:sp>
        <p:nvSpPr>
          <p:cNvPr id="21" name="Rectangle 20"/>
          <p:cNvSpPr/>
          <p:nvPr/>
        </p:nvSpPr>
        <p:spPr>
          <a:xfrm>
            <a:off x="6400800" y="1420000"/>
            <a:ext cx="5457432" cy="56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80800" y="1450000"/>
            <a:ext cx="400000" cy="500000"/>
          </a:xfrm>
          <a:prstGeom prst="rect">
            <a:avLst/>
          </a:prstGeom>
          <a:noFill/>
        </p:spPr>
        <p:txBody>
          <a:bodyPr wrap="square" lIns="0" tIns="0" rIns="0" bIns="0" anchor="ctr">
            <a:spAutoFit/>
          </a:bodyPr>
          <a:lstStyle/>
          <a:p>
            <a:pPr algn="l"/>
            <a:r>
              <a:rPr sz="1400" b="0" i="0">
                <a:solidFill>
                  <a:srgbClr val="333333"/>
                </a:solidFill>
                <a:latin typeface="Calibri"/>
              </a:rPr>
              <a:t>📓</a:t>
            </a:r>
          </a:p>
        </p:txBody>
      </p:sp>
      <p:sp>
        <p:nvSpPr>
          <p:cNvPr id="23" name="TextBox 22"/>
          <p:cNvSpPr txBox="1"/>
          <p:nvPr/>
        </p:nvSpPr>
        <p:spPr>
          <a:xfrm>
            <a:off x="6920800" y="1470000"/>
            <a:ext cx="4850000" cy="369332"/>
          </a:xfrm>
          <a:prstGeom prst="rect">
            <a:avLst/>
          </a:prstGeom>
          <a:noFill/>
        </p:spPr>
        <p:txBody>
          <a:bodyPr wrap="square" lIns="0" tIns="0" rIns="0" bIns="0">
            <a:spAutoFit/>
          </a:bodyPr>
          <a:lstStyle/>
          <a:p>
            <a:pPr algn="l"/>
            <a:r>
              <a:rPr sz="1200" b="1" i="0" dirty="0" err="1">
                <a:solidFill>
                  <a:srgbClr val="1B2254"/>
                </a:solidFill>
                <a:latin typeface="Calibri"/>
              </a:rPr>
              <a:t>DataAnalysis_Preprocessing.ipynb</a:t>
            </a:r>
            <a:endParaRPr sz="1200" b="1" i="0" dirty="0">
              <a:solidFill>
                <a:srgbClr val="1B2254"/>
              </a:solidFill>
              <a:latin typeface="Calibri"/>
            </a:endParaRPr>
          </a:p>
          <a:p>
            <a:pPr algn="l"/>
            <a:r>
              <a:rPr sz="1200" b="0" i="0" dirty="0">
                <a:solidFill>
                  <a:srgbClr val="64748B"/>
                </a:solidFill>
                <a:latin typeface="Calibri"/>
              </a:rPr>
              <a:t>Data cleaning &amp; preparation</a:t>
            </a:r>
          </a:p>
        </p:txBody>
      </p:sp>
      <p:sp>
        <p:nvSpPr>
          <p:cNvPr id="24" name="Rectangle 23"/>
          <p:cNvSpPr/>
          <p:nvPr/>
        </p:nvSpPr>
        <p:spPr>
          <a:xfrm>
            <a:off x="6400800" y="1980000"/>
            <a:ext cx="5457432" cy="5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80800" y="2010000"/>
            <a:ext cx="400000" cy="500000"/>
          </a:xfrm>
          <a:prstGeom prst="rect">
            <a:avLst/>
          </a:prstGeom>
          <a:noFill/>
        </p:spPr>
        <p:txBody>
          <a:bodyPr wrap="square" lIns="0" tIns="0" rIns="0" bIns="0" anchor="ctr">
            <a:spAutoFit/>
          </a:bodyPr>
          <a:lstStyle/>
          <a:p>
            <a:pPr algn="l"/>
            <a:r>
              <a:rPr sz="1400" b="0" i="0">
                <a:solidFill>
                  <a:srgbClr val="333333"/>
                </a:solidFill>
                <a:latin typeface="Calibri"/>
              </a:rPr>
              <a:t>📓</a:t>
            </a:r>
          </a:p>
        </p:txBody>
      </p:sp>
      <p:sp>
        <p:nvSpPr>
          <p:cNvPr id="26" name="TextBox 25"/>
          <p:cNvSpPr txBox="1"/>
          <p:nvPr/>
        </p:nvSpPr>
        <p:spPr>
          <a:xfrm>
            <a:off x="6920800" y="2030000"/>
            <a:ext cx="4850000" cy="369332"/>
          </a:xfrm>
          <a:prstGeom prst="rect">
            <a:avLst/>
          </a:prstGeom>
          <a:noFill/>
        </p:spPr>
        <p:txBody>
          <a:bodyPr wrap="square" lIns="0" tIns="0" rIns="0" bIns="0">
            <a:spAutoFit/>
          </a:bodyPr>
          <a:lstStyle/>
          <a:p>
            <a:pPr algn="l"/>
            <a:r>
              <a:rPr sz="1200" b="1" i="0" dirty="0" err="1">
                <a:solidFill>
                  <a:srgbClr val="1B2254"/>
                </a:solidFill>
                <a:latin typeface="Calibri"/>
              </a:rPr>
              <a:t>EDA.ipynb</a:t>
            </a:r>
            <a:endParaRPr sz="1200" b="1" i="0" dirty="0">
              <a:solidFill>
                <a:srgbClr val="1B2254"/>
              </a:solidFill>
              <a:latin typeface="Calibri"/>
            </a:endParaRPr>
          </a:p>
          <a:p>
            <a:pPr algn="l"/>
            <a:r>
              <a:rPr sz="1200" b="0" i="0" dirty="0">
                <a:solidFill>
                  <a:srgbClr val="64748B"/>
                </a:solidFill>
                <a:latin typeface="Calibri"/>
              </a:rPr>
              <a:t>Univariate &amp; bivariate analysis</a:t>
            </a:r>
          </a:p>
        </p:txBody>
      </p:sp>
      <p:sp>
        <p:nvSpPr>
          <p:cNvPr id="27" name="Rectangle 26"/>
          <p:cNvSpPr/>
          <p:nvPr/>
        </p:nvSpPr>
        <p:spPr>
          <a:xfrm>
            <a:off x="6400800" y="2540000"/>
            <a:ext cx="5457432" cy="56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80800" y="2570000"/>
            <a:ext cx="400000" cy="500000"/>
          </a:xfrm>
          <a:prstGeom prst="rect">
            <a:avLst/>
          </a:prstGeom>
          <a:noFill/>
        </p:spPr>
        <p:txBody>
          <a:bodyPr wrap="square" lIns="0" tIns="0" rIns="0" bIns="0" anchor="ctr">
            <a:spAutoFit/>
          </a:bodyPr>
          <a:lstStyle/>
          <a:p>
            <a:pPr algn="l"/>
            <a:r>
              <a:rPr sz="1400" b="0" i="0">
                <a:solidFill>
                  <a:srgbClr val="333333"/>
                </a:solidFill>
                <a:latin typeface="Calibri"/>
              </a:rPr>
              <a:t>📓</a:t>
            </a:r>
          </a:p>
        </p:txBody>
      </p:sp>
      <p:sp>
        <p:nvSpPr>
          <p:cNvPr id="29" name="TextBox 28"/>
          <p:cNvSpPr txBox="1"/>
          <p:nvPr/>
        </p:nvSpPr>
        <p:spPr>
          <a:xfrm>
            <a:off x="6920800" y="2590000"/>
            <a:ext cx="4850000" cy="369332"/>
          </a:xfrm>
          <a:prstGeom prst="rect">
            <a:avLst/>
          </a:prstGeom>
          <a:noFill/>
        </p:spPr>
        <p:txBody>
          <a:bodyPr wrap="square" lIns="0" tIns="0" rIns="0" bIns="0">
            <a:spAutoFit/>
          </a:bodyPr>
          <a:lstStyle/>
          <a:p>
            <a:pPr algn="l"/>
            <a:r>
              <a:rPr sz="1200" b="1" i="0" dirty="0" err="1">
                <a:solidFill>
                  <a:srgbClr val="1B2254"/>
                </a:solidFill>
                <a:latin typeface="Calibri"/>
              </a:rPr>
              <a:t>CustomerSegmentation_Prediction.ipynb</a:t>
            </a:r>
            <a:endParaRPr sz="1200" b="1" i="0" dirty="0">
              <a:solidFill>
                <a:srgbClr val="1B2254"/>
              </a:solidFill>
              <a:latin typeface="Calibri"/>
            </a:endParaRPr>
          </a:p>
          <a:p>
            <a:pPr algn="l"/>
            <a:r>
              <a:rPr sz="1200" b="0" i="0" dirty="0">
                <a:solidFill>
                  <a:srgbClr val="64748B"/>
                </a:solidFill>
                <a:latin typeface="Calibri"/>
              </a:rPr>
              <a:t>RFM + clustering models</a:t>
            </a:r>
          </a:p>
        </p:txBody>
      </p:sp>
      <p:sp>
        <p:nvSpPr>
          <p:cNvPr id="30" name="Rectangle 29"/>
          <p:cNvSpPr/>
          <p:nvPr/>
        </p:nvSpPr>
        <p:spPr>
          <a:xfrm>
            <a:off x="6400800" y="3100000"/>
            <a:ext cx="5457432" cy="5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80800" y="3130000"/>
            <a:ext cx="400000" cy="500000"/>
          </a:xfrm>
          <a:prstGeom prst="rect">
            <a:avLst/>
          </a:prstGeom>
          <a:noFill/>
        </p:spPr>
        <p:txBody>
          <a:bodyPr wrap="square" lIns="0" tIns="0" rIns="0" bIns="0" anchor="ctr">
            <a:spAutoFit/>
          </a:bodyPr>
          <a:lstStyle/>
          <a:p>
            <a:pPr algn="l"/>
            <a:r>
              <a:rPr sz="1400" b="0" i="0">
                <a:solidFill>
                  <a:srgbClr val="333333"/>
                </a:solidFill>
                <a:latin typeface="Calibri"/>
              </a:rPr>
              <a:t>📓</a:t>
            </a:r>
          </a:p>
        </p:txBody>
      </p:sp>
      <p:sp>
        <p:nvSpPr>
          <p:cNvPr id="32" name="TextBox 31"/>
          <p:cNvSpPr txBox="1"/>
          <p:nvPr/>
        </p:nvSpPr>
        <p:spPr>
          <a:xfrm>
            <a:off x="6920800" y="3150000"/>
            <a:ext cx="4850000" cy="369332"/>
          </a:xfrm>
          <a:prstGeom prst="rect">
            <a:avLst/>
          </a:prstGeom>
          <a:noFill/>
        </p:spPr>
        <p:txBody>
          <a:bodyPr wrap="square" lIns="0" tIns="0" rIns="0" bIns="0">
            <a:spAutoFit/>
          </a:bodyPr>
          <a:lstStyle/>
          <a:p>
            <a:pPr algn="l"/>
            <a:r>
              <a:rPr sz="1200" b="1" i="0" dirty="0" err="1">
                <a:solidFill>
                  <a:srgbClr val="1B2254"/>
                </a:solidFill>
                <a:latin typeface="Calibri"/>
              </a:rPr>
              <a:t>Classification_HighValueCustomer.ipynb</a:t>
            </a:r>
            <a:endParaRPr sz="1200" b="1" i="0" dirty="0">
              <a:solidFill>
                <a:srgbClr val="1B2254"/>
              </a:solidFill>
              <a:latin typeface="Calibri"/>
            </a:endParaRPr>
          </a:p>
          <a:p>
            <a:pPr algn="l"/>
            <a:r>
              <a:rPr sz="1200" b="0" i="0" dirty="0">
                <a:solidFill>
                  <a:srgbClr val="64748B"/>
                </a:solidFill>
                <a:latin typeface="Calibri"/>
              </a:rPr>
              <a:t>Predictive classifier</a:t>
            </a:r>
          </a:p>
        </p:txBody>
      </p:sp>
      <p:sp>
        <p:nvSpPr>
          <p:cNvPr id="33" name="Rectangle 32"/>
          <p:cNvSpPr/>
          <p:nvPr/>
        </p:nvSpPr>
        <p:spPr>
          <a:xfrm>
            <a:off x="6400800" y="3660000"/>
            <a:ext cx="5457432" cy="560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80800" y="3690000"/>
            <a:ext cx="400000" cy="500000"/>
          </a:xfrm>
          <a:prstGeom prst="rect">
            <a:avLst/>
          </a:prstGeom>
          <a:noFill/>
        </p:spPr>
        <p:txBody>
          <a:bodyPr wrap="square" lIns="0" tIns="0" rIns="0" bIns="0" anchor="ctr">
            <a:spAutoFit/>
          </a:bodyPr>
          <a:lstStyle/>
          <a:p>
            <a:pPr algn="l"/>
            <a:r>
              <a:rPr sz="1400" b="0" i="0">
                <a:solidFill>
                  <a:srgbClr val="333333"/>
                </a:solidFill>
                <a:latin typeface="Calibri"/>
              </a:rPr>
              <a:t>📊</a:t>
            </a:r>
          </a:p>
        </p:txBody>
      </p:sp>
      <p:sp>
        <p:nvSpPr>
          <p:cNvPr id="35" name="TextBox 34"/>
          <p:cNvSpPr txBox="1"/>
          <p:nvPr/>
        </p:nvSpPr>
        <p:spPr>
          <a:xfrm>
            <a:off x="6920800" y="3710000"/>
            <a:ext cx="4850000" cy="369332"/>
          </a:xfrm>
          <a:prstGeom prst="rect">
            <a:avLst/>
          </a:prstGeom>
          <a:noFill/>
        </p:spPr>
        <p:txBody>
          <a:bodyPr wrap="square" lIns="0" tIns="0" rIns="0" bIns="0">
            <a:spAutoFit/>
          </a:bodyPr>
          <a:lstStyle/>
          <a:p>
            <a:pPr algn="l"/>
            <a:r>
              <a:rPr sz="1200" b="1" i="0" dirty="0">
                <a:solidFill>
                  <a:srgbClr val="1B2254"/>
                </a:solidFill>
                <a:latin typeface="Calibri"/>
              </a:rPr>
              <a:t>Presentation.pptx</a:t>
            </a:r>
          </a:p>
          <a:p>
            <a:pPr algn="l"/>
            <a:r>
              <a:rPr sz="1200" b="0" i="0" dirty="0">
                <a:solidFill>
                  <a:srgbClr val="64748B"/>
                </a:solidFill>
                <a:latin typeface="Calibri"/>
              </a:rPr>
              <a:t>This presentation (BIA template)</a:t>
            </a:r>
          </a:p>
        </p:txBody>
      </p:sp>
      <p:sp>
        <p:nvSpPr>
          <p:cNvPr id="36" name="Rectangle 35"/>
          <p:cNvSpPr/>
          <p:nvPr/>
        </p:nvSpPr>
        <p:spPr>
          <a:xfrm>
            <a:off x="6400800" y="4220000"/>
            <a:ext cx="5457432" cy="5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80800" y="4250000"/>
            <a:ext cx="400000" cy="500000"/>
          </a:xfrm>
          <a:prstGeom prst="rect">
            <a:avLst/>
          </a:prstGeom>
          <a:noFill/>
        </p:spPr>
        <p:txBody>
          <a:bodyPr wrap="square" lIns="0" tIns="0" rIns="0" bIns="0" anchor="ctr">
            <a:spAutoFit/>
          </a:bodyPr>
          <a:lstStyle/>
          <a:p>
            <a:pPr algn="l"/>
            <a:r>
              <a:rPr sz="1400" b="0" i="0">
                <a:solidFill>
                  <a:srgbClr val="333333"/>
                </a:solidFill>
                <a:latin typeface="Calibri"/>
              </a:rPr>
              <a:t>📁</a:t>
            </a:r>
          </a:p>
        </p:txBody>
      </p:sp>
      <p:sp>
        <p:nvSpPr>
          <p:cNvPr id="38" name="TextBox 37"/>
          <p:cNvSpPr txBox="1"/>
          <p:nvPr/>
        </p:nvSpPr>
        <p:spPr>
          <a:xfrm>
            <a:off x="6920800" y="4270000"/>
            <a:ext cx="4850000" cy="369332"/>
          </a:xfrm>
          <a:prstGeom prst="rect">
            <a:avLst/>
          </a:prstGeom>
          <a:noFill/>
        </p:spPr>
        <p:txBody>
          <a:bodyPr wrap="square" lIns="0" tIns="0" rIns="0" bIns="0">
            <a:spAutoFit/>
          </a:bodyPr>
          <a:lstStyle/>
          <a:p>
            <a:pPr algn="l"/>
            <a:r>
              <a:rPr sz="1200" b="1" i="0" dirty="0" err="1">
                <a:solidFill>
                  <a:srgbClr val="1B2254"/>
                </a:solidFill>
                <a:latin typeface="Calibri"/>
              </a:rPr>
              <a:t>CustomerSegmentationPowerBI.pbix</a:t>
            </a:r>
            <a:endParaRPr sz="1200" b="1" i="0" dirty="0">
              <a:solidFill>
                <a:srgbClr val="1B2254"/>
              </a:solidFill>
              <a:latin typeface="Calibri"/>
            </a:endParaRPr>
          </a:p>
          <a:p>
            <a:pPr algn="l"/>
            <a:r>
              <a:rPr sz="1200" b="0" i="0" dirty="0">
                <a:solidFill>
                  <a:srgbClr val="64748B"/>
                </a:solidFill>
                <a:latin typeface="Calibri"/>
              </a:rPr>
              <a:t>Power BI dashboard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00200" y="2700000"/>
            <a:ext cx="9000000" cy="900000"/>
          </a:xfrm>
          <a:prstGeom prst="rect">
            <a:avLst/>
          </a:prstGeom>
          <a:noFill/>
        </p:spPr>
        <p:txBody>
          <a:bodyPr wrap="square" lIns="0" tIns="0" rIns="0" bIns="0">
            <a:spAutoFit/>
          </a:bodyPr>
          <a:lstStyle/>
          <a:p>
            <a:pPr algn="l"/>
            <a:r>
              <a:rPr sz="4400" b="1" i="0">
                <a:solidFill>
                  <a:srgbClr val="1B2254"/>
                </a:solidFill>
                <a:latin typeface="Calibri"/>
              </a:rPr>
              <a:t>Questions ?</a:t>
            </a:r>
          </a:p>
        </p:txBody>
      </p:sp>
      <p:sp>
        <p:nvSpPr>
          <p:cNvPr id="4" name="TextBox 3"/>
          <p:cNvSpPr txBox="1"/>
          <p:nvPr/>
        </p:nvSpPr>
        <p:spPr>
          <a:xfrm>
            <a:off x="1600200" y="3650000"/>
            <a:ext cx="9000000" cy="500000"/>
          </a:xfrm>
          <a:prstGeom prst="rect">
            <a:avLst/>
          </a:prstGeom>
          <a:noFill/>
        </p:spPr>
        <p:txBody>
          <a:bodyPr wrap="square" lIns="0" tIns="0" rIns="0" bIns="0">
            <a:spAutoFit/>
          </a:bodyPr>
          <a:lstStyle/>
          <a:p>
            <a:pPr algn="l"/>
            <a:r>
              <a:rPr sz="1600" b="0" i="0">
                <a:solidFill>
                  <a:srgbClr val="64748B"/>
                </a:solidFill>
                <a:latin typeface="Calibri"/>
              </a:rPr>
              <a:t>Thank you for your attention.</a:t>
            </a:r>
          </a:p>
        </p:txBody>
      </p:sp>
      <p:sp>
        <p:nvSpPr>
          <p:cNvPr id="5" name="TextBox 4"/>
          <p:cNvSpPr txBox="1"/>
          <p:nvPr/>
        </p:nvSpPr>
        <p:spPr>
          <a:xfrm>
            <a:off x="274320" y="6446520"/>
            <a:ext cx="8686800" cy="320040"/>
          </a:xfrm>
          <a:prstGeom prst="rect">
            <a:avLst/>
          </a:prstGeom>
          <a:noFill/>
        </p:spPr>
        <p:txBody>
          <a:bodyPr wrap="square" lIns="0" tIns="0" rIns="0" bIns="0">
            <a:spAutoFit/>
          </a:bodyPr>
          <a:lstStyle/>
          <a:p>
            <a:pPr algn="l"/>
            <a:r>
              <a:rPr sz="700" b="0" i="0">
                <a:solidFill>
                  <a:srgbClr val="64748B"/>
                </a:solidFill>
                <a:latin typeface="Calibri"/>
              </a:rPr>
              <a:t>CONFIDENTIAL: The information in this document belongs to Boston Institute of Analytics LLC. Any unauthorized sharing of this material is prohibited and subject to legal action under breach of IP and confidentiality clauses.</a:t>
            </a:r>
          </a:p>
        </p:txBody>
      </p:sp>
      <p:sp>
        <p:nvSpPr>
          <p:cNvPr id="6" name="TextBox 5"/>
          <p:cNvSpPr txBox="1"/>
          <p:nvPr/>
        </p:nvSpPr>
        <p:spPr>
          <a:xfrm>
            <a:off x="9875520" y="6263640"/>
            <a:ext cx="2103120" cy="502920"/>
          </a:xfrm>
          <a:prstGeom prst="rect">
            <a:avLst/>
          </a:prstGeom>
          <a:noFill/>
        </p:spPr>
        <p:txBody>
          <a:bodyPr wrap="none" lIns="0" tIns="0" rIns="0" bIns="0">
            <a:spAutoFit/>
          </a:bodyPr>
          <a:lstStyle/>
          <a:p>
            <a:pPr algn="r"/>
            <a:r>
              <a:rPr sz="2000" b="1" i="0">
                <a:solidFill>
                  <a:srgbClr val="1B2254"/>
                </a:solidFill>
                <a:latin typeface="Calibri"/>
              </a:rPr>
              <a:t>BIA  </a:t>
            </a:r>
          </a:p>
          <a:p>
            <a:pPr algn="r"/>
            <a:r>
              <a:rPr sz="700" b="1" i="0">
                <a:solidFill>
                  <a:srgbClr val="1B2254"/>
                </a:solidFill>
                <a:latin typeface="Calibri"/>
              </a:rPr>
              <a:t>BOSTON INSTITUTE OF ANALYTICS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
  <TotalTime>3951</TotalTime>
  <Words>2267</Words>
  <Application>Microsoft Office PowerPoint</Application>
  <PresentationFormat>Widescreen</PresentationFormat>
  <Paragraphs>429</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Viral Shah</cp:lastModifiedBy>
  <cp:revision>9</cp:revision>
  <dcterms:created xsi:type="dcterms:W3CDTF">2026-07-01T20:59:19Z</dcterms:created>
  <dcterms:modified xsi:type="dcterms:W3CDTF">2026-07-19T04:26:10Z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2026-06-29T00:00:00Z</vt:filetime>
  </property>
  <property fmtid="{D5CDD505-2E9C-101B-9397-08002B2CF9AE}" pid="4" name="LastSaved">
    <vt:filetime>2026-07-01T00:00:00Z</vt:filetime>
  </property>
</Properties>
</file>